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3"/>
  </p:notesMasterIdLst>
  <p:sldIdLst>
    <p:sldId id="256" r:id="rId2"/>
    <p:sldId id="257" r:id="rId3"/>
    <p:sldId id="258" r:id="rId4"/>
    <p:sldId id="259" r:id="rId5"/>
    <p:sldId id="261" r:id="rId6"/>
    <p:sldId id="260" r:id="rId7"/>
    <p:sldId id="271" r:id="rId8"/>
    <p:sldId id="277" r:id="rId9"/>
    <p:sldId id="290" r:id="rId10"/>
    <p:sldId id="275" r:id="rId11"/>
    <p:sldId id="291" r:id="rId12"/>
    <p:sldId id="281" r:id="rId13"/>
    <p:sldId id="293" r:id="rId14"/>
    <p:sldId id="294" r:id="rId15"/>
    <p:sldId id="295" r:id="rId16"/>
    <p:sldId id="278" r:id="rId17"/>
    <p:sldId id="296" r:id="rId18"/>
    <p:sldId id="297" r:id="rId19"/>
    <p:sldId id="298" r:id="rId20"/>
    <p:sldId id="299" r:id="rId21"/>
    <p:sldId id="300" r:id="rId22"/>
    <p:sldId id="289" r:id="rId23"/>
    <p:sldId id="282" r:id="rId24"/>
    <p:sldId id="285" r:id="rId25"/>
    <p:sldId id="283" r:id="rId26"/>
    <p:sldId id="279" r:id="rId27"/>
    <p:sldId id="286" r:id="rId28"/>
    <p:sldId id="287" r:id="rId29"/>
    <p:sldId id="288" r:id="rId30"/>
    <p:sldId id="280" r:id="rId31"/>
    <p:sldId id="292"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0884" autoAdjust="0"/>
  </p:normalViewPr>
  <p:slideViewPr>
    <p:cSldViewPr snapToGrid="0">
      <p:cViewPr varScale="1">
        <p:scale>
          <a:sx n="53" d="100"/>
          <a:sy n="53" d="100"/>
        </p:scale>
        <p:origin x="1766"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62791C-BE79-4504-8DC4-7B452B29B876}" type="datetimeFigureOut">
              <a:rPr lang="en-US" smtClean="0"/>
              <a:t>9/5/2024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AB6665-B90D-40AD-BDD9-846D407D0EC3}" type="slidenum">
              <a:rPr lang="en-US" smtClean="0"/>
              <a:t>‹#›</a:t>
            </a:fld>
            <a:endParaRPr lang="en-US"/>
          </a:p>
        </p:txBody>
      </p:sp>
    </p:spTree>
    <p:extLst>
      <p:ext uri="{BB962C8B-B14F-4D97-AF65-F5344CB8AC3E}">
        <p14:creationId xmlns:p14="http://schemas.microsoft.com/office/powerpoint/2010/main" val="1258510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ability to acquire and apply knowledge and skills. (Oxford </a:t>
            </a:r>
            <a:r>
              <a:rPr lang="en-US" dirty="0" err="1" smtClean="0"/>
              <a:t>Dict</a:t>
            </a:r>
            <a:r>
              <a:rPr lang="en-US" dirty="0" smtClean="0"/>
              <a:t>)</a:t>
            </a:r>
          </a:p>
          <a:p>
            <a:r>
              <a:rPr lang="en-US" dirty="0" smtClean="0"/>
              <a:t>The collection of information of military or political value. (Oxford </a:t>
            </a:r>
            <a:r>
              <a:rPr lang="en-US" dirty="0" err="1" smtClean="0"/>
              <a:t>Dict</a:t>
            </a:r>
            <a:r>
              <a:rPr lang="en-US" dirty="0" smtClean="0"/>
              <a:t>)</a:t>
            </a:r>
          </a:p>
          <a:p>
            <a:r>
              <a:rPr lang="en-US" dirty="0" smtClean="0"/>
              <a:t>The capacity for learning, reasoning, understanding, and similar forms of mental activity</a:t>
            </a:r>
          </a:p>
          <a:p>
            <a:endParaRPr lang="en-US" dirty="0"/>
          </a:p>
        </p:txBody>
      </p:sp>
      <p:sp>
        <p:nvSpPr>
          <p:cNvPr id="4" name="Slide Number Placeholder 3"/>
          <p:cNvSpPr>
            <a:spLocks noGrp="1"/>
          </p:cNvSpPr>
          <p:nvPr>
            <p:ph type="sldNum" sz="quarter" idx="10"/>
          </p:nvPr>
        </p:nvSpPr>
        <p:spPr/>
        <p:txBody>
          <a:bodyPr/>
          <a:lstStyle/>
          <a:p>
            <a:fld id="{CAAB6665-B90D-40AD-BDD9-846D407D0EC3}" type="slidenum">
              <a:rPr lang="en-US" smtClean="0"/>
              <a:t>7</a:t>
            </a:fld>
            <a:endParaRPr lang="en-US"/>
          </a:p>
        </p:txBody>
      </p:sp>
    </p:spTree>
    <p:extLst>
      <p:ext uri="{BB962C8B-B14F-4D97-AF65-F5344CB8AC3E}">
        <p14:creationId xmlns:p14="http://schemas.microsoft.com/office/powerpoint/2010/main" val="4003401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AB6665-B90D-40AD-BDD9-846D407D0EC3}" type="slidenum">
              <a:rPr lang="en-US" smtClean="0"/>
              <a:t>10</a:t>
            </a:fld>
            <a:endParaRPr lang="en-US"/>
          </a:p>
        </p:txBody>
      </p:sp>
    </p:spTree>
    <p:extLst>
      <p:ext uri="{BB962C8B-B14F-4D97-AF65-F5344CB8AC3E}">
        <p14:creationId xmlns:p14="http://schemas.microsoft.com/office/powerpoint/2010/main" val="30060604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Artificial intelligence (AI) is the simulation of human intelligence in machines that are programmed to think and act like humans. Learning, reasoning, problem-solving, perception, and language comprehension are all examples of cognitive abilities.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Experts regard artificial intelligence as a factor of production, which has the potential to introduce new sources of growth and change the way work is done across industries.</a:t>
            </a:r>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14</a:t>
            </a:fld>
            <a:endParaRPr lang="en-US"/>
          </a:p>
        </p:txBody>
      </p:sp>
    </p:spTree>
    <p:extLst>
      <p:ext uri="{BB962C8B-B14F-4D97-AF65-F5344CB8AC3E}">
        <p14:creationId xmlns:p14="http://schemas.microsoft.com/office/powerpoint/2010/main" val="95484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In Artificial Intelligence, there are mainly three steps involved: learning, reasoning, and self-correction</a:t>
            </a:r>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15</a:t>
            </a:fld>
            <a:endParaRPr lang="en-US"/>
          </a:p>
        </p:txBody>
      </p:sp>
    </p:spTree>
    <p:extLst>
      <p:ext uri="{BB962C8B-B14F-4D97-AF65-F5344CB8AC3E}">
        <p14:creationId xmlns:p14="http://schemas.microsoft.com/office/powerpoint/2010/main" val="33970970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The theory and development of computer systems able to perform tasks normally requiring human intelligence, such as visual perception, speech recognition, decision-making, and translation between languages. (Oxford Reference)</a:t>
            </a:r>
          </a:p>
          <a:p>
            <a:endParaRPr lang="en-US" dirty="0"/>
          </a:p>
        </p:txBody>
      </p:sp>
      <p:sp>
        <p:nvSpPr>
          <p:cNvPr id="4" name="Slide Number Placeholder 3"/>
          <p:cNvSpPr>
            <a:spLocks noGrp="1"/>
          </p:cNvSpPr>
          <p:nvPr>
            <p:ph type="sldNum" sz="quarter" idx="10"/>
          </p:nvPr>
        </p:nvSpPr>
        <p:spPr/>
        <p:txBody>
          <a:bodyPr/>
          <a:lstStyle/>
          <a:p>
            <a:fld id="{CAAB6665-B90D-40AD-BDD9-846D407D0EC3}" type="slidenum">
              <a:rPr lang="en-US" smtClean="0"/>
              <a:t>16</a:t>
            </a:fld>
            <a:endParaRPr lang="en-US"/>
          </a:p>
        </p:txBody>
      </p:sp>
    </p:spTree>
    <p:extLst>
      <p:ext uri="{BB962C8B-B14F-4D97-AF65-F5344CB8AC3E}">
        <p14:creationId xmlns:p14="http://schemas.microsoft.com/office/powerpoint/2010/main" val="90735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smtClean="0">
                <a:solidFill>
                  <a:schemeClr val="tx1"/>
                </a:solidFill>
                <a:effectLst/>
                <a:latin typeface="+mn-lt"/>
                <a:ea typeface="+mn-ea"/>
                <a:cs typeface="+mn-cs"/>
              </a:rPr>
              <a:t>Narrow AI: </a:t>
            </a:r>
            <a:r>
              <a:rPr lang="en-US" sz="1200" b="0" i="0" kern="1200" dirty="0" smtClean="0">
                <a:solidFill>
                  <a:schemeClr val="tx1"/>
                </a:solidFill>
                <a:effectLst/>
                <a:latin typeface="+mn-lt"/>
                <a:ea typeface="+mn-ea"/>
                <a:cs typeface="+mn-cs"/>
              </a:rPr>
              <a:t>Narrow AI also known as </a:t>
            </a:r>
            <a:r>
              <a:rPr lang="en-US" sz="1200" b="1" i="0" kern="1200" dirty="0" smtClean="0">
                <a:solidFill>
                  <a:schemeClr val="tx1"/>
                </a:solidFill>
                <a:effectLst/>
                <a:latin typeface="+mn-lt"/>
                <a:ea typeface="+mn-ea"/>
                <a:cs typeface="+mn-cs"/>
              </a:rPr>
              <a:t>Weak AI or Narrow A</a:t>
            </a:r>
            <a:r>
              <a:rPr lang="en-US" sz="1200" b="0" i="0" kern="1200" dirty="0" smtClean="0">
                <a:solidFill>
                  <a:schemeClr val="tx1"/>
                </a:solidFill>
                <a:effectLst/>
                <a:latin typeface="+mn-lt"/>
                <a:ea typeface="+mn-ea"/>
                <a:cs typeface="+mn-cs"/>
              </a:rPr>
              <a:t>I. Narrow AI is designed and trained </a:t>
            </a:r>
            <a:r>
              <a:rPr lang="en-US" sz="1200" b="0" i="0" kern="1200" dirty="0" err="1" smtClean="0">
                <a:solidFill>
                  <a:schemeClr val="tx1"/>
                </a:solidFill>
                <a:effectLst/>
                <a:latin typeface="+mn-lt"/>
                <a:ea typeface="+mn-ea"/>
                <a:cs typeface="+mn-cs"/>
              </a:rPr>
              <a:t>ona</a:t>
            </a:r>
            <a:r>
              <a:rPr lang="en-US" sz="1200" b="0" i="0" kern="1200" dirty="0" smtClean="0">
                <a:solidFill>
                  <a:schemeClr val="tx1"/>
                </a:solidFill>
                <a:effectLst/>
                <a:latin typeface="+mn-lt"/>
                <a:ea typeface="+mn-ea"/>
                <a:cs typeface="+mn-cs"/>
              </a:rPr>
              <a:t> specific task or a narrow range tasks. These Narrow AI systems are designed and trained for a purpose. These Narrow systems performs their designated tasks but mainly lack in the ability to generalize tasks. Personal Virtual assistance like Alexa or Siri, recommendation systems, image </a:t>
            </a:r>
            <a:r>
              <a:rPr lang="en-US" sz="1200" b="0" i="0" kern="1200" dirty="0" err="1" smtClean="0">
                <a:solidFill>
                  <a:schemeClr val="tx1"/>
                </a:solidFill>
                <a:effectLst/>
                <a:latin typeface="+mn-lt"/>
                <a:ea typeface="+mn-ea"/>
                <a:cs typeface="+mn-cs"/>
              </a:rPr>
              <a:t>recognization</a:t>
            </a:r>
            <a:r>
              <a:rPr lang="en-US" sz="1200" b="0" i="0" kern="1200" dirty="0" smtClean="0">
                <a:solidFill>
                  <a:schemeClr val="tx1"/>
                </a:solidFill>
                <a:effectLst/>
                <a:latin typeface="+mn-lt"/>
                <a:ea typeface="+mn-ea"/>
                <a:cs typeface="+mn-cs"/>
              </a:rPr>
              <a:t> software and other language translation tools.</a:t>
            </a:r>
          </a:p>
          <a:p>
            <a:pPr fontAlgn="base"/>
            <a:r>
              <a:rPr lang="en-US" sz="1200" b="1" i="0" kern="1200" dirty="0" smtClean="0">
                <a:solidFill>
                  <a:schemeClr val="tx1"/>
                </a:solidFill>
                <a:effectLst/>
                <a:latin typeface="+mn-lt"/>
                <a:ea typeface="+mn-ea"/>
                <a:cs typeface="+mn-cs"/>
              </a:rPr>
              <a:t>General AI: </a:t>
            </a:r>
            <a:r>
              <a:rPr lang="en-US" sz="1200" b="0" i="0" kern="1200" dirty="0" smtClean="0">
                <a:solidFill>
                  <a:schemeClr val="tx1"/>
                </a:solidFill>
                <a:effectLst/>
                <a:latin typeface="+mn-lt"/>
                <a:ea typeface="+mn-ea"/>
                <a:cs typeface="+mn-cs"/>
              </a:rPr>
              <a:t>It is known as </a:t>
            </a:r>
            <a:r>
              <a:rPr lang="en-US" sz="1200" b="1" i="0" kern="1200" dirty="0" smtClean="0">
                <a:solidFill>
                  <a:schemeClr val="tx1"/>
                </a:solidFill>
                <a:effectLst/>
                <a:latin typeface="+mn-lt"/>
                <a:ea typeface="+mn-ea"/>
                <a:cs typeface="+mn-cs"/>
              </a:rPr>
              <a:t>Strong AI.</a:t>
            </a:r>
            <a:r>
              <a:rPr lang="en-US" sz="1200" b="0" i="0" kern="1200" dirty="0" smtClean="0">
                <a:solidFill>
                  <a:schemeClr val="tx1"/>
                </a:solidFill>
                <a:effectLst/>
                <a:latin typeface="+mn-lt"/>
                <a:ea typeface="+mn-ea"/>
                <a:cs typeface="+mn-cs"/>
              </a:rPr>
              <a:t> It refers to AI systems that have human intelligence and abilities to perform various tasks. Systems have capability to understand, learn and apply across a wide range of tasks </a:t>
            </a:r>
            <a:r>
              <a:rPr lang="en-US" sz="1200" b="0" i="0" kern="1200" dirty="0" err="1" smtClean="0">
                <a:solidFill>
                  <a:schemeClr val="tx1"/>
                </a:solidFill>
                <a:effectLst/>
                <a:latin typeface="+mn-lt"/>
                <a:ea typeface="+mn-ea"/>
                <a:cs typeface="+mn-cs"/>
              </a:rPr>
              <a:t>taht</a:t>
            </a:r>
            <a:r>
              <a:rPr lang="en-US" sz="1200" b="0" i="0" kern="1200" dirty="0" smtClean="0">
                <a:solidFill>
                  <a:schemeClr val="tx1"/>
                </a:solidFill>
                <a:effectLst/>
                <a:latin typeface="+mn-lt"/>
                <a:ea typeface="+mn-ea"/>
                <a:cs typeface="+mn-cs"/>
              </a:rPr>
              <a:t> are similar to how a human can adapt to various tasks. In general AI remains a theoretical concept, and now no AI can achieve this level of intelligence.</a:t>
            </a:r>
          </a:p>
          <a:p>
            <a:pPr fontAlgn="base"/>
            <a:r>
              <a:rPr lang="en-US" sz="1200" b="1" i="0" kern="1200" dirty="0" smtClean="0">
                <a:solidFill>
                  <a:schemeClr val="tx1"/>
                </a:solidFill>
                <a:effectLst/>
                <a:latin typeface="+mn-lt"/>
                <a:ea typeface="+mn-ea"/>
                <a:cs typeface="+mn-cs"/>
              </a:rPr>
              <a:t>Super AI: </a:t>
            </a:r>
            <a:r>
              <a:rPr lang="en-US" sz="1200" b="0" i="0" kern="1200" dirty="0" smtClean="0">
                <a:solidFill>
                  <a:schemeClr val="tx1"/>
                </a:solidFill>
                <a:effectLst/>
                <a:latin typeface="+mn-lt"/>
                <a:ea typeface="+mn-ea"/>
                <a:cs typeface="+mn-cs"/>
              </a:rPr>
              <a:t>It is known as </a:t>
            </a:r>
            <a:r>
              <a:rPr lang="en-US" sz="1200" b="1" i="0" kern="1200" dirty="0" err="1" smtClean="0">
                <a:solidFill>
                  <a:schemeClr val="tx1"/>
                </a:solidFill>
                <a:effectLst/>
                <a:latin typeface="+mn-lt"/>
                <a:ea typeface="+mn-ea"/>
                <a:cs typeface="+mn-cs"/>
              </a:rPr>
              <a:t>Superintelligent</a:t>
            </a:r>
            <a:r>
              <a:rPr lang="en-US" sz="1200" b="1" i="0" kern="1200" dirty="0" smtClean="0">
                <a:solidFill>
                  <a:schemeClr val="tx1"/>
                </a:solidFill>
                <a:effectLst/>
                <a:latin typeface="+mn-lt"/>
                <a:ea typeface="+mn-ea"/>
                <a:cs typeface="+mn-cs"/>
              </a:rPr>
              <a:t> AI</a:t>
            </a:r>
            <a:r>
              <a:rPr lang="en-US" sz="1200" b="0" i="0" kern="1200" dirty="0" smtClean="0">
                <a:solidFill>
                  <a:schemeClr val="tx1"/>
                </a:solidFill>
                <a:effectLst/>
                <a:latin typeface="+mn-lt"/>
                <a:ea typeface="+mn-ea"/>
                <a:cs typeface="+mn-cs"/>
              </a:rPr>
              <a:t> that surpasses intelligence of human in solving-</a:t>
            </a:r>
            <a:r>
              <a:rPr lang="en-US" sz="1200" b="0" i="0" kern="1200" dirty="0" err="1" smtClean="0">
                <a:solidFill>
                  <a:schemeClr val="tx1"/>
                </a:solidFill>
                <a:effectLst/>
                <a:latin typeface="+mn-lt"/>
                <a:ea typeface="+mn-ea"/>
                <a:cs typeface="+mn-cs"/>
              </a:rPr>
              <a:t>probem</a:t>
            </a:r>
            <a:r>
              <a:rPr lang="en-US" sz="1200" b="0" i="0" kern="1200" dirty="0" smtClean="0">
                <a:solidFill>
                  <a:schemeClr val="tx1"/>
                </a:solidFill>
                <a:effectLst/>
                <a:latin typeface="+mn-lt"/>
                <a:ea typeface="+mn-ea"/>
                <a:cs typeface="+mn-cs"/>
              </a:rPr>
              <a:t>, creativity, and overall abilities. Super AI develops emotions, desires, need and beliefs of their own. They are able to make decisions of their own and solve problem of its own.</a:t>
            </a:r>
          </a:p>
          <a:p>
            <a:endParaRPr lang="en-US" dirty="0"/>
          </a:p>
        </p:txBody>
      </p:sp>
      <p:sp>
        <p:nvSpPr>
          <p:cNvPr id="4" name="Slide Number Placeholder 3"/>
          <p:cNvSpPr>
            <a:spLocks noGrp="1"/>
          </p:cNvSpPr>
          <p:nvPr>
            <p:ph type="sldNum" sz="quarter" idx="10"/>
          </p:nvPr>
        </p:nvSpPr>
        <p:spPr/>
        <p:txBody>
          <a:bodyPr/>
          <a:lstStyle/>
          <a:p>
            <a:fld id="{CAAB6665-B90D-40AD-BDD9-846D407D0EC3}" type="slidenum">
              <a:rPr lang="en-US" smtClean="0"/>
              <a:t>29</a:t>
            </a:fld>
            <a:endParaRPr lang="en-US"/>
          </a:p>
        </p:txBody>
      </p:sp>
    </p:spTree>
    <p:extLst>
      <p:ext uri="{BB962C8B-B14F-4D97-AF65-F5344CB8AC3E}">
        <p14:creationId xmlns:p14="http://schemas.microsoft.com/office/powerpoint/2010/main" val="38462280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9/5/2024</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9/5/2024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9/5/2024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9/5/2024</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youtube.com/watch?v=BKEqnSnymss"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jfif"/></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fif"/><Relationship Id="rId2" Type="http://schemas.openxmlformats.org/officeDocument/2006/relationships/image" Target="../media/image20.jpg"/><Relationship Id="rId1" Type="http://schemas.openxmlformats.org/officeDocument/2006/relationships/slideLayout" Target="../slideLayouts/slideLayout2.xml"/><Relationship Id="rId5" Type="http://schemas.openxmlformats.org/officeDocument/2006/relationships/image" Target="../media/image23.jfif"/><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dxpBcqSWbuk" TargetMode="External"/><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youtube.com/watch?v=BKEqnSnymss" TargetMode="External"/><Relationship Id="rId2" Type="http://schemas.openxmlformats.org/officeDocument/2006/relationships/hyperlink" Target="https://www.youtube.com/watch?v=dxpBcqSWbu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8000" r="-8000"/>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DSA 2020</a:t>
            </a:r>
          </a:p>
          <a:p>
            <a:r>
              <a:rPr lang="en-US" dirty="0" smtClean="0"/>
              <a:t>Edward Ombui, PhD</a:t>
            </a:r>
            <a:endParaRPr lang="en-US" dirty="0"/>
          </a:p>
        </p:txBody>
      </p:sp>
    </p:spTree>
    <p:extLst>
      <p:ext uri="{BB962C8B-B14F-4D97-AF65-F5344CB8AC3E}">
        <p14:creationId xmlns:p14="http://schemas.microsoft.com/office/powerpoint/2010/main" val="42696719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DETAILS</a:t>
            </a:r>
            <a:endParaRPr lang="en-US" dirty="0"/>
          </a:p>
        </p:txBody>
      </p:sp>
      <p:sp>
        <p:nvSpPr>
          <p:cNvPr id="3" name="Content Placeholder 2"/>
          <p:cNvSpPr>
            <a:spLocks noGrp="1"/>
          </p:cNvSpPr>
          <p:nvPr>
            <p:ph idx="1"/>
          </p:nvPr>
        </p:nvSpPr>
        <p:spPr>
          <a:xfrm>
            <a:off x="1295401" y="2556932"/>
            <a:ext cx="9938656" cy="3318936"/>
          </a:xfrm>
        </p:spPr>
        <p:txBody>
          <a:bodyPr>
            <a:normAutofit/>
          </a:bodyPr>
          <a:lstStyle/>
          <a:p>
            <a:r>
              <a:rPr lang="en-US" b="1" dirty="0" smtClean="0"/>
              <a:t>UNIT TITLE: </a:t>
            </a:r>
            <a:r>
              <a:rPr lang="en-US" b="1" dirty="0" smtClean="0"/>
              <a:t>INTRODUCTION TO </a:t>
            </a:r>
            <a:r>
              <a:rPr lang="en-GB" dirty="0" smtClean="0"/>
              <a:t>ARTIFICIAL </a:t>
            </a:r>
            <a:r>
              <a:rPr lang="en-GB" dirty="0"/>
              <a:t>INTELLIGENCE</a:t>
            </a:r>
            <a:endParaRPr lang="en-US" dirty="0" smtClean="0"/>
          </a:p>
          <a:p>
            <a:r>
              <a:rPr lang="en-US" b="1" dirty="0" smtClean="0"/>
              <a:t>UNIT CODE:  </a:t>
            </a:r>
            <a:r>
              <a:rPr lang="en-US" dirty="0" smtClean="0"/>
              <a:t>APT3010 </a:t>
            </a:r>
            <a:endParaRPr lang="en-US" dirty="0"/>
          </a:p>
          <a:p>
            <a:r>
              <a:rPr lang="en-US" b="1" dirty="0" smtClean="0"/>
              <a:t>TIME:</a:t>
            </a:r>
            <a:r>
              <a:rPr lang="en-US" dirty="0" smtClean="0"/>
              <a:t> FR </a:t>
            </a:r>
            <a:r>
              <a:rPr lang="en-US" dirty="0" smtClean="0"/>
              <a:t>8</a:t>
            </a:r>
            <a:r>
              <a:rPr lang="en-US" dirty="0" smtClean="0"/>
              <a:t>:00hrs </a:t>
            </a:r>
            <a:r>
              <a:rPr lang="en-US" dirty="0" smtClean="0"/>
              <a:t>to </a:t>
            </a:r>
            <a:r>
              <a:rPr lang="en-US" dirty="0" smtClean="0"/>
              <a:t>11:20</a:t>
            </a:r>
            <a:r>
              <a:rPr lang="en-US" dirty="0" smtClean="0"/>
              <a:t>0hrs</a:t>
            </a:r>
            <a:endParaRPr lang="en-US" dirty="0" smtClean="0"/>
          </a:p>
          <a:p>
            <a:r>
              <a:rPr lang="en-US" b="1" dirty="0" smtClean="0"/>
              <a:t>PERIOD</a:t>
            </a:r>
            <a:r>
              <a:rPr lang="en-US" dirty="0" smtClean="0"/>
              <a:t>: 14 weeks</a:t>
            </a:r>
          </a:p>
          <a:p>
            <a:r>
              <a:rPr lang="en-US" b="1" dirty="0" smtClean="0"/>
              <a:t>VENUE</a:t>
            </a:r>
            <a:r>
              <a:rPr lang="en-US" dirty="0" smtClean="0"/>
              <a:t>: </a:t>
            </a:r>
            <a:r>
              <a:rPr lang="en-US" dirty="0" smtClean="0"/>
              <a:t>LAB4</a:t>
            </a:r>
            <a:endParaRPr lang="en-US" dirty="0" smtClean="0"/>
          </a:p>
          <a:p>
            <a:r>
              <a:rPr lang="en-US" b="1" dirty="0" smtClean="0"/>
              <a:t>Lecturer</a:t>
            </a:r>
            <a:r>
              <a:rPr lang="en-US" dirty="0" smtClean="0"/>
              <a:t>: Dr. Edward Ombui</a:t>
            </a:r>
            <a:endParaRPr lang="en-US" dirty="0"/>
          </a:p>
        </p:txBody>
      </p:sp>
    </p:spTree>
    <p:extLst>
      <p:ext uri="{BB962C8B-B14F-4D97-AF65-F5344CB8AC3E}">
        <p14:creationId xmlns:p14="http://schemas.microsoft.com/office/powerpoint/2010/main" val="41991476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PURPOSE</a:t>
            </a:r>
            <a:endParaRPr lang="en-US" dirty="0"/>
          </a:p>
        </p:txBody>
      </p:sp>
      <p:sp>
        <p:nvSpPr>
          <p:cNvPr id="3" name="Content Placeholder 2"/>
          <p:cNvSpPr>
            <a:spLocks noGrp="1"/>
          </p:cNvSpPr>
          <p:nvPr>
            <p:ph idx="1"/>
          </p:nvPr>
        </p:nvSpPr>
        <p:spPr/>
        <p:txBody>
          <a:bodyPr>
            <a:normAutofit/>
          </a:bodyPr>
          <a:lstStyle/>
          <a:p>
            <a:r>
              <a:rPr lang="en-GB" dirty="0"/>
              <a:t>This course is designed to develop the learner’s understanding of the theoretical underpinnings and practical applications of Artificial Intelligence. </a:t>
            </a:r>
            <a:endParaRPr lang="en-GB" dirty="0" smtClean="0"/>
          </a:p>
          <a:p>
            <a:r>
              <a:rPr lang="en-GB" dirty="0" smtClean="0"/>
              <a:t>The </a:t>
            </a:r>
            <a:r>
              <a:rPr lang="en-GB" dirty="0"/>
              <a:t>course will cover knowledge representation and reasoning processes, explain fundamental concepts in machine learning, neural networks, and deep learning, and instil skills in problem-solving using various kinds of search algorithms.</a:t>
            </a:r>
            <a:endParaRPr lang="en-US" dirty="0"/>
          </a:p>
          <a:p>
            <a:r>
              <a:rPr lang="en-US" dirty="0"/>
              <a:t/>
            </a:r>
            <a:br>
              <a:rPr lang="en-US" dirty="0"/>
            </a:br>
            <a:r>
              <a:rPr lang="en-US" dirty="0"/>
              <a:t> </a:t>
            </a:r>
            <a:endParaRPr lang="en-US" dirty="0" smtClean="0"/>
          </a:p>
        </p:txBody>
      </p:sp>
    </p:spTree>
    <p:extLst>
      <p:ext uri="{BB962C8B-B14F-4D97-AF65-F5344CB8AC3E}">
        <p14:creationId xmlns:p14="http://schemas.microsoft.com/office/powerpoint/2010/main" val="32124860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Expected Learning Outcomes </a:t>
            </a:r>
            <a:endParaRPr lang="en-US" dirty="0"/>
          </a:p>
        </p:txBody>
      </p:sp>
      <p:sp>
        <p:nvSpPr>
          <p:cNvPr id="3" name="Content Placeholder 2"/>
          <p:cNvSpPr>
            <a:spLocks noGrp="1"/>
          </p:cNvSpPr>
          <p:nvPr>
            <p:ph idx="1"/>
          </p:nvPr>
        </p:nvSpPr>
        <p:spPr>
          <a:xfrm>
            <a:off x="705060" y="2657788"/>
            <a:ext cx="10781880" cy="4366010"/>
          </a:xfrm>
        </p:spPr>
        <p:txBody>
          <a:bodyPr/>
          <a:lstStyle/>
          <a:p>
            <a:r>
              <a:rPr lang="en-US" dirty="0"/>
              <a:t>Upon successful completion of the course, the learner will be able to:</a:t>
            </a:r>
          </a:p>
          <a:p>
            <a:pPr marL="457200" lvl="0" indent="-457200">
              <a:buFont typeface="+mj-lt"/>
              <a:buAutoNum type="arabicPeriod"/>
            </a:pPr>
            <a:r>
              <a:rPr lang="en-GB" dirty="0"/>
              <a:t>Explain AI concepts, including representation, reasoning, search algorithms, and machine learning fundamentals.</a:t>
            </a:r>
            <a:endParaRPr lang="en-US" sz="2000" dirty="0"/>
          </a:p>
          <a:p>
            <a:pPr marL="457200" lvl="0" indent="-457200">
              <a:buFont typeface="+mj-lt"/>
              <a:buAutoNum type="arabicPeriod"/>
            </a:pPr>
            <a:r>
              <a:rPr lang="en-GB" dirty="0"/>
              <a:t>Demonstrate proficiency in applying AI techniques to develop AI solutions and critically evaluate their performance</a:t>
            </a:r>
            <a:endParaRPr lang="en-US" sz="2000" dirty="0"/>
          </a:p>
          <a:p>
            <a:pPr marL="457200" lvl="0" indent="-457200">
              <a:buFont typeface="+mj-lt"/>
              <a:buAutoNum type="arabicPeriod"/>
            </a:pPr>
            <a:r>
              <a:rPr lang="en-GB" dirty="0"/>
              <a:t>Identify and address ethical issues &amp; biases related to AI technologies' impact on society</a:t>
            </a:r>
            <a:endParaRPr lang="en-US" sz="2000" dirty="0"/>
          </a:p>
          <a:p>
            <a:pPr marL="457200" lvl="1" indent="0">
              <a:buNone/>
            </a:pPr>
            <a:r>
              <a:rPr lang="en-US" sz="2400" dirty="0" smtClean="0"/>
              <a:t> </a:t>
            </a:r>
            <a:r>
              <a:rPr lang="en-US" sz="2400" dirty="0"/>
              <a:t/>
            </a:r>
            <a:br>
              <a:rPr lang="en-US" sz="2400" dirty="0"/>
            </a:br>
            <a:endParaRPr lang="en-US" sz="1600" dirty="0"/>
          </a:p>
        </p:txBody>
      </p:sp>
    </p:spTree>
    <p:extLst>
      <p:ext uri="{BB962C8B-B14F-4D97-AF65-F5344CB8AC3E}">
        <p14:creationId xmlns:p14="http://schemas.microsoft.com/office/powerpoint/2010/main" val="18387252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Course Resources</a:t>
            </a:r>
            <a:endParaRPr lang="en-US" dirty="0"/>
          </a:p>
        </p:txBody>
      </p:sp>
      <p:sp>
        <p:nvSpPr>
          <p:cNvPr id="3" name="Content Placeholder 2"/>
          <p:cNvSpPr>
            <a:spLocks noGrp="1"/>
          </p:cNvSpPr>
          <p:nvPr>
            <p:ph idx="1"/>
          </p:nvPr>
        </p:nvSpPr>
        <p:spPr/>
        <p:txBody>
          <a:bodyPr>
            <a:normAutofit/>
          </a:bodyPr>
          <a:lstStyle/>
          <a:p>
            <a:pPr lvl="0"/>
            <a:r>
              <a:rPr lang="en-US" dirty="0"/>
              <a:t>ERTEL, WOLFGANG. (2017). </a:t>
            </a:r>
            <a:r>
              <a:rPr lang="en-US" i="1" dirty="0"/>
              <a:t>Introduction to Artificial Intelligence</a:t>
            </a:r>
            <a:r>
              <a:rPr lang="en-US" dirty="0"/>
              <a:t> (2nd </a:t>
            </a:r>
            <a:r>
              <a:rPr lang="en-US" dirty="0" err="1"/>
              <a:t>ed</a:t>
            </a:r>
            <a:r>
              <a:rPr lang="en-US" dirty="0"/>
              <a:t>). Switzerland: Springer </a:t>
            </a:r>
            <a:r>
              <a:rPr lang="en-US" dirty="0" err="1"/>
              <a:t>Gabler</a:t>
            </a:r>
            <a:r>
              <a:rPr lang="en-US" dirty="0" smtClean="0"/>
              <a:t>.</a:t>
            </a:r>
          </a:p>
          <a:p>
            <a:pPr lvl="0"/>
            <a:r>
              <a:rPr lang="en-GB" dirty="0"/>
              <a:t>Artificial Intelligence: A Modern Approach, 4th edition, Published by Pearson (April 28, 2020) © 2021, Stuart Russell University of California at </a:t>
            </a:r>
            <a:r>
              <a:rPr lang="en-GB" dirty="0" err="1"/>
              <a:t>BerkeleyPeter</a:t>
            </a:r>
            <a:r>
              <a:rPr lang="en-GB" dirty="0"/>
              <a:t> </a:t>
            </a:r>
            <a:r>
              <a:rPr lang="en-GB" dirty="0" err="1"/>
              <a:t>Norvig</a:t>
            </a:r>
            <a:endParaRPr lang="en-US" dirty="0" smtClean="0"/>
          </a:p>
          <a:p>
            <a:pPr lvl="0"/>
            <a:r>
              <a:rPr lang="en-US" dirty="0" smtClean="0"/>
              <a:t>Thomas </a:t>
            </a:r>
            <a:r>
              <a:rPr lang="en-US" dirty="0" err="1"/>
              <a:t>Erl</a:t>
            </a:r>
            <a:r>
              <a:rPr lang="en-US" dirty="0"/>
              <a:t>, </a:t>
            </a:r>
            <a:r>
              <a:rPr lang="en-US" dirty="0" err="1"/>
              <a:t>Wajid</a:t>
            </a:r>
            <a:r>
              <a:rPr lang="en-US" dirty="0"/>
              <a:t> </a:t>
            </a:r>
            <a:r>
              <a:rPr lang="en-US" dirty="0" err="1"/>
              <a:t>Khattak</a:t>
            </a:r>
            <a:r>
              <a:rPr lang="en-US" dirty="0"/>
              <a:t> &amp; Paul Buhler, (2015) Big Data Fundamentals: Concepts, Drivers &amp; Techniques. USA; Prentice Hall </a:t>
            </a:r>
            <a:br>
              <a:rPr lang="en-US" dirty="0"/>
            </a:br>
            <a:endParaRPr lang="en-US" dirty="0"/>
          </a:p>
        </p:txBody>
      </p:sp>
    </p:spTree>
    <p:extLst>
      <p:ext uri="{BB962C8B-B14F-4D97-AF65-F5344CB8AC3E}">
        <p14:creationId xmlns:p14="http://schemas.microsoft.com/office/powerpoint/2010/main" val="27483230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Assessment</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38446539"/>
              </p:ext>
            </p:extLst>
          </p:nvPr>
        </p:nvGraphicFramePr>
        <p:xfrm>
          <a:off x="1969477" y="2502039"/>
          <a:ext cx="7546312" cy="2931073"/>
        </p:xfrm>
        <a:graphic>
          <a:graphicData uri="http://schemas.openxmlformats.org/drawingml/2006/table">
            <a:tbl>
              <a:tblPr firstRow="1" firstCol="1" bandRow="1">
                <a:tableStyleId>{5C22544A-7EE6-4342-B048-85BDC9FD1C3A}</a:tableStyleId>
              </a:tblPr>
              <a:tblGrid>
                <a:gridCol w="6097581">
                  <a:extLst>
                    <a:ext uri="{9D8B030D-6E8A-4147-A177-3AD203B41FA5}">
                      <a16:colId xmlns:a16="http://schemas.microsoft.com/office/drawing/2014/main" val="1951942634"/>
                    </a:ext>
                  </a:extLst>
                </a:gridCol>
                <a:gridCol w="1448731">
                  <a:extLst>
                    <a:ext uri="{9D8B030D-6E8A-4147-A177-3AD203B41FA5}">
                      <a16:colId xmlns:a16="http://schemas.microsoft.com/office/drawing/2014/main" val="2247202671"/>
                    </a:ext>
                  </a:extLst>
                </a:gridCol>
              </a:tblGrid>
              <a:tr h="342898">
                <a:tc>
                  <a:txBody>
                    <a:bodyPr/>
                    <a:lstStyle/>
                    <a:p>
                      <a:pPr marL="0" marR="0">
                        <a:lnSpc>
                          <a:spcPct val="107000"/>
                        </a:lnSpc>
                        <a:spcBef>
                          <a:spcPts val="0"/>
                        </a:spcBef>
                        <a:spcAft>
                          <a:spcPts val="0"/>
                        </a:spcAft>
                      </a:pPr>
                      <a:r>
                        <a:rPr lang="en-US" sz="2400" dirty="0">
                          <a:solidFill>
                            <a:srgbClr val="FFFF00"/>
                          </a:solidFill>
                          <a:effectLst/>
                        </a:rPr>
                        <a:t>Assessment type</a:t>
                      </a:r>
                      <a:endParaRPr lang="en-US" sz="2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solidFill>
                            <a:srgbClr val="FFFF00"/>
                          </a:solidFill>
                          <a:effectLst/>
                        </a:rPr>
                        <a:t>% score</a:t>
                      </a:r>
                      <a:endParaRPr lang="en-US" sz="2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1006373"/>
                  </a:ext>
                </a:extLst>
              </a:tr>
              <a:tr h="423287">
                <a:tc>
                  <a:txBody>
                    <a:bodyPr/>
                    <a:lstStyle/>
                    <a:p>
                      <a:pPr marL="0" marR="0">
                        <a:lnSpc>
                          <a:spcPct val="107000"/>
                        </a:lnSpc>
                        <a:spcBef>
                          <a:spcPts val="0"/>
                        </a:spcBef>
                        <a:spcAft>
                          <a:spcPts val="0"/>
                        </a:spcAft>
                      </a:pPr>
                      <a:r>
                        <a:rPr lang="en-US" sz="2400" dirty="0" smtClean="0">
                          <a:effectLst/>
                        </a:rPr>
                        <a:t>Attendance and Participation</a:t>
                      </a:r>
                      <a:r>
                        <a:rPr lang="en-US" sz="2400" baseline="0" dirty="0" smtClean="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a:effectLst/>
                        </a:rPr>
                        <a:t>10</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72374821"/>
                  </a:ext>
                </a:extLst>
              </a:tr>
              <a:tr h="423287">
                <a:tc>
                  <a:txBody>
                    <a:bodyPr/>
                    <a:lstStyle/>
                    <a:p>
                      <a:pPr marL="0" marR="0">
                        <a:lnSpc>
                          <a:spcPct val="107000"/>
                        </a:lnSpc>
                        <a:spcBef>
                          <a:spcPts val="0"/>
                        </a:spcBef>
                        <a:spcAft>
                          <a:spcPts val="0"/>
                        </a:spcAft>
                      </a:pPr>
                      <a:r>
                        <a:rPr lang="en-US" sz="2400" dirty="0" smtClean="0">
                          <a:effectLst/>
                        </a:rPr>
                        <a:t>Laboratory </a:t>
                      </a:r>
                      <a:r>
                        <a:rPr lang="en-US" sz="2400" dirty="0">
                          <a:effectLst/>
                        </a:rPr>
                        <a:t>Assignments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smtClean="0">
                          <a:effectLst/>
                        </a:rPr>
                        <a:t>25</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6537697"/>
                  </a:ext>
                </a:extLst>
              </a:tr>
              <a:tr h="423287">
                <a:tc>
                  <a:txBody>
                    <a:bodyPr/>
                    <a:lstStyle/>
                    <a:p>
                      <a:pPr marL="0" marR="0">
                        <a:lnSpc>
                          <a:spcPct val="107000"/>
                        </a:lnSpc>
                        <a:spcBef>
                          <a:spcPts val="0"/>
                        </a:spcBef>
                        <a:spcAft>
                          <a:spcPts val="0"/>
                        </a:spcAft>
                      </a:pPr>
                      <a:r>
                        <a:rPr lang="en-US" sz="2400" dirty="0">
                          <a:effectLst/>
                        </a:rPr>
                        <a:t>Term project/presentations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smtClean="0">
                          <a:effectLst/>
                          <a:latin typeface="+mn-lt"/>
                          <a:ea typeface="+mn-ea"/>
                          <a:cs typeface="+mn-cs"/>
                        </a:rPr>
                        <a:t>15</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77449318"/>
                  </a:ext>
                </a:extLst>
              </a:tr>
              <a:tr h="423287">
                <a:tc>
                  <a:txBody>
                    <a:bodyPr/>
                    <a:lstStyle/>
                    <a:p>
                      <a:pPr marL="0" marR="0">
                        <a:lnSpc>
                          <a:spcPct val="107000"/>
                        </a:lnSpc>
                        <a:spcBef>
                          <a:spcPts val="0"/>
                        </a:spcBef>
                        <a:spcAft>
                          <a:spcPts val="0"/>
                        </a:spcAft>
                      </a:pPr>
                      <a:r>
                        <a:rPr lang="en-US" sz="2400">
                          <a:effectLst/>
                        </a:rPr>
                        <a:t>Mid-Semester Exam</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a:effectLst/>
                        </a:rPr>
                        <a:t>20</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4190972"/>
                  </a:ext>
                </a:extLst>
              </a:tr>
              <a:tr h="423287">
                <a:tc>
                  <a:txBody>
                    <a:bodyPr/>
                    <a:lstStyle/>
                    <a:p>
                      <a:pPr marL="0" marR="0">
                        <a:lnSpc>
                          <a:spcPct val="107000"/>
                        </a:lnSpc>
                        <a:spcBef>
                          <a:spcPts val="0"/>
                        </a:spcBef>
                        <a:spcAft>
                          <a:spcPts val="0"/>
                        </a:spcAft>
                      </a:pPr>
                      <a:r>
                        <a:rPr lang="en-US" sz="2400">
                          <a:effectLst/>
                        </a:rPr>
                        <a:t>End-Semester Exam</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a:effectLst/>
                        </a:rPr>
                        <a:t>30</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86804385"/>
                  </a:ext>
                </a:extLst>
              </a:tr>
              <a:tr h="423287">
                <a:tc>
                  <a:txBody>
                    <a:bodyPr/>
                    <a:lstStyle/>
                    <a:p>
                      <a:pPr marL="0" marR="0">
                        <a:lnSpc>
                          <a:spcPct val="107000"/>
                        </a:lnSpc>
                        <a:spcBef>
                          <a:spcPts val="0"/>
                        </a:spcBef>
                        <a:spcAft>
                          <a:spcPts val="0"/>
                        </a:spcAft>
                      </a:pPr>
                      <a:r>
                        <a:rPr lang="en-US" sz="2400">
                          <a:effectLst/>
                        </a:rPr>
                        <a:t>Total</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100</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83587776"/>
                  </a:ext>
                </a:extLst>
              </a:tr>
            </a:tbl>
          </a:graphicData>
        </a:graphic>
      </p:graphicFrame>
    </p:spTree>
    <p:extLst>
      <p:ext uri="{BB962C8B-B14F-4D97-AF65-F5344CB8AC3E}">
        <p14:creationId xmlns:p14="http://schemas.microsoft.com/office/powerpoint/2010/main" val="22655651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119299"/>
            <a:ext cx="7652860" cy="1303867"/>
          </a:xfrm>
        </p:spPr>
        <p:txBody>
          <a:bodyPr/>
          <a:lstStyle/>
          <a:p>
            <a:r>
              <a:rPr lang="en-US" dirty="0" smtClean="0"/>
              <a:t>What is Intelligence?</a:t>
            </a:r>
            <a:endParaRPr lang="en-US" dirty="0"/>
          </a:p>
        </p:txBody>
      </p:sp>
      <p:pic>
        <p:nvPicPr>
          <p:cNvPr id="5" name="Content Placeholder 4"/>
          <p:cNvPicPr>
            <a:picLocks noGrp="1" noChangeAspect="1"/>
          </p:cNvPicPr>
          <p:nvPr>
            <p:ph idx="1"/>
          </p:nvPr>
        </p:nvPicPr>
        <p:blipFill>
          <a:blip r:embed="rId3"/>
          <a:stretch>
            <a:fillRect/>
          </a:stretch>
        </p:blipFill>
        <p:spPr>
          <a:xfrm>
            <a:off x="7147560" y="9566"/>
            <a:ext cx="5044440" cy="3379136"/>
          </a:xfrm>
          <a:prstGeom prst="rect">
            <a:avLst/>
          </a:prstGeom>
        </p:spPr>
      </p:pic>
      <p:pic>
        <p:nvPicPr>
          <p:cNvPr id="4" name="Picture 3"/>
          <p:cNvPicPr>
            <a:picLocks noChangeAspect="1"/>
          </p:cNvPicPr>
          <p:nvPr/>
        </p:nvPicPr>
        <p:blipFill>
          <a:blip r:embed="rId4"/>
          <a:stretch>
            <a:fillRect/>
          </a:stretch>
        </p:blipFill>
        <p:spPr>
          <a:xfrm>
            <a:off x="1" y="1055703"/>
            <a:ext cx="7147559" cy="5802297"/>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4700" y="3230881"/>
            <a:ext cx="5057300" cy="3627120"/>
          </a:xfrm>
          <a:prstGeom prst="rect">
            <a:avLst/>
          </a:prstGeom>
        </p:spPr>
      </p:pic>
    </p:spTree>
    <p:extLst>
      <p:ext uri="{BB962C8B-B14F-4D97-AF65-F5344CB8AC3E}">
        <p14:creationId xmlns:p14="http://schemas.microsoft.com/office/powerpoint/2010/main" val="41946186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Content Placeholder 4"/>
          <p:cNvSpPr>
            <a:spLocks noGrp="1"/>
          </p:cNvSpPr>
          <p:nvPr>
            <p:ph sz="half" idx="2"/>
          </p:nvPr>
        </p:nvSpPr>
        <p:spPr>
          <a:xfrm>
            <a:off x="0" y="1417320"/>
            <a:ext cx="6013704" cy="5440680"/>
          </a:xfrm>
        </p:spPr>
        <p:txBody>
          <a:bodyPr>
            <a:normAutofit fontScale="85000" lnSpcReduction="10000"/>
          </a:bodyPr>
          <a:lstStyle/>
          <a:p>
            <a:r>
              <a:rPr lang="en-US" dirty="0"/>
              <a:t>From a psychological point of view:</a:t>
            </a:r>
          </a:p>
          <a:p>
            <a:r>
              <a:rPr lang="en-US" dirty="0"/>
              <a:t>1. "Intelligence is not a single, unitary ability, but rather a composite of several functions. The term denotes that combination of abilities required for survival and advancement within a particular culture." A. Anastasi [7]</a:t>
            </a:r>
          </a:p>
          <a:p>
            <a:r>
              <a:rPr lang="en-US" dirty="0"/>
              <a:t>2. "It seems to us that in intelligence there is a fundamental faculty. the alteration or the lack of which, is of the utmost importance for practical life. This faculty is judgement, otherwise called good sense, practical sense, initiative, the faculty of adapting one self to circumstances." A. </a:t>
            </a:r>
            <a:r>
              <a:rPr lang="en-US" dirty="0" err="1"/>
              <a:t>Binet</a:t>
            </a:r>
            <a:r>
              <a:rPr lang="en-US" dirty="0"/>
              <a:t> [7]</a:t>
            </a:r>
          </a:p>
          <a:p>
            <a:r>
              <a:rPr lang="en-US" dirty="0"/>
              <a:t>3. "We shall use the term "intelligence' to mean the ability of an organism to solve new problems "W. V. Bingham [7]</a:t>
            </a:r>
          </a:p>
          <a:p>
            <a:r>
              <a:rPr lang="en-US" dirty="0"/>
              <a:t>4. "A global concept that involves an individual's ability to act purposefully, think rationally, and deal effectively with the environment." D. Wechsler [7]</a:t>
            </a:r>
          </a:p>
        </p:txBody>
      </p:sp>
      <p:sp>
        <p:nvSpPr>
          <p:cNvPr id="6" name="Text Placeholder 5"/>
          <p:cNvSpPr>
            <a:spLocks noGrp="1"/>
          </p:cNvSpPr>
          <p:nvPr>
            <p:ph type="body" sz="quarter" idx="3"/>
          </p:nvPr>
        </p:nvSpPr>
        <p:spPr>
          <a:xfrm>
            <a:off x="6851230" y="494453"/>
            <a:ext cx="4718304" cy="576262"/>
          </a:xfrm>
        </p:spPr>
        <p:txBody>
          <a:bodyPr/>
          <a:lstStyle/>
          <a:p>
            <a:r>
              <a:rPr lang="en-US" dirty="0"/>
              <a:t>From a AI/CS point of view:</a:t>
            </a:r>
          </a:p>
        </p:txBody>
      </p:sp>
      <p:sp>
        <p:nvSpPr>
          <p:cNvPr id="7" name="Content Placeholder 6"/>
          <p:cNvSpPr>
            <a:spLocks noGrp="1"/>
          </p:cNvSpPr>
          <p:nvPr>
            <p:ph sz="quarter" idx="4"/>
          </p:nvPr>
        </p:nvSpPr>
        <p:spPr>
          <a:xfrm>
            <a:off x="6309360" y="1310640"/>
            <a:ext cx="5882640" cy="5547360"/>
          </a:xfrm>
        </p:spPr>
        <p:txBody>
          <a:bodyPr>
            <a:normAutofit fontScale="92500" lnSpcReduction="10000"/>
          </a:bodyPr>
          <a:lstStyle/>
          <a:p>
            <a:r>
              <a:rPr lang="en-US" dirty="0" smtClean="0"/>
              <a:t>1</a:t>
            </a:r>
            <a:r>
              <a:rPr lang="en-US" dirty="0"/>
              <a:t>. "Intelligence is the ability to use optimally limited resources including time to achieve goals." R. Kurzweil [7]</a:t>
            </a:r>
          </a:p>
          <a:p>
            <a:r>
              <a:rPr lang="en-US" dirty="0"/>
              <a:t>2. "Intelligence measures an agent's ability to achieve goals in a wide range of environments." S. Legg and M. </a:t>
            </a:r>
            <a:r>
              <a:rPr lang="en-US" dirty="0" err="1"/>
              <a:t>Hutter</a:t>
            </a:r>
            <a:r>
              <a:rPr lang="en-US" dirty="0"/>
              <a:t> [7]</a:t>
            </a:r>
          </a:p>
          <a:p>
            <a:r>
              <a:rPr lang="en-US" dirty="0"/>
              <a:t>3. "Intelligence is the computational part of the ability to achieve goals in the world. Varying kinds and degrees of intelligence occur in people, many animals and some machines." J. McCarthy [7]</a:t>
            </a:r>
          </a:p>
          <a:p>
            <a:r>
              <a:rPr lang="en-US" dirty="0"/>
              <a:t>4. "... in any real situation behavior appropriate to the ends of the system and adaptive to the demands of the environment can occur, within some limits of speed and complexity." A. Newell and H. A. Simon [7]</a:t>
            </a:r>
          </a:p>
        </p:txBody>
      </p:sp>
      <p:sp>
        <p:nvSpPr>
          <p:cNvPr id="8" name="Text Placeholder 5"/>
          <p:cNvSpPr txBox="1">
            <a:spLocks/>
          </p:cNvSpPr>
          <p:nvPr/>
        </p:nvSpPr>
        <p:spPr>
          <a:xfrm>
            <a:off x="533400" y="494453"/>
            <a:ext cx="5343144" cy="576262"/>
          </a:xfrm>
          <a:prstGeom prst="rect">
            <a:avLst/>
          </a:prstGeom>
        </p:spPr>
        <p:txBody>
          <a:bodyPr vert="horz" lIns="91440" tIns="45720" rIns="91440" bIns="45720" rtlCol="0" anchor="b">
            <a:noAutofit/>
          </a:bodyPr>
          <a:lstStyle>
            <a:lvl1pPr marL="0" indent="0" algn="l" defTabSz="457200" rtl="0" eaLnBrk="1" latinLnBrk="0" hangingPunct="1">
              <a:spcBef>
                <a:spcPts val="672"/>
              </a:spcBef>
              <a:spcAft>
                <a:spcPts val="600"/>
              </a:spcAft>
              <a:buClr>
                <a:schemeClr val="accent1"/>
              </a:buClr>
              <a:buSzPct val="115000"/>
              <a:buFont typeface="Arial"/>
              <a:buNone/>
              <a:defRPr sz="2800" b="0" kern="1200" cap="none">
                <a:solidFill>
                  <a:schemeClr val="accent1"/>
                </a:solidFill>
                <a:effectLst/>
                <a:latin typeface="+mn-lt"/>
                <a:ea typeface="+mn-ea"/>
                <a:cs typeface="+mn-cs"/>
              </a:defRPr>
            </a:lvl1pPr>
            <a:lvl2pPr marL="457200" indent="0" algn="l" defTabSz="457200" rtl="0" eaLnBrk="1" latinLnBrk="0" hangingPunct="1">
              <a:spcBef>
                <a:spcPct val="20000"/>
              </a:spcBef>
              <a:spcAft>
                <a:spcPts val="600"/>
              </a:spcAft>
              <a:buClr>
                <a:schemeClr val="accent1"/>
              </a:buClr>
              <a:buSzPct val="115000"/>
              <a:buFont typeface="Arial"/>
              <a:buNone/>
              <a:defRPr sz="2000" b="1" kern="1200" cap="none">
                <a:solidFill>
                  <a:schemeClr val="tx1">
                    <a:lumMod val="85000"/>
                    <a:lumOff val="15000"/>
                  </a:schemeClr>
                </a:solidFill>
                <a:effectLst/>
                <a:latin typeface="+mn-lt"/>
                <a:ea typeface="+mn-ea"/>
                <a:cs typeface="+mn-cs"/>
              </a:defRPr>
            </a:lvl2pPr>
            <a:lvl3pPr marL="914400" indent="0" algn="l" defTabSz="457200" rtl="0" eaLnBrk="1" latinLnBrk="0" hangingPunct="1">
              <a:spcBef>
                <a:spcPct val="20000"/>
              </a:spcBef>
              <a:spcAft>
                <a:spcPts val="600"/>
              </a:spcAft>
              <a:buClr>
                <a:schemeClr val="accent1"/>
              </a:buClr>
              <a:buSzPct val="115000"/>
              <a:buFont typeface="Arial"/>
              <a:buNone/>
              <a:defRPr sz="1800" b="1" kern="1200" cap="none">
                <a:solidFill>
                  <a:schemeClr val="tx1">
                    <a:lumMod val="85000"/>
                    <a:lumOff val="15000"/>
                  </a:schemeClr>
                </a:solidFill>
                <a:effectLst/>
                <a:latin typeface="+mn-lt"/>
                <a:ea typeface="+mn-ea"/>
                <a:cs typeface="+mn-cs"/>
              </a:defRPr>
            </a:lvl3pPr>
            <a:lvl4pPr marL="1371600" indent="0" algn="l" defTabSz="457200" rtl="0" eaLnBrk="1" latinLnBrk="0" hangingPunct="1">
              <a:spcBef>
                <a:spcPct val="20000"/>
              </a:spcBef>
              <a:spcAft>
                <a:spcPts val="600"/>
              </a:spcAft>
              <a:buClr>
                <a:schemeClr val="accent1"/>
              </a:buClr>
              <a:buSzPct val="115000"/>
              <a:buFont typeface="Arial"/>
              <a:buNone/>
              <a:defRPr sz="1600" b="1" kern="1200" cap="none">
                <a:solidFill>
                  <a:schemeClr val="tx1">
                    <a:lumMod val="85000"/>
                    <a:lumOff val="15000"/>
                  </a:schemeClr>
                </a:solidFill>
                <a:effectLst/>
                <a:latin typeface="+mn-lt"/>
                <a:ea typeface="+mn-ea"/>
                <a:cs typeface="+mn-cs"/>
              </a:defRPr>
            </a:lvl4pPr>
            <a:lvl5pPr marL="1828800" indent="0" algn="l" defTabSz="457200" rtl="0" eaLnBrk="1" latinLnBrk="0" hangingPunct="1">
              <a:spcBef>
                <a:spcPct val="20000"/>
              </a:spcBef>
              <a:spcAft>
                <a:spcPts val="600"/>
              </a:spcAft>
              <a:buClr>
                <a:schemeClr val="accent1"/>
              </a:buClr>
              <a:buSzPct val="115000"/>
              <a:buFont typeface="Arial"/>
              <a:buNone/>
              <a:defRPr sz="1600" b="1" kern="1200" cap="none">
                <a:solidFill>
                  <a:schemeClr val="tx1">
                    <a:lumMod val="85000"/>
                    <a:lumOff val="15000"/>
                  </a:schemeClr>
                </a:solidFill>
                <a:effectLst/>
                <a:latin typeface="+mn-lt"/>
                <a:ea typeface="+mn-ea"/>
                <a:cs typeface="+mn-cs"/>
              </a:defRPr>
            </a:lvl5pPr>
            <a:lvl6pPr marL="2286000" indent="0" algn="l" defTabSz="457200" rtl="0" eaLnBrk="1" latinLnBrk="0" hangingPunct="1">
              <a:spcBef>
                <a:spcPct val="20000"/>
              </a:spcBef>
              <a:spcAft>
                <a:spcPts val="600"/>
              </a:spcAft>
              <a:buClr>
                <a:schemeClr val="accent1"/>
              </a:buClr>
              <a:buSzPct val="115000"/>
              <a:buFont typeface="Arial"/>
              <a:buNone/>
              <a:defRPr sz="1600" b="1" kern="1200" cap="none">
                <a:solidFill>
                  <a:schemeClr val="tx1">
                    <a:lumMod val="85000"/>
                    <a:lumOff val="15000"/>
                  </a:schemeClr>
                </a:solidFill>
                <a:effectLst/>
                <a:latin typeface="+mn-lt"/>
                <a:ea typeface="+mn-ea"/>
                <a:cs typeface="+mn-cs"/>
              </a:defRPr>
            </a:lvl6pPr>
            <a:lvl7pPr marL="2743200" indent="0" algn="l" defTabSz="457200" rtl="0" eaLnBrk="1" latinLnBrk="0" hangingPunct="1">
              <a:spcBef>
                <a:spcPct val="20000"/>
              </a:spcBef>
              <a:spcAft>
                <a:spcPts val="600"/>
              </a:spcAft>
              <a:buClr>
                <a:schemeClr val="accent1"/>
              </a:buClr>
              <a:buSzPct val="115000"/>
              <a:buFont typeface="Arial"/>
              <a:buNone/>
              <a:defRPr sz="1600" b="1" kern="1200" cap="none">
                <a:solidFill>
                  <a:schemeClr val="tx1">
                    <a:lumMod val="85000"/>
                    <a:lumOff val="15000"/>
                  </a:schemeClr>
                </a:solidFill>
                <a:effectLst/>
                <a:latin typeface="+mn-lt"/>
                <a:ea typeface="+mn-ea"/>
                <a:cs typeface="+mn-cs"/>
              </a:defRPr>
            </a:lvl7pPr>
            <a:lvl8pPr marL="3200400" indent="0" algn="l" defTabSz="457200" rtl="0" eaLnBrk="1" latinLnBrk="0" hangingPunct="1">
              <a:spcBef>
                <a:spcPct val="20000"/>
              </a:spcBef>
              <a:spcAft>
                <a:spcPts val="600"/>
              </a:spcAft>
              <a:buClr>
                <a:schemeClr val="accent1"/>
              </a:buClr>
              <a:buSzPct val="115000"/>
              <a:buFont typeface="Arial"/>
              <a:buNone/>
              <a:defRPr sz="1600" b="1" kern="1200" cap="none">
                <a:solidFill>
                  <a:schemeClr val="tx1">
                    <a:lumMod val="85000"/>
                    <a:lumOff val="15000"/>
                  </a:schemeClr>
                </a:solidFill>
                <a:effectLst/>
                <a:latin typeface="+mn-lt"/>
                <a:ea typeface="+mn-ea"/>
                <a:cs typeface="+mn-cs"/>
              </a:defRPr>
            </a:lvl8pPr>
            <a:lvl9pPr marL="3657600" indent="0" algn="l" defTabSz="457200" rtl="0" eaLnBrk="1" latinLnBrk="0" hangingPunct="1">
              <a:spcBef>
                <a:spcPct val="20000"/>
              </a:spcBef>
              <a:spcAft>
                <a:spcPts val="600"/>
              </a:spcAft>
              <a:buClr>
                <a:schemeClr val="accent1"/>
              </a:buClr>
              <a:buSzPct val="115000"/>
              <a:buFont typeface="Arial"/>
              <a:buNone/>
              <a:defRPr sz="1600" b="1" kern="1200" cap="none">
                <a:solidFill>
                  <a:schemeClr val="tx1">
                    <a:lumMod val="85000"/>
                    <a:lumOff val="15000"/>
                  </a:schemeClr>
                </a:solidFill>
                <a:effectLst/>
                <a:latin typeface="+mn-lt"/>
                <a:ea typeface="+mn-ea"/>
                <a:cs typeface="+mn-cs"/>
              </a:defRPr>
            </a:lvl9pPr>
          </a:lstStyle>
          <a:p>
            <a:r>
              <a:rPr lang="en-US" dirty="0" smtClean="0"/>
              <a:t>From psychological  point of view:</a:t>
            </a:r>
            <a:endParaRPr lang="en-US" dirty="0"/>
          </a:p>
        </p:txBody>
      </p:sp>
    </p:spTree>
    <p:extLst>
      <p:ext uri="{BB962C8B-B14F-4D97-AF65-F5344CB8AC3E}">
        <p14:creationId xmlns:p14="http://schemas.microsoft.com/office/powerpoint/2010/main" val="3080129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down)">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down)">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wipe(down)">
                                      <p:cBhvr>
                                        <p:cTn id="32" dur="500"/>
                                        <p:tgtEl>
                                          <p:spTgt spid="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animEffect transition="in" filter="wipe(down)">
                                      <p:cBhvr>
                                        <p:cTn id="37" dur="500"/>
                                        <p:tgtEl>
                                          <p:spTgt spid="7">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7">
                                            <p:txEl>
                                              <p:pRg st="2" end="2"/>
                                            </p:txEl>
                                          </p:spTgt>
                                        </p:tgtEl>
                                        <p:attrNameLst>
                                          <p:attrName>style.visibility</p:attrName>
                                        </p:attrNameLst>
                                      </p:cBhvr>
                                      <p:to>
                                        <p:strVal val="visible"/>
                                      </p:to>
                                    </p:set>
                                    <p:animEffect transition="in" filter="wipe(down)">
                                      <p:cBhvr>
                                        <p:cTn id="42" dur="500"/>
                                        <p:tgtEl>
                                          <p:spTgt spid="7">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7">
                                            <p:txEl>
                                              <p:pRg st="3" end="3"/>
                                            </p:txEl>
                                          </p:spTgt>
                                        </p:tgtEl>
                                        <p:attrNameLst>
                                          <p:attrName>style.visibility</p:attrName>
                                        </p:attrNameLst>
                                      </p:cBhvr>
                                      <p:to>
                                        <p:strVal val="visible"/>
                                      </p:to>
                                    </p:set>
                                    <p:animEffect transition="in" filter="wipe(down)">
                                      <p:cBhvr>
                                        <p:cTn id="47"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Intelligence?</a:t>
            </a:r>
            <a:endParaRPr lang="en-US" dirty="0"/>
          </a:p>
        </p:txBody>
      </p:sp>
      <p:pic>
        <p:nvPicPr>
          <p:cNvPr id="4" name="Content Placeholder 3"/>
          <p:cNvPicPr>
            <a:picLocks noGrp="1" noChangeAspect="1"/>
          </p:cNvPicPr>
          <p:nvPr>
            <p:ph idx="1"/>
          </p:nvPr>
        </p:nvPicPr>
        <p:blipFill>
          <a:blip r:embed="rId2"/>
          <a:stretch>
            <a:fillRect/>
          </a:stretch>
        </p:blipFill>
        <p:spPr>
          <a:xfrm>
            <a:off x="2200275" y="2863850"/>
            <a:ext cx="7791450" cy="2705100"/>
          </a:xfrm>
          <a:prstGeom prst="rect">
            <a:avLst/>
          </a:prstGeom>
        </p:spPr>
      </p:pic>
    </p:spTree>
    <p:extLst>
      <p:ext uri="{BB962C8B-B14F-4D97-AF65-F5344CB8AC3E}">
        <p14:creationId xmlns:p14="http://schemas.microsoft.com/office/powerpoint/2010/main" val="27918904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215268" cy="6858000"/>
          </a:xfrm>
        </p:spPr>
      </p:pic>
      <p:sp>
        <p:nvSpPr>
          <p:cNvPr id="6" name="TextBox 5"/>
          <p:cNvSpPr txBox="1"/>
          <p:nvPr/>
        </p:nvSpPr>
        <p:spPr>
          <a:xfrm>
            <a:off x="335280" y="5821680"/>
            <a:ext cx="2133600" cy="369332"/>
          </a:xfrm>
          <a:prstGeom prst="rect">
            <a:avLst/>
          </a:prstGeom>
          <a:noFill/>
        </p:spPr>
        <p:txBody>
          <a:bodyPr wrap="square" rtlCol="0">
            <a:spAutoFit/>
          </a:bodyPr>
          <a:lstStyle/>
          <a:p>
            <a:r>
              <a:rPr lang="en-US" dirty="0" smtClean="0">
                <a:hlinkClick r:id="rId4"/>
              </a:rPr>
              <a:t>VIDEO</a:t>
            </a:r>
            <a:endParaRPr lang="en-US" dirty="0"/>
          </a:p>
        </p:txBody>
      </p:sp>
    </p:spTree>
    <p:extLst>
      <p:ext uri="{BB962C8B-B14F-4D97-AF65-F5344CB8AC3E}">
        <p14:creationId xmlns:p14="http://schemas.microsoft.com/office/powerpoint/2010/main" val="19765396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473582" y="0"/>
            <a:ext cx="11239881" cy="6858000"/>
          </a:xfrm>
          <a:prstGeom prst="rect">
            <a:avLst/>
          </a:prstGeom>
        </p:spPr>
      </p:pic>
    </p:spTree>
    <p:extLst>
      <p:ext uri="{BB962C8B-B14F-4D97-AF65-F5344CB8AC3E}">
        <p14:creationId xmlns:p14="http://schemas.microsoft.com/office/powerpoint/2010/main" val="14670320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4" name="Content Placeholder 3"/>
          <p:cNvPicPr>
            <a:picLocks noChangeAspect="1"/>
          </p:cNvPicPr>
          <p:nvPr/>
        </p:nvPicPr>
        <p:blipFill>
          <a:blip r:embed="rId2"/>
          <a:stretch>
            <a:fillRect/>
          </a:stretch>
        </p:blipFill>
        <p:spPr>
          <a:xfrm>
            <a:off x="1295400" y="982131"/>
            <a:ext cx="8412479" cy="5144555"/>
          </a:xfrm>
          <a:prstGeom prst="rect">
            <a:avLst/>
          </a:prstGeom>
        </p:spPr>
      </p:pic>
    </p:spTree>
    <p:extLst>
      <p:ext uri="{BB962C8B-B14F-4D97-AF65-F5344CB8AC3E}">
        <p14:creationId xmlns:p14="http://schemas.microsoft.com/office/powerpoint/2010/main" val="3430981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8843" y="473529"/>
            <a:ext cx="11119757" cy="5942627"/>
          </a:xfrm>
        </p:spPr>
      </p:pic>
    </p:spTree>
    <p:extLst>
      <p:ext uri="{BB962C8B-B14F-4D97-AF65-F5344CB8AC3E}">
        <p14:creationId xmlns:p14="http://schemas.microsoft.com/office/powerpoint/2010/main" val="32931768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Artificial Intelligence?</a:t>
            </a:r>
            <a:endParaRPr lang="en-US" dirty="0"/>
          </a:p>
        </p:txBody>
      </p:sp>
      <p:pic>
        <p:nvPicPr>
          <p:cNvPr id="4" name="Content Placeholder 3"/>
          <p:cNvPicPr>
            <a:picLocks noGrp="1" noChangeAspect="1"/>
          </p:cNvPicPr>
          <p:nvPr>
            <p:ph idx="1"/>
          </p:nvPr>
        </p:nvPicPr>
        <p:blipFill>
          <a:blip r:embed="rId3"/>
          <a:stretch>
            <a:fillRect/>
          </a:stretch>
        </p:blipFill>
        <p:spPr>
          <a:xfrm>
            <a:off x="1678545" y="2438193"/>
            <a:ext cx="5036463" cy="3790328"/>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3772" y="2438193"/>
            <a:ext cx="3892826" cy="3790328"/>
          </a:xfrm>
          <a:prstGeom prst="rect">
            <a:avLst/>
          </a:prstGeom>
        </p:spPr>
      </p:pic>
      <p:sp>
        <p:nvSpPr>
          <p:cNvPr id="6" name="TextBox 5"/>
          <p:cNvSpPr txBox="1"/>
          <p:nvPr/>
        </p:nvSpPr>
        <p:spPr>
          <a:xfrm>
            <a:off x="702365" y="6506817"/>
            <a:ext cx="10774018" cy="369332"/>
          </a:xfrm>
          <a:prstGeom prst="rect">
            <a:avLst/>
          </a:prstGeom>
          <a:noFill/>
        </p:spPr>
        <p:txBody>
          <a:bodyPr wrap="square" rtlCol="0">
            <a:spAutoFit/>
          </a:bodyPr>
          <a:lstStyle/>
          <a:p>
            <a:r>
              <a:rPr lang="en-US" b="1" i="1" dirty="0" smtClean="0"/>
              <a:t>AI: </a:t>
            </a:r>
            <a:r>
              <a:rPr lang="en-US" b="1" i="1" dirty="0"/>
              <a:t>is the simulation of human intelligence in machines that are programmed to think and act like humans</a:t>
            </a:r>
          </a:p>
        </p:txBody>
      </p:sp>
    </p:spTree>
    <p:extLst>
      <p:ext uri="{BB962C8B-B14F-4D97-AF65-F5344CB8AC3E}">
        <p14:creationId xmlns:p14="http://schemas.microsoft.com/office/powerpoint/2010/main" val="40728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3"/>
          <a:stretch>
            <a:fillRect/>
          </a:stretch>
        </p:blipFill>
        <p:spPr>
          <a:xfrm>
            <a:off x="1" y="638175"/>
            <a:ext cx="12192000" cy="5893254"/>
          </a:xfrm>
          <a:prstGeom prst="rect">
            <a:avLst/>
          </a:prstGeom>
        </p:spPr>
      </p:pic>
      <p:sp>
        <p:nvSpPr>
          <p:cNvPr id="6" name="Rounded Rectangle 5"/>
          <p:cNvSpPr/>
          <p:nvPr/>
        </p:nvSpPr>
        <p:spPr>
          <a:xfrm>
            <a:off x="5910943" y="4555671"/>
            <a:ext cx="2759528" cy="6531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Generative AI</a:t>
            </a:r>
            <a:endParaRPr lang="en-US" dirty="0"/>
          </a:p>
        </p:txBody>
      </p:sp>
      <p:sp>
        <p:nvSpPr>
          <p:cNvPr id="7" name="Rounded Rectangle 6"/>
          <p:cNvSpPr/>
          <p:nvPr/>
        </p:nvSpPr>
        <p:spPr>
          <a:xfrm>
            <a:off x="4163786" y="1265855"/>
            <a:ext cx="1747157" cy="736418"/>
          </a:xfrm>
          <a:prstGeom prst="roundRect">
            <a:avLst/>
          </a:prstGeom>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06672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Artificial Intelligence?</a:t>
            </a:r>
            <a:endParaRPr lang="en-US" dirty="0"/>
          </a:p>
        </p:txBody>
      </p:sp>
      <p:sp>
        <p:nvSpPr>
          <p:cNvPr id="3" name="Content Placeholder 2"/>
          <p:cNvSpPr>
            <a:spLocks noGrp="1"/>
          </p:cNvSpPr>
          <p:nvPr>
            <p:ph idx="1"/>
          </p:nvPr>
        </p:nvSpPr>
        <p:spPr>
          <a:xfrm>
            <a:off x="640080" y="2590800"/>
            <a:ext cx="11033760" cy="3285068"/>
          </a:xfrm>
        </p:spPr>
        <p:txBody>
          <a:bodyPr/>
          <a:lstStyle/>
          <a:p>
            <a:r>
              <a:rPr lang="en-US" dirty="0" smtClean="0"/>
              <a:t>An area of </a:t>
            </a:r>
            <a:r>
              <a:rPr lang="en-US" dirty="0"/>
              <a:t>study </a:t>
            </a:r>
            <a:r>
              <a:rPr lang="en-US" dirty="0" smtClean="0"/>
              <a:t>concerned with making computers </a:t>
            </a:r>
            <a:r>
              <a:rPr lang="en-US" dirty="0"/>
              <a:t>copy intelligent human </a:t>
            </a:r>
            <a:r>
              <a:rPr lang="en-US" dirty="0" smtClean="0"/>
              <a:t>behavior . (Oxford learner’s dictionary)</a:t>
            </a:r>
          </a:p>
          <a:p>
            <a:r>
              <a:rPr lang="en-US" b="1" dirty="0" smtClean="0"/>
              <a:t>Artificial</a:t>
            </a:r>
            <a:r>
              <a:rPr lang="en-US" dirty="0" smtClean="0"/>
              <a:t> : “Made </a:t>
            </a:r>
            <a:r>
              <a:rPr lang="en-US" dirty="0"/>
              <a:t>or produced by human beings rather than occurring naturally, especially as a copy of something natural</a:t>
            </a:r>
            <a:r>
              <a:rPr lang="en-US" dirty="0" smtClean="0"/>
              <a:t>.” (Oxford Dictionary)</a:t>
            </a:r>
          </a:p>
          <a:p>
            <a:r>
              <a:rPr lang="en-US" dirty="0" smtClean="0"/>
              <a:t>The Goal of AI is to develop machines that behave as though they are intelligent</a:t>
            </a:r>
          </a:p>
          <a:p>
            <a:r>
              <a:rPr lang="en-US" dirty="0" smtClean="0"/>
              <a:t>AI was at the onset (1940s) referred to as automation.</a:t>
            </a:r>
          </a:p>
          <a:p>
            <a:r>
              <a:rPr lang="en-US" dirty="0" smtClean="0"/>
              <a:t>NOTE: there’s no AI without DATA</a:t>
            </a:r>
          </a:p>
        </p:txBody>
      </p:sp>
    </p:spTree>
    <p:extLst>
      <p:ext uri="{BB962C8B-B14F-4D97-AF65-F5344CB8AC3E}">
        <p14:creationId xmlns:p14="http://schemas.microsoft.com/office/powerpoint/2010/main" val="24649034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715" y="319523"/>
            <a:ext cx="9601196" cy="1303867"/>
          </a:xfrm>
        </p:spPr>
        <p:txBody>
          <a:bodyPr/>
          <a:lstStyle/>
          <a:p>
            <a:pPr algn="l"/>
            <a:r>
              <a:rPr lang="en-US" b="1" dirty="0" smtClean="0"/>
              <a:t>AI Myths</a:t>
            </a:r>
            <a:endParaRPr lang="en-US" b="1" dirty="0"/>
          </a:p>
        </p:txBody>
      </p:sp>
      <p:pic>
        <p:nvPicPr>
          <p:cNvPr id="4" name="Picture 3"/>
          <p:cNvPicPr>
            <a:picLocks noChangeAspect="1"/>
          </p:cNvPicPr>
          <p:nvPr/>
        </p:nvPicPr>
        <p:blipFill>
          <a:blip r:embed="rId2"/>
          <a:stretch>
            <a:fillRect/>
          </a:stretch>
        </p:blipFill>
        <p:spPr>
          <a:xfrm>
            <a:off x="2594114" y="0"/>
            <a:ext cx="8179903" cy="6927321"/>
          </a:xfrm>
          <a:prstGeom prst="rect">
            <a:avLst/>
          </a:prstGeom>
        </p:spPr>
      </p:pic>
    </p:spTree>
    <p:extLst>
      <p:ext uri="{BB962C8B-B14F-4D97-AF65-F5344CB8AC3E}">
        <p14:creationId xmlns:p14="http://schemas.microsoft.com/office/powerpoint/2010/main" val="27979977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6820" y="74428"/>
            <a:ext cx="5075273" cy="3015457"/>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9292" y="3252345"/>
            <a:ext cx="5645887" cy="314748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819" y="3252346"/>
            <a:ext cx="5075273" cy="3023662"/>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39293" y="74428"/>
            <a:ext cx="5645887" cy="3029339"/>
          </a:xfrm>
          <a:prstGeom prst="rect">
            <a:avLst/>
          </a:prstGeom>
        </p:spPr>
      </p:pic>
    </p:spTree>
    <p:extLst>
      <p:ext uri="{BB962C8B-B14F-4D97-AF65-F5344CB8AC3E}">
        <p14:creationId xmlns:p14="http://schemas.microsoft.com/office/powerpoint/2010/main" val="11950274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378" y="-109195"/>
            <a:ext cx="10354892" cy="1303867"/>
          </a:xfrm>
        </p:spPr>
        <p:txBody>
          <a:bodyPr>
            <a:normAutofit fontScale="90000"/>
          </a:bodyPr>
          <a:lstStyle/>
          <a:p>
            <a:r>
              <a:rPr lang="en-US" dirty="0" err="1" smtClean="0"/>
              <a:t>Fruitchitecture</a:t>
            </a:r>
            <a:r>
              <a:rPr lang="en-US" dirty="0"/>
              <a:t/>
            </a:r>
            <a:br>
              <a:rPr lang="en-US" dirty="0"/>
            </a:br>
            <a:r>
              <a:rPr lang="en-US" dirty="0" smtClean="0"/>
              <a:t>Designing within hours with AI </a:t>
            </a:r>
            <a:endParaRPr lang="en-US" dirty="0"/>
          </a:p>
        </p:txBody>
      </p:sp>
      <p:pic>
        <p:nvPicPr>
          <p:cNvPr id="7" name="Content Placeholder 6"/>
          <p:cNvPicPr>
            <a:picLocks noGrp="1" noChangeAspect="1"/>
          </p:cNvPicPr>
          <p:nvPr>
            <p:ph idx="1"/>
          </p:nvPr>
        </p:nvPicPr>
        <p:blipFill>
          <a:blip r:embed="rId2"/>
          <a:stretch>
            <a:fillRect/>
          </a:stretch>
        </p:blipFill>
        <p:spPr>
          <a:xfrm>
            <a:off x="4492178" y="2711006"/>
            <a:ext cx="2726033" cy="3776322"/>
          </a:xfrm>
          <a:prstGeom prst="rect">
            <a:avLst/>
          </a:prstGeom>
        </p:spPr>
      </p:pic>
      <p:pic>
        <p:nvPicPr>
          <p:cNvPr id="8" name="Picture 7"/>
          <p:cNvPicPr>
            <a:picLocks noChangeAspect="1"/>
          </p:cNvPicPr>
          <p:nvPr/>
        </p:nvPicPr>
        <p:blipFill>
          <a:blip r:embed="rId3"/>
          <a:stretch>
            <a:fillRect/>
          </a:stretch>
        </p:blipFill>
        <p:spPr>
          <a:xfrm>
            <a:off x="7427211" y="365544"/>
            <a:ext cx="4429125" cy="6219825"/>
          </a:xfrm>
          <a:prstGeom prst="rect">
            <a:avLst/>
          </a:prstGeom>
        </p:spPr>
      </p:pic>
      <p:pic>
        <p:nvPicPr>
          <p:cNvPr id="10" name="Picture 9"/>
          <p:cNvPicPr>
            <a:picLocks noChangeAspect="1"/>
          </p:cNvPicPr>
          <p:nvPr/>
        </p:nvPicPr>
        <p:blipFill>
          <a:blip r:embed="rId4"/>
          <a:stretch>
            <a:fillRect/>
          </a:stretch>
        </p:blipFill>
        <p:spPr>
          <a:xfrm>
            <a:off x="73128" y="1136616"/>
            <a:ext cx="4210050" cy="5962650"/>
          </a:xfrm>
          <a:prstGeom prst="rect">
            <a:avLst/>
          </a:prstGeom>
        </p:spPr>
      </p:pic>
    </p:spTree>
    <p:extLst>
      <p:ext uri="{BB962C8B-B14F-4D97-AF65-F5344CB8AC3E}">
        <p14:creationId xmlns:p14="http://schemas.microsoft.com/office/powerpoint/2010/main" val="18858648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a:stretch>
            <a:fillRect/>
          </a:stretch>
        </p:blipFill>
        <p:spPr>
          <a:xfrm>
            <a:off x="4516983" y="20118"/>
            <a:ext cx="4765241" cy="6837882"/>
          </a:xfrm>
          <a:prstGeom prst="rect">
            <a:avLst/>
          </a:prstGeom>
        </p:spPr>
      </p:pic>
      <p:pic>
        <p:nvPicPr>
          <p:cNvPr id="5" name="Picture 4"/>
          <p:cNvPicPr>
            <a:picLocks noChangeAspect="1"/>
          </p:cNvPicPr>
          <p:nvPr/>
        </p:nvPicPr>
        <p:blipFill>
          <a:blip r:embed="rId3"/>
          <a:stretch>
            <a:fillRect/>
          </a:stretch>
        </p:blipFill>
        <p:spPr>
          <a:xfrm>
            <a:off x="0" y="204723"/>
            <a:ext cx="4410075" cy="6229350"/>
          </a:xfrm>
          <a:prstGeom prst="rect">
            <a:avLst/>
          </a:prstGeom>
        </p:spPr>
      </p:pic>
      <p:pic>
        <p:nvPicPr>
          <p:cNvPr id="7" name="Picture 6"/>
          <p:cNvPicPr>
            <a:picLocks noChangeAspect="1"/>
          </p:cNvPicPr>
          <p:nvPr/>
        </p:nvPicPr>
        <p:blipFill>
          <a:blip r:embed="rId4"/>
          <a:stretch>
            <a:fillRect/>
          </a:stretch>
        </p:blipFill>
        <p:spPr>
          <a:xfrm>
            <a:off x="9017028" y="20118"/>
            <a:ext cx="3174972" cy="6837882"/>
          </a:xfrm>
          <a:prstGeom prst="rect">
            <a:avLst/>
          </a:prstGeom>
        </p:spPr>
      </p:pic>
    </p:spTree>
    <p:extLst>
      <p:ext uri="{BB962C8B-B14F-4D97-AF65-F5344CB8AC3E}">
        <p14:creationId xmlns:p14="http://schemas.microsoft.com/office/powerpoint/2010/main" val="32995864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4093535" y="52375"/>
            <a:ext cx="4400550" cy="6243649"/>
          </a:xfrm>
          <a:prstGeom prst="rect">
            <a:avLst/>
          </a:prstGeom>
        </p:spPr>
      </p:pic>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3"/>
          <a:stretch>
            <a:fillRect/>
          </a:stretch>
        </p:blipFill>
        <p:spPr>
          <a:xfrm>
            <a:off x="0" y="0"/>
            <a:ext cx="4429125" cy="6296025"/>
          </a:xfrm>
          <a:prstGeom prst="rect">
            <a:avLst/>
          </a:prstGeom>
        </p:spPr>
      </p:pic>
      <p:pic>
        <p:nvPicPr>
          <p:cNvPr id="7" name="Picture 6"/>
          <p:cNvPicPr>
            <a:picLocks noChangeAspect="1"/>
          </p:cNvPicPr>
          <p:nvPr/>
        </p:nvPicPr>
        <p:blipFill>
          <a:blip r:embed="rId4"/>
          <a:stretch>
            <a:fillRect/>
          </a:stretch>
        </p:blipFill>
        <p:spPr>
          <a:xfrm>
            <a:off x="8329077" y="-1"/>
            <a:ext cx="3862923" cy="6296025"/>
          </a:xfrm>
          <a:prstGeom prst="rect">
            <a:avLst/>
          </a:prstGeom>
        </p:spPr>
      </p:pic>
    </p:spTree>
    <p:extLst>
      <p:ext uri="{BB962C8B-B14F-4D97-AF65-F5344CB8AC3E}">
        <p14:creationId xmlns:p14="http://schemas.microsoft.com/office/powerpoint/2010/main" val="221755079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1"/>
            <a:ext cx="12192000" cy="6837479"/>
          </a:xfrm>
          <a:prstGeom prst="rect">
            <a:avLst/>
          </a:prstGeom>
        </p:spPr>
      </p:pic>
    </p:spTree>
    <p:extLst>
      <p:ext uri="{BB962C8B-B14F-4D97-AF65-F5344CB8AC3E}">
        <p14:creationId xmlns:p14="http://schemas.microsoft.com/office/powerpoint/2010/main" val="304557000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086" y="29638"/>
            <a:ext cx="11948056" cy="6828362"/>
          </a:xfrm>
        </p:spPr>
      </p:pic>
    </p:spTree>
    <p:extLst>
      <p:ext uri="{BB962C8B-B14F-4D97-AF65-F5344CB8AC3E}">
        <p14:creationId xmlns:p14="http://schemas.microsoft.com/office/powerpoint/2010/main" val="219974702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680" y="0"/>
            <a:ext cx="12298680" cy="6837052"/>
          </a:xfrm>
        </p:spPr>
      </p:pic>
    </p:spTree>
    <p:extLst>
      <p:ext uri="{BB962C8B-B14F-4D97-AF65-F5344CB8AC3E}">
        <p14:creationId xmlns:p14="http://schemas.microsoft.com/office/powerpoint/2010/main" val="15468668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6" name="Content Placeholder 5"/>
          <p:cNvSpPr>
            <a:spLocks noGrp="1"/>
          </p:cNvSpPr>
          <p:nvPr>
            <p:ph idx="1"/>
          </p:nvPr>
        </p:nvSpPr>
        <p:spPr/>
        <p:txBody>
          <a:bodyPr/>
          <a:lstStyle/>
          <a:p>
            <a:endParaRPr lang="en-US" dirty="0"/>
          </a:p>
        </p:txBody>
      </p:sp>
      <p:pic>
        <p:nvPicPr>
          <p:cNvPr id="7" name="Picture 6"/>
          <p:cNvPicPr>
            <a:picLocks noChangeAspect="1"/>
          </p:cNvPicPr>
          <p:nvPr/>
        </p:nvPicPr>
        <p:blipFill>
          <a:blip r:embed="rId2"/>
          <a:stretch>
            <a:fillRect/>
          </a:stretch>
        </p:blipFill>
        <p:spPr>
          <a:xfrm>
            <a:off x="0" y="1"/>
            <a:ext cx="12157245" cy="6858000"/>
          </a:xfrm>
          <a:prstGeom prst="rect">
            <a:avLst/>
          </a:prstGeom>
        </p:spPr>
      </p:pic>
      <p:sp>
        <p:nvSpPr>
          <p:cNvPr id="8" name="TextBox 7"/>
          <p:cNvSpPr txBox="1"/>
          <p:nvPr/>
        </p:nvSpPr>
        <p:spPr>
          <a:xfrm>
            <a:off x="10256520" y="487680"/>
            <a:ext cx="1371600" cy="369332"/>
          </a:xfrm>
          <a:prstGeom prst="rect">
            <a:avLst/>
          </a:prstGeom>
          <a:noFill/>
        </p:spPr>
        <p:txBody>
          <a:bodyPr wrap="square" rtlCol="0">
            <a:spAutoFit/>
          </a:bodyPr>
          <a:lstStyle/>
          <a:p>
            <a:r>
              <a:rPr lang="en-US" dirty="0" smtClean="0">
                <a:hlinkClick r:id="rId3"/>
              </a:rPr>
              <a:t>VIDEO</a:t>
            </a:r>
            <a:endParaRPr lang="en-US" dirty="0"/>
          </a:p>
        </p:txBody>
      </p:sp>
    </p:spTree>
    <p:extLst>
      <p:ext uri="{BB962C8B-B14F-4D97-AF65-F5344CB8AC3E}">
        <p14:creationId xmlns:p14="http://schemas.microsoft.com/office/powerpoint/2010/main" val="19924575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3962" y="-355177"/>
            <a:ext cx="9601196" cy="1303867"/>
          </a:xfrm>
        </p:spPr>
        <p:txBody>
          <a:bodyPr/>
          <a:lstStyle/>
          <a:p>
            <a:r>
              <a:rPr lang="en-US" dirty="0" smtClean="0"/>
              <a:t>Building Blocks of AI</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997" y="704850"/>
            <a:ext cx="7091363" cy="6244590"/>
          </a:xfrm>
          <a:prstGeom prst="rect">
            <a:avLst/>
          </a:prstGeom>
        </p:spPr>
      </p:pic>
      <p:sp>
        <p:nvSpPr>
          <p:cNvPr id="6" name="TextBox 5"/>
          <p:cNvSpPr txBox="1"/>
          <p:nvPr/>
        </p:nvSpPr>
        <p:spPr>
          <a:xfrm>
            <a:off x="0" y="1158240"/>
            <a:ext cx="4663440" cy="1754326"/>
          </a:xfrm>
          <a:prstGeom prst="rect">
            <a:avLst/>
          </a:prstGeom>
          <a:noFill/>
        </p:spPr>
        <p:txBody>
          <a:bodyPr wrap="square" rtlCol="0">
            <a:spAutoFit/>
          </a:bodyPr>
          <a:lstStyle/>
          <a:p>
            <a:pPr marL="285750" indent="-285750">
              <a:buFont typeface="Arial" panose="020B0604020202020204" pitchFamily="34" charset="0"/>
              <a:buChar char="•"/>
            </a:pPr>
            <a:r>
              <a:rPr lang="en-US" dirty="0" smtClean="0"/>
              <a:t>AI is not one technology but a set of technologies and building blocks including NLP, ML, DL, NN, VA, Autonomics, CV</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 </a:t>
            </a:r>
            <a:endParaRPr lang="en-US" dirty="0"/>
          </a:p>
        </p:txBody>
      </p:sp>
    </p:spTree>
    <p:extLst>
      <p:ext uri="{BB962C8B-B14F-4D97-AF65-F5344CB8AC3E}">
        <p14:creationId xmlns:p14="http://schemas.microsoft.com/office/powerpoint/2010/main" val="341041440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 y="0"/>
            <a:ext cx="12286229" cy="6858000"/>
          </a:xfrm>
          <a:prstGeom prst="rect">
            <a:avLst/>
          </a:prstGeom>
        </p:spPr>
      </p:pic>
    </p:spTree>
    <p:extLst>
      <p:ext uri="{BB962C8B-B14F-4D97-AF65-F5344CB8AC3E}">
        <p14:creationId xmlns:p14="http://schemas.microsoft.com/office/powerpoint/2010/main" val="6409545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782" y="508527"/>
            <a:ext cx="12115218" cy="5694153"/>
          </a:xfrm>
        </p:spPr>
      </p:pic>
    </p:spTree>
    <p:extLst>
      <p:ext uri="{BB962C8B-B14F-4D97-AF65-F5344CB8AC3E}">
        <p14:creationId xmlns:p14="http://schemas.microsoft.com/office/powerpoint/2010/main" val="19381648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Assignment</a:t>
            </a:r>
            <a:endParaRPr lang="en-US" dirty="0"/>
          </a:p>
        </p:txBody>
      </p:sp>
      <p:sp>
        <p:nvSpPr>
          <p:cNvPr id="3" name="Content Placeholder 2"/>
          <p:cNvSpPr>
            <a:spLocks noGrp="1"/>
          </p:cNvSpPr>
          <p:nvPr>
            <p:ph idx="1"/>
          </p:nvPr>
        </p:nvSpPr>
        <p:spPr/>
        <p:txBody>
          <a:bodyPr>
            <a:normAutofit fontScale="85000" lnSpcReduction="10000"/>
          </a:bodyPr>
          <a:lstStyle/>
          <a:p>
            <a:pPr marL="0" indent="0">
              <a:buNone/>
            </a:pPr>
            <a:endParaRPr lang="en-US" dirty="0" smtClean="0"/>
          </a:p>
          <a:p>
            <a:r>
              <a:rPr lang="en-US" dirty="0" smtClean="0"/>
              <a:t>Groups: Application of AI in </a:t>
            </a:r>
          </a:p>
          <a:p>
            <a:pPr lvl="1"/>
            <a:r>
              <a:rPr lang="en-US" dirty="0" smtClean="0"/>
              <a:t>Health</a:t>
            </a:r>
          </a:p>
          <a:p>
            <a:pPr lvl="1"/>
            <a:r>
              <a:rPr lang="en-US" dirty="0" smtClean="0"/>
              <a:t>Education</a:t>
            </a:r>
          </a:p>
          <a:p>
            <a:pPr lvl="1"/>
            <a:r>
              <a:rPr lang="en-US" dirty="0" smtClean="0"/>
              <a:t>Security</a:t>
            </a:r>
          </a:p>
          <a:p>
            <a:pPr lvl="1"/>
            <a:r>
              <a:rPr lang="en-US" dirty="0" smtClean="0"/>
              <a:t>Marketing</a:t>
            </a:r>
          </a:p>
          <a:p>
            <a:pPr lvl="1"/>
            <a:r>
              <a:rPr lang="en-US" dirty="0" smtClean="0"/>
              <a:t>Finance</a:t>
            </a:r>
          </a:p>
          <a:p>
            <a:pPr lvl="1"/>
            <a:r>
              <a:rPr lang="en-US" dirty="0" smtClean="0"/>
              <a:t>Agriculture</a:t>
            </a:r>
          </a:p>
          <a:p>
            <a:pPr lvl="1"/>
            <a:r>
              <a:rPr lang="en-US" dirty="0" smtClean="0"/>
              <a:t>Entertainment </a:t>
            </a:r>
            <a:endParaRPr lang="en-US" dirty="0"/>
          </a:p>
        </p:txBody>
      </p:sp>
    </p:spTree>
    <p:extLst>
      <p:ext uri="{BB962C8B-B14F-4D97-AF65-F5344CB8AC3E}">
        <p14:creationId xmlns:p14="http://schemas.microsoft.com/office/powerpoint/2010/main" val="19009897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Delivering Business Value with AI</a:t>
            </a:r>
            <a:endParaRPr lang="en-US" dirty="0"/>
          </a:p>
        </p:txBody>
      </p:sp>
      <p:sp>
        <p:nvSpPr>
          <p:cNvPr id="3" name="Content Placeholder 2"/>
          <p:cNvSpPr>
            <a:spLocks noGrp="1"/>
          </p:cNvSpPr>
          <p:nvPr>
            <p:ph idx="1"/>
          </p:nvPr>
        </p:nvSpPr>
        <p:spPr/>
        <p:txBody>
          <a:bodyPr/>
          <a:lstStyle/>
          <a:p>
            <a:r>
              <a:rPr lang="en-US" dirty="0" smtClean="0"/>
              <a:t>AI has the </a:t>
            </a:r>
            <a:r>
              <a:rPr lang="en-US" dirty="0"/>
              <a:t>potential to disrupt and replace current business architectures and enterprise </a:t>
            </a:r>
            <a:r>
              <a:rPr lang="en-US" dirty="0" smtClean="0"/>
              <a:t>software</a:t>
            </a:r>
          </a:p>
          <a:p>
            <a:r>
              <a:rPr lang="en-US" dirty="0" smtClean="0"/>
              <a:t>AI does </a:t>
            </a:r>
            <a:r>
              <a:rPr lang="en-US" dirty="0"/>
              <a:t>not directly provide the business </a:t>
            </a:r>
            <a:r>
              <a:rPr lang="en-US" dirty="0" smtClean="0"/>
              <a:t>outcome, but an </a:t>
            </a:r>
            <a:r>
              <a:rPr lang="en-US" dirty="0"/>
              <a:t>enabler to help enterprises achieve their goals effectively, productively, and </a:t>
            </a:r>
            <a:r>
              <a:rPr lang="en-US" dirty="0" smtClean="0"/>
              <a:t>intelligently</a:t>
            </a:r>
          </a:p>
          <a:p>
            <a:pPr lvl="1"/>
            <a:r>
              <a:rPr lang="en-US" dirty="0" smtClean="0"/>
              <a:t>E.g. digital </a:t>
            </a:r>
            <a:r>
              <a:rPr lang="en-US" dirty="0"/>
              <a:t>organization can work in real-time to cater to its clients, rapidly support their needs, and help anticipate changes to the business environment to stay ahead of the market.</a:t>
            </a:r>
          </a:p>
        </p:txBody>
      </p:sp>
    </p:spTree>
    <p:extLst>
      <p:ext uri="{BB962C8B-B14F-4D97-AF65-F5344CB8AC3E}">
        <p14:creationId xmlns:p14="http://schemas.microsoft.com/office/powerpoint/2010/main" val="7042855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Videos to Watch</a:t>
            </a:r>
            <a:endParaRPr lang="en-US" dirty="0"/>
          </a:p>
        </p:txBody>
      </p:sp>
      <p:sp>
        <p:nvSpPr>
          <p:cNvPr id="3" name="Content Placeholder 2"/>
          <p:cNvSpPr>
            <a:spLocks noGrp="1"/>
          </p:cNvSpPr>
          <p:nvPr>
            <p:ph idx="1"/>
          </p:nvPr>
        </p:nvSpPr>
        <p:spPr/>
        <p:txBody>
          <a:bodyPr/>
          <a:lstStyle/>
          <a:p>
            <a:r>
              <a:rPr lang="en-US" dirty="0" smtClean="0">
                <a:hlinkClick r:id="rId2"/>
              </a:rPr>
              <a:t>Top </a:t>
            </a:r>
            <a:r>
              <a:rPr lang="en-US" dirty="0">
                <a:hlinkClick r:id="rId2"/>
              </a:rPr>
              <a:t>10 Applications Of Artificial Intelligence in 2021 - YouTube</a:t>
            </a:r>
            <a:endParaRPr lang="en-US" dirty="0"/>
          </a:p>
          <a:p>
            <a:r>
              <a:rPr lang="en-US" dirty="0" smtClean="0">
                <a:hlinkClick r:id="rId3"/>
              </a:rPr>
              <a:t>What </a:t>
            </a:r>
            <a:r>
              <a:rPr lang="en-US" dirty="0">
                <a:hlinkClick r:id="rId3"/>
              </a:rPr>
              <a:t>Actually Is </a:t>
            </a:r>
            <a:r>
              <a:rPr lang="en-US" dirty="0" smtClean="0">
                <a:hlinkClick r:id="rId3"/>
              </a:rPr>
              <a:t>Human </a:t>
            </a:r>
            <a:r>
              <a:rPr lang="en-US" dirty="0">
                <a:hlinkClick r:id="rId3"/>
              </a:rPr>
              <a:t>Brain | AH Documentary - YouTube</a:t>
            </a:r>
            <a:endParaRPr lang="en-US" dirty="0"/>
          </a:p>
        </p:txBody>
      </p:sp>
    </p:spTree>
    <p:extLst>
      <p:ext uri="{BB962C8B-B14F-4D97-AF65-F5344CB8AC3E}">
        <p14:creationId xmlns:p14="http://schemas.microsoft.com/office/powerpoint/2010/main" val="162363351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8867</TotalTime>
  <Words>1259</Words>
  <Application>Microsoft Office PowerPoint</Application>
  <PresentationFormat>Widescreen</PresentationFormat>
  <Paragraphs>103</Paragraphs>
  <Slides>31</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Garamond</vt:lpstr>
      <vt:lpstr>Times New Roman</vt:lpstr>
      <vt:lpstr>Organic</vt:lpstr>
      <vt:lpstr>PowerPoint Presentation</vt:lpstr>
      <vt:lpstr>COURSE DETAILS</vt:lpstr>
      <vt:lpstr>COURSE PURPOSE</vt:lpstr>
      <vt:lpstr>Expected Learning Outcomes </vt:lpstr>
      <vt:lpstr> Course Resources</vt:lpstr>
      <vt:lpstr>Course Assessment</vt:lpstr>
      <vt:lpstr>What is Intelligence?</vt:lpstr>
      <vt:lpstr>PowerPoint Presentation</vt:lpstr>
      <vt:lpstr>What is Intelligence?</vt:lpstr>
      <vt:lpstr>PowerPoint Presentation</vt:lpstr>
      <vt:lpstr>PowerPoint Presentation</vt:lpstr>
      <vt:lpstr>PowerPoint Presentation</vt:lpstr>
      <vt:lpstr>PowerPoint Presentation</vt:lpstr>
      <vt:lpstr>What is Artificial Intelligence?</vt:lpstr>
      <vt:lpstr>PowerPoint Presentation</vt:lpstr>
      <vt:lpstr>What is Artificial Intelligence?</vt:lpstr>
      <vt:lpstr>AI Myths</vt:lpstr>
      <vt:lpstr>PowerPoint Presentation</vt:lpstr>
      <vt:lpstr>Fruitchitecture Designing within hours with AI </vt:lpstr>
      <vt:lpstr>PowerPoint Presentation</vt:lpstr>
      <vt:lpstr>PowerPoint Presentation</vt:lpstr>
      <vt:lpstr>PowerPoint Presentation</vt:lpstr>
      <vt:lpstr>PowerPoint Presentation</vt:lpstr>
      <vt:lpstr>PowerPoint Presentation</vt:lpstr>
      <vt:lpstr>PowerPoint Presentation</vt:lpstr>
      <vt:lpstr>Building Blocks of AI</vt:lpstr>
      <vt:lpstr>PowerPoint Presentation</vt:lpstr>
      <vt:lpstr>PowerPoint Presentation</vt:lpstr>
      <vt:lpstr>Group Assignment</vt:lpstr>
      <vt:lpstr>Delivering Business Value with AI</vt:lpstr>
      <vt:lpstr>Videos to Watch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Architecture</dc:title>
  <dc:creator>Edward Ombui</dc:creator>
  <cp:lastModifiedBy>Edward Ombui</cp:lastModifiedBy>
  <cp:revision>75</cp:revision>
  <dcterms:created xsi:type="dcterms:W3CDTF">2024-01-06T08:51:47Z</dcterms:created>
  <dcterms:modified xsi:type="dcterms:W3CDTF">2024-09-06T08:02:07Z</dcterms:modified>
</cp:coreProperties>
</file>