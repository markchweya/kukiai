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0"/>
  </p:notesMasterIdLst>
  <p:sldIdLst>
    <p:sldId id="256" r:id="rId2"/>
    <p:sldId id="257" r:id="rId3"/>
    <p:sldId id="262" r:id="rId4"/>
    <p:sldId id="283" r:id="rId5"/>
    <p:sldId id="284" r:id="rId6"/>
    <p:sldId id="286" r:id="rId7"/>
    <p:sldId id="274" r:id="rId8"/>
    <p:sldId id="288" r:id="rId9"/>
    <p:sldId id="285" r:id="rId10"/>
    <p:sldId id="287" r:id="rId11"/>
    <p:sldId id="270" r:id="rId12"/>
    <p:sldId id="266" r:id="rId13"/>
    <p:sldId id="263" r:id="rId14"/>
    <p:sldId id="265" r:id="rId15"/>
    <p:sldId id="271" r:id="rId16"/>
    <p:sldId id="272" r:id="rId17"/>
    <p:sldId id="273" r:id="rId18"/>
    <p:sldId id="276" r:id="rId19"/>
    <p:sldId id="277" r:id="rId20"/>
    <p:sldId id="278" r:id="rId21"/>
    <p:sldId id="279" r:id="rId22"/>
    <p:sldId id="280" r:id="rId23"/>
    <p:sldId id="281" r:id="rId24"/>
    <p:sldId id="282" r:id="rId25"/>
    <p:sldId id="267" r:id="rId26"/>
    <p:sldId id="275" r:id="rId27"/>
    <p:sldId id="264" r:id="rId28"/>
    <p:sldId id="26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48707" autoAdjust="0"/>
  </p:normalViewPr>
  <p:slideViewPr>
    <p:cSldViewPr snapToGrid="0">
      <p:cViewPr>
        <p:scale>
          <a:sx n="46" d="100"/>
          <a:sy n="46" d="100"/>
        </p:scale>
        <p:origin x="466"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E9C55-8322-4A5B-9CFD-907B072CC03E}" type="datetimeFigureOut">
              <a:rPr lang="en-US" smtClean="0"/>
              <a:t>6/7/2025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206E1-3AC3-48E6-87C4-B07D84DE850E}" type="slidenum">
              <a:rPr lang="en-US" smtClean="0"/>
              <a:t>‹#›</a:t>
            </a:fld>
            <a:endParaRPr lang="en-US"/>
          </a:p>
        </p:txBody>
      </p:sp>
    </p:spTree>
    <p:extLst>
      <p:ext uri="{BB962C8B-B14F-4D97-AF65-F5344CB8AC3E}">
        <p14:creationId xmlns:p14="http://schemas.microsoft.com/office/powerpoint/2010/main" val="976396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0fKBhvDjuy0"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Powers of Ten™ (1977)</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4</a:t>
            </a:fld>
            <a:endParaRPr lang="en-US"/>
          </a:p>
        </p:txBody>
      </p:sp>
    </p:spTree>
    <p:extLst>
      <p:ext uri="{BB962C8B-B14F-4D97-AF65-F5344CB8AC3E}">
        <p14:creationId xmlns:p14="http://schemas.microsoft.com/office/powerpoint/2010/main" val="231995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Knowledge:</a:t>
            </a:r>
            <a:r>
              <a:rPr lang="en-US" baseline="0" dirty="0" smtClean="0"/>
              <a:t> </a:t>
            </a:r>
            <a:r>
              <a:rPr lang="en-US" dirty="0" smtClean="0"/>
              <a:t>, knowledge is a relation between a knower, like John, and a proposition, that is, the idea expressed by a simple declarative sentence, like “Mary will come to the party</a:t>
            </a:r>
          </a:p>
          <a:p>
            <a:r>
              <a:rPr lang="en-US" dirty="0" smtClean="0"/>
              <a:t>Representation:</a:t>
            </a:r>
            <a:r>
              <a:rPr lang="en-US" baseline="0" dirty="0" smtClean="0"/>
              <a:t> </a:t>
            </a:r>
            <a:r>
              <a:rPr lang="en-US" dirty="0" smtClean="0"/>
              <a:t>representation is a relationship between two domains, where the first is meant to “stand for” or take the place of the second. Usually, the first domain, the </a:t>
            </a:r>
            <a:r>
              <a:rPr lang="en-US" dirty="0" err="1" smtClean="0"/>
              <a:t>representor</a:t>
            </a:r>
            <a:r>
              <a:rPr lang="en-US" dirty="0" smtClean="0"/>
              <a:t>, is more concrete, immediate, or accessible in some way than the second.</a:t>
            </a:r>
          </a:p>
          <a:p>
            <a:r>
              <a:rPr lang="en-US" dirty="0" smtClean="0"/>
              <a:t>Knowledge representation, then, is the field of study concerned with using formal symbols to represent a collection of propositions believed by some putative agent</a:t>
            </a:r>
          </a:p>
          <a:p>
            <a:r>
              <a:rPr lang="en-US" dirty="0" smtClean="0"/>
              <a:t>Reasoning:</a:t>
            </a:r>
            <a:r>
              <a:rPr lang="en-US" baseline="0" dirty="0" smtClean="0"/>
              <a:t> </a:t>
            </a:r>
            <a:r>
              <a:rPr lang="en-US" dirty="0" smtClean="0"/>
              <a:t>, it is the formal manipulation of the symbols representing a collection of believed propositions to produce representations of new ones. It is here that we use the fact that symbols are more accessible than the propositions they represent: They must be concrete enough that we can manipulate them (move them around, take them apart, copy them, string them together) in such a way as to construct </a:t>
            </a:r>
            <a:r>
              <a:rPr lang="en-US" dirty="0" err="1" smtClean="0"/>
              <a:t>repressentations</a:t>
            </a:r>
            <a:r>
              <a:rPr lang="en-US" dirty="0" smtClean="0"/>
              <a:t> of new propositions.</a:t>
            </a:r>
          </a:p>
          <a:p>
            <a:endParaRPr lang="en-US" dirty="0" smtClean="0"/>
          </a:p>
          <a:p>
            <a:r>
              <a:rPr lang="en-US" dirty="0" smtClean="0"/>
              <a:t>FOL</a:t>
            </a:r>
            <a:r>
              <a:rPr lang="en-US" baseline="0" dirty="0" smtClean="0"/>
              <a:t> was </a:t>
            </a:r>
            <a:r>
              <a:rPr lang="en-US" dirty="0" smtClean="0"/>
              <a:t>invented by the philosopher </a:t>
            </a:r>
            <a:r>
              <a:rPr lang="en-US" dirty="0" err="1" smtClean="0"/>
              <a:t>Gottlob</a:t>
            </a:r>
            <a:r>
              <a:rPr lang="en-US" dirty="0" smtClean="0"/>
              <a:t> </a:t>
            </a:r>
            <a:r>
              <a:rPr lang="en-US" dirty="0" err="1" smtClean="0"/>
              <a:t>Frege</a:t>
            </a:r>
            <a:r>
              <a:rPr lang="en-US" dirty="0" smtClean="0"/>
              <a:t> at the turn of the twentieth century for the formalization of mathematical inference, but has been co-opted by the AI community for knowledge representation purposes.</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11</a:t>
            </a:fld>
            <a:endParaRPr lang="en-US"/>
          </a:p>
        </p:txBody>
      </p:sp>
    </p:spTree>
    <p:extLst>
      <p:ext uri="{BB962C8B-B14F-4D97-AF65-F5344CB8AC3E}">
        <p14:creationId xmlns:p14="http://schemas.microsoft.com/office/powerpoint/2010/main" val="518498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1. Declarative Knowledge: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Declarative knowledge is to know about something.</a:t>
            </a:r>
          </a:p>
          <a:p>
            <a:r>
              <a:rPr lang="en-US" sz="1200" b="0" i="0" kern="1200" dirty="0" smtClean="0">
                <a:solidFill>
                  <a:schemeClr val="tx1"/>
                </a:solidFill>
                <a:effectLst/>
                <a:latin typeface="+mn-lt"/>
                <a:ea typeface="+mn-ea"/>
                <a:cs typeface="+mn-cs"/>
              </a:rPr>
              <a:t>It includes concepts, facts, and objects.</a:t>
            </a:r>
          </a:p>
          <a:p>
            <a:r>
              <a:rPr lang="en-US" sz="1200" b="0" i="0" kern="1200" dirty="0" smtClean="0">
                <a:solidFill>
                  <a:schemeClr val="tx1"/>
                </a:solidFill>
                <a:effectLst/>
                <a:latin typeface="+mn-lt"/>
                <a:ea typeface="+mn-ea"/>
                <a:cs typeface="+mn-cs"/>
              </a:rPr>
              <a:t>It is also called descriptive knowledge and expressed in </a:t>
            </a:r>
            <a:r>
              <a:rPr lang="en-US" sz="1200" b="0" i="0" kern="1200" dirty="0" err="1" smtClean="0">
                <a:solidFill>
                  <a:schemeClr val="tx1"/>
                </a:solidFill>
                <a:effectLst/>
                <a:latin typeface="+mn-lt"/>
                <a:ea typeface="+mn-ea"/>
                <a:cs typeface="+mn-cs"/>
              </a:rPr>
              <a:t>declarativesentences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It is simpler than procedural language.</a:t>
            </a:r>
          </a:p>
          <a:p>
            <a:r>
              <a:rPr lang="en-US" sz="1200" b="1" i="0" kern="1200" dirty="0" smtClean="0">
                <a:solidFill>
                  <a:schemeClr val="tx1"/>
                </a:solidFill>
                <a:effectLst/>
                <a:latin typeface="+mn-lt"/>
                <a:ea typeface="+mn-ea"/>
                <a:cs typeface="+mn-cs"/>
              </a:rPr>
              <a:t>2. Procedural Knowledge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is also known as imperative knowledge.</a:t>
            </a:r>
          </a:p>
          <a:p>
            <a:r>
              <a:rPr lang="en-US" sz="1200" b="0" i="0" kern="1200" dirty="0" smtClean="0">
                <a:solidFill>
                  <a:schemeClr val="tx1"/>
                </a:solidFill>
                <a:effectLst/>
                <a:latin typeface="+mn-lt"/>
                <a:ea typeface="+mn-ea"/>
                <a:cs typeface="+mn-cs"/>
              </a:rPr>
              <a:t>Procedural knowledge is a type of knowledge which is responsible for knowing how to do something.</a:t>
            </a:r>
          </a:p>
          <a:p>
            <a:r>
              <a:rPr lang="en-US" sz="1200" b="0" i="0" kern="1200" dirty="0" smtClean="0">
                <a:solidFill>
                  <a:schemeClr val="tx1"/>
                </a:solidFill>
                <a:effectLst/>
                <a:latin typeface="+mn-lt"/>
                <a:ea typeface="+mn-ea"/>
                <a:cs typeface="+mn-cs"/>
              </a:rPr>
              <a:t>It can be directly applied to any task.</a:t>
            </a:r>
          </a:p>
          <a:p>
            <a:r>
              <a:rPr lang="en-US" sz="1200" b="0" i="0" kern="1200" dirty="0" smtClean="0">
                <a:solidFill>
                  <a:schemeClr val="tx1"/>
                </a:solidFill>
                <a:effectLst/>
                <a:latin typeface="+mn-lt"/>
                <a:ea typeface="+mn-ea"/>
                <a:cs typeface="+mn-cs"/>
              </a:rPr>
              <a:t>It includes rules, strategies, procedures, agendas, etc.</a:t>
            </a:r>
          </a:p>
          <a:p>
            <a:r>
              <a:rPr lang="en-US" sz="1200" b="0" i="0" kern="1200" dirty="0" smtClean="0">
                <a:solidFill>
                  <a:schemeClr val="tx1"/>
                </a:solidFill>
                <a:effectLst/>
                <a:latin typeface="+mn-lt"/>
                <a:ea typeface="+mn-ea"/>
                <a:cs typeface="+mn-cs"/>
              </a:rPr>
              <a:t>Procedural knowledge depends on the task on which it can be applied.</a:t>
            </a:r>
          </a:p>
          <a:p>
            <a:r>
              <a:rPr lang="en-US" sz="1200" b="1" i="0" kern="1200" dirty="0" smtClean="0">
                <a:solidFill>
                  <a:schemeClr val="tx1"/>
                </a:solidFill>
                <a:effectLst/>
                <a:latin typeface="+mn-lt"/>
                <a:ea typeface="+mn-ea"/>
                <a:cs typeface="+mn-cs"/>
              </a:rPr>
              <a:t>3. Meta-knowledge: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Knowledge about the other types of knowledge is called Meta-knowledge.</a:t>
            </a:r>
          </a:p>
          <a:p>
            <a:r>
              <a:rPr lang="en-US" sz="1200" b="1" i="0" kern="1200" dirty="0" smtClean="0">
                <a:solidFill>
                  <a:schemeClr val="tx1"/>
                </a:solidFill>
                <a:effectLst/>
                <a:latin typeface="+mn-lt"/>
                <a:ea typeface="+mn-ea"/>
                <a:cs typeface="+mn-cs"/>
              </a:rPr>
              <a:t>4. Heuristic knowledge: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Heuristic knowledge is representing knowledge of some experts in a filed or subject.</a:t>
            </a:r>
          </a:p>
          <a:p>
            <a:r>
              <a:rPr lang="en-US" sz="1200" b="0" i="0" kern="1200" dirty="0" smtClean="0">
                <a:solidFill>
                  <a:schemeClr val="tx1"/>
                </a:solidFill>
                <a:effectLst/>
                <a:latin typeface="+mn-lt"/>
                <a:ea typeface="+mn-ea"/>
                <a:cs typeface="+mn-cs"/>
              </a:rPr>
              <a:t>Heuristic knowledge is rules of thumb based on previous experiences, awareness of approaches, and which are good to work but not guaranteed.</a:t>
            </a:r>
          </a:p>
          <a:p>
            <a:r>
              <a:rPr lang="en-US" sz="1200" b="1" i="0" kern="1200" dirty="0" smtClean="0">
                <a:solidFill>
                  <a:schemeClr val="tx1"/>
                </a:solidFill>
                <a:effectLst/>
                <a:latin typeface="+mn-lt"/>
                <a:ea typeface="+mn-ea"/>
                <a:cs typeface="+mn-cs"/>
              </a:rPr>
              <a:t>5. Structural knowledge: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Structural knowledge is basic knowledge to problem-solving.</a:t>
            </a:r>
          </a:p>
          <a:p>
            <a:r>
              <a:rPr lang="en-US" sz="1200" b="0" i="0" kern="1200" dirty="0" smtClean="0">
                <a:solidFill>
                  <a:schemeClr val="tx1"/>
                </a:solidFill>
                <a:effectLst/>
                <a:latin typeface="+mn-lt"/>
                <a:ea typeface="+mn-ea"/>
                <a:cs typeface="+mn-cs"/>
              </a:rPr>
              <a:t>It describes relationships between various concepts such as kind of, part of, and grouping of something.</a:t>
            </a:r>
          </a:p>
          <a:p>
            <a:r>
              <a:rPr lang="en-US" sz="1200" b="0" i="0" kern="1200" dirty="0" smtClean="0">
                <a:solidFill>
                  <a:schemeClr val="tx1"/>
                </a:solidFill>
                <a:effectLst/>
                <a:latin typeface="+mn-lt"/>
                <a:ea typeface="+mn-ea"/>
                <a:cs typeface="+mn-cs"/>
              </a:rPr>
              <a:t>It describes the relationship that exists between concepts or objects.</a:t>
            </a: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12</a:t>
            </a:fld>
            <a:endParaRPr lang="en-US"/>
          </a:p>
        </p:txBody>
      </p:sp>
    </p:spTree>
    <p:extLst>
      <p:ext uri="{BB962C8B-B14F-4D97-AF65-F5344CB8AC3E}">
        <p14:creationId xmlns:p14="http://schemas.microsoft.com/office/powerpoint/2010/main" val="3055216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way which describes how we can represent knowledge in artificial intelligence.</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13</a:t>
            </a:fld>
            <a:endParaRPr lang="en-US"/>
          </a:p>
        </p:txBody>
      </p:sp>
    </p:spTree>
    <p:extLst>
      <p:ext uri="{BB962C8B-B14F-4D97-AF65-F5344CB8AC3E}">
        <p14:creationId xmlns:p14="http://schemas.microsoft.com/office/powerpoint/2010/main" val="2897300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15</a:t>
            </a:fld>
            <a:endParaRPr lang="en-US"/>
          </a:p>
        </p:txBody>
      </p:sp>
    </p:spTree>
    <p:extLst>
      <p:ext uri="{BB962C8B-B14F-4D97-AF65-F5344CB8AC3E}">
        <p14:creationId xmlns:p14="http://schemas.microsoft.com/office/powerpoint/2010/main" val="2773188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21</a:t>
            </a:fld>
            <a:endParaRPr lang="en-US"/>
          </a:p>
        </p:txBody>
      </p:sp>
    </p:spTree>
    <p:extLst>
      <p:ext uri="{BB962C8B-B14F-4D97-AF65-F5344CB8AC3E}">
        <p14:creationId xmlns:p14="http://schemas.microsoft.com/office/powerpoint/2010/main" val="220343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Perception component</a:t>
            </a:r>
            <a:r>
              <a:rPr lang="en-US" sz="1200" b="0" i="0" kern="1200" dirty="0" smtClean="0">
                <a:solidFill>
                  <a:schemeClr val="tx1"/>
                </a:solidFill>
                <a:effectLst/>
                <a:latin typeface="+mn-lt"/>
                <a:ea typeface="+mn-ea"/>
                <a:cs typeface="+mn-cs"/>
              </a:rPr>
              <a:t> retrieves data or information from the environment. with the help of this component, you can retrieve data from the environment, find out the source of noises and check if the AI was damaged by anything. Also, it defines how to respond when any sense has been detected.</a:t>
            </a:r>
          </a:p>
          <a:p>
            <a:r>
              <a:rPr lang="en-US" sz="1200" b="0" i="0" kern="1200" dirty="0" smtClean="0">
                <a:solidFill>
                  <a:schemeClr val="tx1"/>
                </a:solidFill>
                <a:effectLst/>
                <a:latin typeface="+mn-lt"/>
                <a:ea typeface="+mn-ea"/>
                <a:cs typeface="+mn-cs"/>
              </a:rPr>
              <a:t>Then, there is the </a:t>
            </a:r>
            <a:r>
              <a:rPr lang="en-US" sz="1200" b="1" i="0" kern="1200" dirty="0" smtClean="0">
                <a:solidFill>
                  <a:schemeClr val="tx1"/>
                </a:solidFill>
                <a:effectLst/>
                <a:latin typeface="+mn-lt"/>
                <a:ea typeface="+mn-ea"/>
                <a:cs typeface="+mn-cs"/>
              </a:rPr>
              <a:t>Learning Component</a:t>
            </a:r>
            <a:r>
              <a:rPr lang="en-US" sz="1200" b="0" i="0" kern="1200" dirty="0" smtClean="0">
                <a:solidFill>
                  <a:schemeClr val="tx1"/>
                </a:solidFill>
                <a:effectLst/>
                <a:latin typeface="+mn-lt"/>
                <a:ea typeface="+mn-ea"/>
                <a:cs typeface="+mn-cs"/>
              </a:rPr>
              <a:t> that learns from the captured data by the perception component. The goal is to build computers that can be taught instead of programming them. Learning focuses on the process of self-improvement. In order to learn new things, the system requires knowledge acquisition, inference, acquisition of heuristics, faster searches, etc.</a:t>
            </a:r>
          </a:p>
          <a:p>
            <a:r>
              <a:rPr lang="en-US" sz="1200" b="0" i="0" kern="1200" dirty="0" smtClean="0">
                <a:solidFill>
                  <a:schemeClr val="tx1"/>
                </a:solidFill>
                <a:effectLst/>
                <a:latin typeface="+mn-lt"/>
                <a:ea typeface="+mn-ea"/>
                <a:cs typeface="+mn-cs"/>
              </a:rPr>
              <a:t>The main component in the cycle is </a:t>
            </a:r>
            <a:r>
              <a:rPr lang="en-US" sz="1200" b="1" i="0" kern="1200" dirty="0" smtClean="0">
                <a:solidFill>
                  <a:schemeClr val="tx1"/>
                </a:solidFill>
                <a:effectLst/>
                <a:latin typeface="+mn-lt"/>
                <a:ea typeface="+mn-ea"/>
                <a:cs typeface="+mn-cs"/>
              </a:rPr>
              <a:t>Knowledge Representation and Reasoning</a:t>
            </a:r>
            <a:r>
              <a:rPr lang="en-US" sz="1200" b="0" i="0" kern="1200" dirty="0" smtClean="0">
                <a:solidFill>
                  <a:schemeClr val="tx1"/>
                </a:solidFill>
                <a:effectLst/>
                <a:latin typeface="+mn-lt"/>
                <a:ea typeface="+mn-ea"/>
                <a:cs typeface="+mn-cs"/>
              </a:rPr>
              <a:t> which shows the human-like intelligence in the machines. Knowledge representation is all about understanding intelligence. Instead of trying to understand or build brains from the bottom up, its goal is to understand and build intelligent behavior from the top-down and focus on what an agent needs to know in order to behave intelligently. Also, it defines how automated reasoning procedures can make this knowledge available as needed.</a:t>
            </a:r>
          </a:p>
          <a:p>
            <a:r>
              <a:rPr lang="en-US" sz="1200" b="0" i="0" kern="1200" dirty="0" smtClean="0">
                <a:solidFill>
                  <a:schemeClr val="tx1"/>
                </a:solidFill>
                <a:effectLst/>
                <a:latin typeface="+mn-lt"/>
                <a:ea typeface="+mn-ea"/>
                <a:cs typeface="+mn-cs"/>
              </a:rPr>
              <a:t>The</a:t>
            </a:r>
            <a:r>
              <a:rPr lang="en-US" sz="1200" b="1" i="0" kern="1200" dirty="0" smtClean="0">
                <a:solidFill>
                  <a:schemeClr val="tx1"/>
                </a:solidFill>
                <a:effectLst/>
                <a:latin typeface="+mn-lt"/>
                <a:ea typeface="+mn-ea"/>
                <a:cs typeface="+mn-cs"/>
              </a:rPr>
              <a:t> Planning and Execution</a:t>
            </a:r>
            <a:r>
              <a:rPr lang="en-US" sz="1200" b="0" i="0" kern="1200" dirty="0" smtClean="0">
                <a:solidFill>
                  <a:schemeClr val="tx1"/>
                </a:solidFill>
                <a:effectLst/>
                <a:latin typeface="+mn-lt"/>
                <a:ea typeface="+mn-ea"/>
                <a:cs typeface="+mn-cs"/>
              </a:rPr>
              <a:t> components depend on the analysis of knowledge representation and reasoning. Here, planning includes giving an initial state, finding their preconditions and effects, and a sequence of actions to achieve a state in which a particular goal holds. Now once the planning is completed, the final stage is the execution of the entire process.</a:t>
            </a: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25</a:t>
            </a:fld>
            <a:endParaRPr lang="en-US"/>
          </a:p>
        </p:txBody>
      </p:sp>
    </p:spTree>
    <p:extLst>
      <p:ext uri="{BB962C8B-B14F-4D97-AF65-F5344CB8AC3E}">
        <p14:creationId xmlns:p14="http://schemas.microsoft.com/office/powerpoint/2010/main" val="1367072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Logical representation is a language with some </a:t>
            </a:r>
            <a:r>
              <a:rPr lang="en-US" sz="1200" b="1" i="0" kern="1200" dirty="0" smtClean="0">
                <a:solidFill>
                  <a:schemeClr val="tx1"/>
                </a:solidFill>
                <a:effectLst/>
                <a:latin typeface="+mn-lt"/>
                <a:ea typeface="+mn-ea"/>
                <a:cs typeface="+mn-cs"/>
              </a:rPr>
              <a:t>definite rules</a:t>
            </a:r>
            <a:r>
              <a:rPr lang="en-US" sz="1200" b="0" i="0" kern="1200" dirty="0" smtClean="0">
                <a:solidFill>
                  <a:schemeClr val="tx1"/>
                </a:solidFill>
                <a:effectLst/>
                <a:latin typeface="+mn-lt"/>
                <a:ea typeface="+mn-ea"/>
                <a:cs typeface="+mn-cs"/>
              </a:rPr>
              <a:t> which deal with propositions and has no ambiguity in representation. It represents a conclusion based on various conditions and lays down some important </a:t>
            </a:r>
            <a:r>
              <a:rPr lang="en-US" sz="1200" b="1" i="0" kern="1200" dirty="0" smtClean="0">
                <a:solidFill>
                  <a:schemeClr val="tx1"/>
                </a:solidFill>
                <a:effectLst/>
                <a:latin typeface="+mn-lt"/>
                <a:ea typeface="+mn-ea"/>
                <a:cs typeface="+mn-cs"/>
              </a:rPr>
              <a:t>communication rules</a:t>
            </a:r>
            <a:r>
              <a:rPr lang="en-US" sz="1200" b="0" i="0" kern="1200" dirty="0" smtClean="0">
                <a:solidFill>
                  <a:schemeClr val="tx1"/>
                </a:solidFill>
                <a:effectLst/>
                <a:latin typeface="+mn-lt"/>
                <a:ea typeface="+mn-ea"/>
                <a:cs typeface="+mn-cs"/>
              </a:rPr>
              <a:t>. Also, it consists of precisely defined syntax and semantics which supports the sound inference. Each sentence can be translated into logics using syntax and semantics.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Semantic networks work as an </a:t>
            </a:r>
            <a:r>
              <a:rPr lang="en-US" sz="1200" b="1" i="0" kern="1200" dirty="0" smtClean="0">
                <a:solidFill>
                  <a:schemeClr val="tx1"/>
                </a:solidFill>
                <a:effectLst/>
                <a:latin typeface="+mn-lt"/>
                <a:ea typeface="+mn-ea"/>
                <a:cs typeface="+mn-cs"/>
              </a:rPr>
              <a:t>alternative</a:t>
            </a:r>
            <a:r>
              <a:rPr lang="en-US" sz="1200" b="0" i="0" kern="1200" dirty="0" smtClean="0">
                <a:solidFill>
                  <a:schemeClr val="tx1"/>
                </a:solidFill>
                <a:effectLst/>
                <a:latin typeface="+mn-lt"/>
                <a:ea typeface="+mn-ea"/>
                <a:cs typeface="+mn-cs"/>
              </a:rPr>
              <a:t> of </a:t>
            </a:r>
            <a:r>
              <a:rPr lang="en-US" sz="1200" b="1" i="0" kern="1200" dirty="0" smtClean="0">
                <a:solidFill>
                  <a:schemeClr val="tx1"/>
                </a:solidFill>
                <a:effectLst/>
                <a:latin typeface="+mn-lt"/>
                <a:ea typeface="+mn-ea"/>
                <a:cs typeface="+mn-cs"/>
              </a:rPr>
              <a:t>predicate logic</a:t>
            </a:r>
            <a:r>
              <a:rPr lang="en-US" sz="1200" b="0" i="0" kern="1200" dirty="0" smtClean="0">
                <a:solidFill>
                  <a:schemeClr val="tx1"/>
                </a:solidFill>
                <a:effectLst/>
                <a:latin typeface="+mn-lt"/>
                <a:ea typeface="+mn-ea"/>
                <a:cs typeface="+mn-cs"/>
              </a:rPr>
              <a:t> for knowledge representation. In Semantic networks, you can represent your knowledge in the form of graphical networks. This network consists of nodes representing objects and arcs which describe the relationship between those objects.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frame is a</a:t>
            </a:r>
            <a:r>
              <a:rPr lang="en-US" sz="1200" b="1" i="0" kern="1200" dirty="0" smtClean="0">
                <a:solidFill>
                  <a:schemeClr val="tx1"/>
                </a:solidFill>
                <a:effectLst/>
                <a:latin typeface="+mn-lt"/>
                <a:ea typeface="+mn-ea"/>
                <a:cs typeface="+mn-cs"/>
              </a:rPr>
              <a:t> record</a:t>
            </a:r>
            <a:r>
              <a:rPr lang="en-US" sz="1200" b="0" i="0" kern="1200" dirty="0" smtClean="0">
                <a:solidFill>
                  <a:schemeClr val="tx1"/>
                </a:solidFill>
                <a:effectLst/>
                <a:latin typeface="+mn-lt"/>
                <a:ea typeface="+mn-ea"/>
                <a:cs typeface="+mn-cs"/>
              </a:rPr>
              <a:t> like structure that consists of a </a:t>
            </a:r>
            <a:r>
              <a:rPr lang="en-US" sz="1200" b="1" i="0" kern="1200" dirty="0" smtClean="0">
                <a:solidFill>
                  <a:schemeClr val="tx1"/>
                </a:solidFill>
                <a:effectLst/>
                <a:latin typeface="+mn-lt"/>
                <a:ea typeface="+mn-ea"/>
                <a:cs typeface="+mn-cs"/>
              </a:rPr>
              <a:t>collection of attributes</a:t>
            </a:r>
            <a:r>
              <a:rPr lang="en-US" sz="1200" b="0" i="0" kern="1200" dirty="0" smtClean="0">
                <a:solidFill>
                  <a:schemeClr val="tx1"/>
                </a:solidFill>
                <a:effectLst/>
                <a:latin typeface="+mn-lt"/>
                <a:ea typeface="+mn-ea"/>
                <a:cs typeface="+mn-cs"/>
              </a:rPr>
              <a:t> and values to describe an entity in the world. These are the AI data structure that divides knowledge into substructures by representing stereotypes situations. Basically, it consists of a collection of slots and slot values of any type and size. Slots have names and values which are called facets.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 production rules, agent checks for the </a:t>
            </a:r>
            <a:r>
              <a:rPr lang="en-US" sz="1200" b="1" i="0" kern="1200" dirty="0" smtClean="0">
                <a:solidFill>
                  <a:schemeClr val="tx1"/>
                </a:solidFill>
                <a:effectLst/>
                <a:latin typeface="+mn-lt"/>
                <a:ea typeface="+mn-ea"/>
                <a:cs typeface="+mn-cs"/>
              </a:rPr>
              <a:t>condition</a:t>
            </a:r>
            <a:r>
              <a:rPr lang="en-US" sz="1200" b="0" i="0" kern="1200" dirty="0" smtClean="0">
                <a:solidFill>
                  <a:schemeClr val="tx1"/>
                </a:solidFill>
                <a:effectLst/>
                <a:latin typeface="+mn-lt"/>
                <a:ea typeface="+mn-ea"/>
                <a:cs typeface="+mn-cs"/>
              </a:rPr>
              <a:t> and if the condition exists then production rule fires and corresponding action is carried out. The condition part of the rule determines which rule may be applied to a problem. </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26</a:t>
            </a:fld>
            <a:endParaRPr lang="en-US"/>
          </a:p>
        </p:txBody>
      </p:sp>
    </p:spTree>
    <p:extLst>
      <p:ext uri="{BB962C8B-B14F-4D97-AF65-F5344CB8AC3E}">
        <p14:creationId xmlns:p14="http://schemas.microsoft.com/office/powerpoint/2010/main" val="3994272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6/7/2025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6/7/2025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youtube.com/watch?v=0fKBhvDjuy0"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ngeluriot.com/maze_solver/" TargetMode="External"/><Relationship Id="rId2" Type="http://schemas.openxmlformats.org/officeDocument/2006/relationships/hyperlink" Target="https://www.youtube.com/watch?v=OmOwj3qMdOY" TargetMode="External"/><Relationship Id="rId1" Type="http://schemas.openxmlformats.org/officeDocument/2006/relationships/slideLayout" Target="../slideLayouts/slideLayout2.xml"/><Relationship Id="rId6" Type="http://schemas.openxmlformats.org/officeDocument/2006/relationships/hyperlink" Target="https://www.youtube.com/watch?v=PMMc4VsIacU" TargetMode="External"/><Relationship Id="rId5" Type="http://schemas.openxmlformats.org/officeDocument/2006/relationships/hyperlink" Target="https://www.youtube.com/watch?v=xlVX7dXLS64" TargetMode="External"/><Relationship Id="rId4" Type="http://schemas.openxmlformats.org/officeDocument/2006/relationships/hyperlink" Target="https://www.youtube.com/watch?v=utDu3Q7Flr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Knowledge Representation in AI</a:t>
            </a:r>
            <a:endParaRPr lang="en-US" dirty="0"/>
          </a:p>
        </p:txBody>
      </p:sp>
      <p:sp>
        <p:nvSpPr>
          <p:cNvPr id="3" name="Subtitle 2"/>
          <p:cNvSpPr>
            <a:spLocks noGrp="1"/>
          </p:cNvSpPr>
          <p:nvPr>
            <p:ph type="subTitle" idx="1"/>
          </p:nvPr>
        </p:nvSpPr>
        <p:spPr/>
        <p:txBody>
          <a:bodyPr/>
          <a:lstStyle/>
          <a:p>
            <a:r>
              <a:rPr lang="en-US" dirty="0" smtClean="0"/>
              <a:t>Week 5</a:t>
            </a:r>
          </a:p>
          <a:p>
            <a:r>
              <a:rPr lang="en-US" dirty="0" smtClean="0"/>
              <a:t>Edward Ombui, PhD</a:t>
            </a:r>
            <a:endParaRPr lang="en-US" dirty="0"/>
          </a:p>
        </p:txBody>
      </p:sp>
    </p:spTree>
    <p:extLst>
      <p:ext uri="{BB962C8B-B14F-4D97-AF65-F5344CB8AC3E}">
        <p14:creationId xmlns:p14="http://schemas.microsoft.com/office/powerpoint/2010/main" val="1980849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objective</a:t>
            </a:r>
            <a:endParaRPr lang="en-US" dirty="0"/>
          </a:p>
        </p:txBody>
      </p:sp>
      <p:sp>
        <p:nvSpPr>
          <p:cNvPr id="3" name="Content Placeholder 2"/>
          <p:cNvSpPr>
            <a:spLocks noGrp="1"/>
          </p:cNvSpPr>
          <p:nvPr>
            <p:ph idx="1"/>
          </p:nvPr>
        </p:nvSpPr>
        <p:spPr>
          <a:xfrm>
            <a:off x="942975" y="2556932"/>
            <a:ext cx="10572750" cy="3318936"/>
          </a:xfrm>
        </p:spPr>
        <p:txBody>
          <a:bodyPr/>
          <a:lstStyle/>
          <a:p>
            <a:r>
              <a:rPr lang="en-US" dirty="0"/>
              <a:t>By the end of this lesson, students should be able to understand the importance of knowledge representation in artificial intelligence, explore different techniques, and apply these techniques to model information in a meaningful way.</a:t>
            </a:r>
          </a:p>
        </p:txBody>
      </p:sp>
    </p:spTree>
    <p:extLst>
      <p:ext uri="{BB962C8B-B14F-4D97-AF65-F5344CB8AC3E}">
        <p14:creationId xmlns:p14="http://schemas.microsoft.com/office/powerpoint/2010/main" val="960065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Learning Outcomes</a:t>
            </a:r>
            <a:endParaRPr lang="en-US" dirty="0"/>
          </a:p>
        </p:txBody>
      </p:sp>
      <p:sp>
        <p:nvSpPr>
          <p:cNvPr id="3" name="Content Placeholder 2"/>
          <p:cNvSpPr>
            <a:spLocks noGrp="1"/>
          </p:cNvSpPr>
          <p:nvPr>
            <p:ph idx="1"/>
          </p:nvPr>
        </p:nvSpPr>
        <p:spPr/>
        <p:txBody>
          <a:bodyPr>
            <a:normAutofit/>
          </a:bodyPr>
          <a:lstStyle/>
          <a:p>
            <a:r>
              <a:rPr lang="en-US" dirty="0"/>
              <a:t>A</a:t>
            </a:r>
            <a:r>
              <a:rPr lang="en-US" dirty="0" smtClean="0"/>
              <a:t>rticulate </a:t>
            </a:r>
            <a:r>
              <a:rPr lang="en-US" dirty="0"/>
              <a:t>the advantages and challenges associated </a:t>
            </a:r>
            <a:r>
              <a:rPr lang="en-US" dirty="0" smtClean="0"/>
              <a:t>with </a:t>
            </a:r>
            <a:r>
              <a:rPr lang="en-US" dirty="0"/>
              <a:t>different knowledge representation structures, including facts, rules, frames, semantic networks, ontologies, and knowledge graphs</a:t>
            </a:r>
            <a:r>
              <a:rPr lang="en-US" dirty="0" smtClean="0"/>
              <a:t>.</a:t>
            </a:r>
          </a:p>
          <a:p>
            <a:r>
              <a:rPr lang="en-US" dirty="0"/>
              <a:t>C</a:t>
            </a:r>
            <a:r>
              <a:rPr lang="en-US" dirty="0" smtClean="0"/>
              <a:t>reate </a:t>
            </a:r>
            <a:r>
              <a:rPr lang="en-US" dirty="0"/>
              <a:t>meaningful </a:t>
            </a:r>
            <a:r>
              <a:rPr lang="en-US" dirty="0" smtClean="0"/>
              <a:t>knowledge representations </a:t>
            </a:r>
            <a:r>
              <a:rPr lang="en-US" dirty="0"/>
              <a:t>for given </a:t>
            </a:r>
            <a:r>
              <a:rPr lang="en-US" dirty="0" smtClean="0"/>
              <a:t>scenarios </a:t>
            </a:r>
            <a:r>
              <a:rPr lang="en-US" dirty="0"/>
              <a:t>by exploring semantic networks and frames</a:t>
            </a:r>
            <a:r>
              <a:rPr lang="en-US" dirty="0" smtClean="0"/>
              <a:t>.</a:t>
            </a:r>
          </a:p>
          <a:p>
            <a:r>
              <a:rPr lang="en-US" dirty="0" smtClean="0"/>
              <a:t>Identify </a:t>
            </a:r>
            <a:r>
              <a:rPr lang="en-US" dirty="0"/>
              <a:t>real-world AI </a:t>
            </a:r>
            <a:r>
              <a:rPr lang="en-US" dirty="0" smtClean="0"/>
              <a:t>applications that integrate knowledge representation </a:t>
            </a:r>
            <a:r>
              <a:rPr lang="en-US" dirty="0" err="1" smtClean="0"/>
              <a:t>e..g</a:t>
            </a:r>
            <a:r>
              <a:rPr lang="en-US" dirty="0" smtClean="0"/>
              <a:t>. </a:t>
            </a:r>
            <a:r>
              <a:rPr lang="en-US" dirty="0"/>
              <a:t>natural language processing, expert systems, and other domains</a:t>
            </a:r>
            <a:r>
              <a:rPr lang="en-US" dirty="0" smtClean="0"/>
              <a:t>.</a:t>
            </a:r>
          </a:p>
        </p:txBody>
      </p:sp>
    </p:spTree>
    <p:extLst>
      <p:ext uri="{BB962C8B-B14F-4D97-AF65-F5344CB8AC3E}">
        <p14:creationId xmlns:p14="http://schemas.microsoft.com/office/powerpoint/2010/main" val="28896236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438150" y="361950"/>
            <a:ext cx="11315700" cy="6134100"/>
          </a:xfrm>
          <a:prstGeom prst="rect">
            <a:avLst/>
          </a:prstGeom>
        </p:spPr>
      </p:pic>
      <p:sp>
        <p:nvSpPr>
          <p:cNvPr id="5" name="TextBox 4"/>
          <p:cNvSpPr txBox="1"/>
          <p:nvPr/>
        </p:nvSpPr>
        <p:spPr>
          <a:xfrm>
            <a:off x="199505" y="0"/>
            <a:ext cx="3857106" cy="369332"/>
          </a:xfrm>
          <a:prstGeom prst="rect">
            <a:avLst/>
          </a:prstGeom>
          <a:noFill/>
        </p:spPr>
        <p:txBody>
          <a:bodyPr wrap="square" rtlCol="0">
            <a:spAutoFit/>
          </a:bodyPr>
          <a:lstStyle/>
          <a:p>
            <a:r>
              <a:rPr lang="en-US" dirty="0">
                <a:hlinkClick r:id="rId4"/>
              </a:rPr>
              <a:t>Powers of Ten™ (1977)</a:t>
            </a:r>
            <a:endParaRPr lang="en-US" dirty="0"/>
          </a:p>
        </p:txBody>
      </p:sp>
    </p:spTree>
    <p:extLst>
      <p:ext uri="{BB962C8B-B14F-4D97-AF65-F5344CB8AC3E}">
        <p14:creationId xmlns:p14="http://schemas.microsoft.com/office/powerpoint/2010/main" val="2590840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85825" y="-14288"/>
            <a:ext cx="10420350" cy="6886575"/>
          </a:xfrm>
          <a:prstGeom prst="rect">
            <a:avLst/>
          </a:prstGeom>
        </p:spPr>
      </p:pic>
    </p:spTree>
    <p:extLst>
      <p:ext uri="{BB962C8B-B14F-4D97-AF65-F5344CB8AC3E}">
        <p14:creationId xmlns:p14="http://schemas.microsoft.com/office/powerpoint/2010/main" val="39940833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33400" y="23812"/>
            <a:ext cx="11125200" cy="6810375"/>
          </a:xfrm>
          <a:prstGeom prst="rect">
            <a:avLst/>
          </a:prstGeom>
        </p:spPr>
      </p:pic>
    </p:spTree>
    <p:extLst>
      <p:ext uri="{BB962C8B-B14F-4D97-AF65-F5344CB8AC3E}">
        <p14:creationId xmlns:p14="http://schemas.microsoft.com/office/powerpoint/2010/main" val="35866173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I KNOW?</a:t>
            </a:r>
            <a:endParaRPr lang="en-US" dirty="0"/>
          </a:p>
        </p:txBody>
      </p:sp>
      <p:sp>
        <p:nvSpPr>
          <p:cNvPr id="3" name="Content Placeholder 2"/>
          <p:cNvSpPr>
            <a:spLocks noGrp="1"/>
          </p:cNvSpPr>
          <p:nvPr>
            <p:ph idx="1"/>
          </p:nvPr>
        </p:nvSpPr>
        <p:spPr>
          <a:xfrm>
            <a:off x="1295401" y="2556932"/>
            <a:ext cx="10009908" cy="3318936"/>
          </a:xfrm>
        </p:spPr>
        <p:txBody>
          <a:bodyPr>
            <a:normAutofit fontScale="77500" lnSpcReduction="20000"/>
          </a:bodyPr>
          <a:lstStyle/>
          <a:p>
            <a:r>
              <a:rPr lang="en-US" sz="2800" dirty="0" smtClean="0">
                <a:solidFill>
                  <a:srgbClr val="FF0000"/>
                </a:solidFill>
              </a:rPr>
              <a:t>Ontology</a:t>
            </a:r>
            <a:r>
              <a:rPr lang="en-US" dirty="0" smtClean="0"/>
              <a:t>: What is REALITY? What is TRUTH? </a:t>
            </a:r>
          </a:p>
          <a:p>
            <a:r>
              <a:rPr lang="en-US" sz="2800" dirty="0" smtClean="0">
                <a:solidFill>
                  <a:srgbClr val="FF0000"/>
                </a:solidFill>
              </a:rPr>
              <a:t>Epistemology</a:t>
            </a:r>
            <a:r>
              <a:rPr lang="en-US" dirty="0" smtClean="0"/>
              <a:t>: The theory of knowledge (and justification)</a:t>
            </a:r>
          </a:p>
          <a:p>
            <a:r>
              <a:rPr lang="en-US" dirty="0" smtClean="0"/>
              <a:t>Knowledge: Belief connected with the fact known in the right way</a:t>
            </a:r>
            <a:endParaRPr lang="en-US" dirty="0"/>
          </a:p>
          <a:p>
            <a:r>
              <a:rPr lang="en-US" dirty="0" smtClean="0"/>
              <a:t>Knowledge is always of </a:t>
            </a:r>
            <a:r>
              <a:rPr lang="en-US" dirty="0" smtClean="0">
                <a:solidFill>
                  <a:srgbClr val="FF0000"/>
                </a:solidFill>
              </a:rPr>
              <a:t>truths</a:t>
            </a:r>
            <a:r>
              <a:rPr lang="en-US" dirty="0" smtClean="0"/>
              <a:t> or </a:t>
            </a:r>
            <a:r>
              <a:rPr lang="en-US" dirty="0" smtClean="0">
                <a:solidFill>
                  <a:srgbClr val="FF0000"/>
                </a:solidFill>
              </a:rPr>
              <a:t>realities</a:t>
            </a:r>
            <a:r>
              <a:rPr lang="en-US" dirty="0" smtClean="0"/>
              <a:t>; DEEP TRUTH</a:t>
            </a:r>
          </a:p>
          <a:p>
            <a:r>
              <a:rPr lang="en-US" dirty="0"/>
              <a:t>B</a:t>
            </a:r>
            <a:r>
              <a:rPr lang="en-US" dirty="0" smtClean="0"/>
              <a:t>elief is not knowledge but opinion</a:t>
            </a:r>
          </a:p>
          <a:p>
            <a:r>
              <a:rPr lang="en-US" dirty="0" smtClean="0"/>
              <a:t>Justified belief: you have good reason to believe what you do, even if the belief is wrong</a:t>
            </a:r>
            <a:endParaRPr lang="en-US" dirty="0"/>
          </a:p>
          <a:p>
            <a:r>
              <a:rPr lang="en-US" dirty="0" smtClean="0"/>
              <a:t>Does knowledge begin with experience? (experience gives us data about observable level)</a:t>
            </a:r>
          </a:p>
          <a:p>
            <a:r>
              <a:rPr lang="en-US" dirty="0" smtClean="0"/>
              <a:t>Source of knowing: Scientifically (by observation and experimentation, and predictability of observables)</a:t>
            </a:r>
            <a:endParaRPr lang="en-US" dirty="0"/>
          </a:p>
        </p:txBody>
      </p:sp>
    </p:spTree>
    <p:extLst>
      <p:ext uri="{BB962C8B-B14F-4D97-AF65-F5344CB8AC3E}">
        <p14:creationId xmlns:p14="http://schemas.microsoft.com/office/powerpoint/2010/main" val="356372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81050" y="33337"/>
            <a:ext cx="10629900" cy="6791325"/>
          </a:xfrm>
          <a:prstGeom prst="rect">
            <a:avLst/>
          </a:prstGeom>
        </p:spPr>
      </p:pic>
    </p:spTree>
    <p:extLst>
      <p:ext uri="{BB962C8B-B14F-4D97-AF65-F5344CB8AC3E}">
        <p14:creationId xmlns:p14="http://schemas.microsoft.com/office/powerpoint/2010/main" val="35544953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28675" y="47625"/>
            <a:ext cx="10534650" cy="6762750"/>
          </a:xfrm>
          <a:prstGeom prst="rect">
            <a:avLst/>
          </a:prstGeom>
        </p:spPr>
      </p:pic>
    </p:spTree>
    <p:extLst>
      <p:ext uri="{BB962C8B-B14F-4D97-AF65-F5344CB8AC3E}">
        <p14:creationId xmlns:p14="http://schemas.microsoft.com/office/powerpoint/2010/main" val="10030147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23862" y="38100"/>
            <a:ext cx="11344275" cy="6781800"/>
          </a:xfrm>
          <a:prstGeom prst="rect">
            <a:avLst/>
          </a:prstGeom>
        </p:spPr>
      </p:pic>
    </p:spTree>
    <p:extLst>
      <p:ext uri="{BB962C8B-B14F-4D97-AF65-F5344CB8AC3E}">
        <p14:creationId xmlns:p14="http://schemas.microsoft.com/office/powerpoint/2010/main" val="9454466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55" y="727853"/>
            <a:ext cx="9601196" cy="1303867"/>
          </a:xfrm>
        </p:spPr>
        <p:txBody>
          <a:bodyPr/>
          <a:lstStyle/>
          <a:p>
            <a:r>
              <a:rPr lang="en-US" dirty="0" smtClean="0"/>
              <a:t>CONCEPTS for building AI</a:t>
            </a:r>
            <a:endParaRPr lang="en-US" dirty="0"/>
          </a:p>
        </p:txBody>
      </p:sp>
      <p:sp>
        <p:nvSpPr>
          <p:cNvPr id="3" name="Content Placeholder 2"/>
          <p:cNvSpPr>
            <a:spLocks noGrp="1"/>
          </p:cNvSpPr>
          <p:nvPr>
            <p:ph idx="1"/>
          </p:nvPr>
        </p:nvSpPr>
        <p:spPr>
          <a:xfrm>
            <a:off x="782054" y="2472515"/>
            <a:ext cx="4969041" cy="3318936"/>
          </a:xfrm>
        </p:spPr>
        <p:txBody>
          <a:bodyPr>
            <a:normAutofit/>
          </a:bodyPr>
          <a:lstStyle/>
          <a:p>
            <a:r>
              <a:rPr lang="en-US" dirty="0" smtClean="0"/>
              <a:t>The role of logic in knowledge representation and reasoning</a:t>
            </a:r>
          </a:p>
          <a:p>
            <a:r>
              <a:rPr lang="en-US" dirty="0" smtClean="0"/>
              <a:t>Logic, the study of entailment relations: languages, truth conditions, and rules of inference</a:t>
            </a:r>
          </a:p>
          <a:p>
            <a:r>
              <a:rPr lang="en-US" dirty="0" smtClean="0"/>
              <a:t>Predicate calculus: : the language of first order logic (FOL). </a:t>
            </a:r>
            <a:endParaRPr lang="en-US" dirty="0"/>
          </a:p>
        </p:txBody>
      </p:sp>
      <p:sp>
        <p:nvSpPr>
          <p:cNvPr id="4" name="Oval 3"/>
          <p:cNvSpPr/>
          <p:nvPr/>
        </p:nvSpPr>
        <p:spPr>
          <a:xfrm>
            <a:off x="5475493" y="4031407"/>
            <a:ext cx="2657474" cy="21002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KNOWLEDGE</a:t>
            </a:r>
            <a:endParaRPr lang="en-US" dirty="0"/>
          </a:p>
        </p:txBody>
      </p:sp>
      <p:sp>
        <p:nvSpPr>
          <p:cNvPr id="5" name="Oval 4"/>
          <p:cNvSpPr/>
          <p:nvPr/>
        </p:nvSpPr>
        <p:spPr>
          <a:xfrm>
            <a:off x="6804230" y="2031720"/>
            <a:ext cx="3290889" cy="21002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REPRESENTATION</a:t>
            </a:r>
            <a:endParaRPr lang="en-US" dirty="0"/>
          </a:p>
        </p:txBody>
      </p:sp>
      <p:sp>
        <p:nvSpPr>
          <p:cNvPr id="6" name="Oval 5"/>
          <p:cNvSpPr/>
          <p:nvPr/>
        </p:nvSpPr>
        <p:spPr>
          <a:xfrm>
            <a:off x="8637794" y="3930831"/>
            <a:ext cx="2914649" cy="21002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REASONING</a:t>
            </a:r>
            <a:endParaRPr lang="en-US" dirty="0"/>
          </a:p>
        </p:txBody>
      </p:sp>
    </p:spTree>
    <p:extLst>
      <p:ext uri="{BB962C8B-B14F-4D97-AF65-F5344CB8AC3E}">
        <p14:creationId xmlns:p14="http://schemas.microsoft.com/office/powerpoint/2010/main" val="4081046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5524" y="1719261"/>
            <a:ext cx="6010275" cy="4960058"/>
          </a:xfrm>
          <a:prstGeom prst="rect">
            <a:avLst/>
          </a:prstGeom>
        </p:spPr>
      </p:pic>
      <p:sp>
        <p:nvSpPr>
          <p:cNvPr id="2" name="Title 1"/>
          <p:cNvSpPr>
            <a:spLocks noGrp="1"/>
          </p:cNvSpPr>
          <p:nvPr>
            <p:ph type="title"/>
          </p:nvPr>
        </p:nvSpPr>
        <p:spPr>
          <a:xfrm>
            <a:off x="981076" y="167744"/>
            <a:ext cx="9601196" cy="1303867"/>
          </a:xfrm>
        </p:spPr>
        <p:txBody>
          <a:bodyPr/>
          <a:lstStyle/>
          <a:p>
            <a:r>
              <a:rPr lang="en-US" dirty="0" smtClean="0"/>
              <a:t>What is Knowledge?</a:t>
            </a:r>
            <a:endParaRPr lang="en-US" dirty="0"/>
          </a:p>
        </p:txBody>
      </p:sp>
      <p:sp>
        <p:nvSpPr>
          <p:cNvPr id="3" name="Content Placeholder 2"/>
          <p:cNvSpPr>
            <a:spLocks noGrp="1"/>
          </p:cNvSpPr>
          <p:nvPr>
            <p:ph idx="1"/>
          </p:nvPr>
        </p:nvSpPr>
        <p:spPr>
          <a:xfrm>
            <a:off x="0" y="1202794"/>
            <a:ext cx="6429375" cy="4340756"/>
          </a:xfrm>
        </p:spPr>
        <p:txBody>
          <a:bodyPr>
            <a:normAutofit lnSpcReduction="10000"/>
          </a:bodyPr>
          <a:lstStyle/>
          <a:p>
            <a:r>
              <a:rPr lang="en-US" dirty="0"/>
              <a:t>Knowledge is awareness or familiarity gained by experiences of facts, data, and situations.</a:t>
            </a:r>
          </a:p>
          <a:p>
            <a:r>
              <a:rPr lang="en-US" dirty="0" smtClean="0"/>
              <a:t>We make decision about what to do based on what we know about the world</a:t>
            </a:r>
          </a:p>
          <a:p>
            <a:r>
              <a:rPr lang="en-US" dirty="0" smtClean="0"/>
              <a:t>Knowledge representation is the part of AI concerned with how an agent uses what it knows in deciding what to do.</a:t>
            </a:r>
          </a:p>
          <a:p>
            <a:r>
              <a:rPr lang="en-US" dirty="0" smtClean="0"/>
              <a:t>KR: the study of thinking as a computational process, and the symbolic structures invented to represent knowledge</a:t>
            </a:r>
          </a:p>
          <a:p>
            <a:r>
              <a:rPr lang="en-US" dirty="0" smtClean="0"/>
              <a:t>Types of Knowledge</a:t>
            </a:r>
            <a:endParaRPr lang="en-US" dirty="0"/>
          </a:p>
        </p:txBody>
      </p:sp>
    </p:spTree>
    <p:extLst>
      <p:ext uri="{BB962C8B-B14F-4D97-AF65-F5344CB8AC3E}">
        <p14:creationId xmlns:p14="http://schemas.microsoft.com/office/powerpoint/2010/main" val="212937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knowledge representation?</a:t>
            </a:r>
            <a:br>
              <a:rPr lang="en-US" dirty="0"/>
            </a:br>
            <a:endParaRPr lang="en-US" dirty="0"/>
          </a:p>
        </p:txBody>
      </p:sp>
      <p:sp>
        <p:nvSpPr>
          <p:cNvPr id="3" name="Content Placeholder 2"/>
          <p:cNvSpPr>
            <a:spLocks noGrp="1"/>
          </p:cNvSpPr>
          <p:nvPr>
            <p:ph idx="1"/>
          </p:nvPr>
        </p:nvSpPr>
        <p:spPr/>
        <p:txBody>
          <a:bodyPr/>
          <a:lstStyle/>
          <a:p>
            <a:r>
              <a:rPr lang="en-US" dirty="0" smtClean="0"/>
              <a:t>A </a:t>
            </a:r>
            <a:r>
              <a:rPr lang="en-US" dirty="0"/>
              <a:t>process of organizing information in a structured way to facilitate reasoning, problem-solving, and decision-making within intelligent </a:t>
            </a:r>
            <a:r>
              <a:rPr lang="en-US" dirty="0" smtClean="0"/>
              <a:t>systems</a:t>
            </a:r>
          </a:p>
          <a:p>
            <a:r>
              <a:rPr lang="en-US" dirty="0"/>
              <a:t>It involves </a:t>
            </a:r>
            <a:r>
              <a:rPr lang="en-US" dirty="0">
                <a:solidFill>
                  <a:srgbClr val="0070C0"/>
                </a:solidFill>
              </a:rPr>
              <a:t>creating models that capture the essential characteristics of a domain,</a:t>
            </a:r>
            <a:r>
              <a:rPr lang="en-US" dirty="0"/>
              <a:t> allowing an AI system to understand, interpret, and manipulate knowledge effectively. </a:t>
            </a:r>
            <a:endParaRPr lang="en-US" dirty="0" smtClean="0"/>
          </a:p>
          <a:p>
            <a:r>
              <a:rPr lang="en-US" dirty="0" smtClean="0"/>
              <a:t>The </a:t>
            </a:r>
            <a:r>
              <a:rPr lang="en-US" dirty="0"/>
              <a:t>goal of knowledge representation is to enable machines to </a:t>
            </a:r>
            <a:r>
              <a:rPr lang="en-US" dirty="0">
                <a:solidFill>
                  <a:srgbClr val="FF0000"/>
                </a:solidFill>
              </a:rPr>
              <a:t>reason</a:t>
            </a:r>
            <a:r>
              <a:rPr lang="en-US" dirty="0"/>
              <a:t> </a:t>
            </a:r>
            <a:r>
              <a:rPr lang="en-US" dirty="0">
                <a:solidFill>
                  <a:srgbClr val="FF0000"/>
                </a:solidFill>
              </a:rPr>
              <a:t>about the world</a:t>
            </a:r>
            <a:r>
              <a:rPr lang="en-US" dirty="0"/>
              <a:t> in a manner similar to human cognition.</a:t>
            </a:r>
          </a:p>
        </p:txBody>
      </p:sp>
    </p:spTree>
    <p:extLst>
      <p:ext uri="{BB962C8B-B14F-4D97-AF65-F5344CB8AC3E}">
        <p14:creationId xmlns:p14="http://schemas.microsoft.com/office/powerpoint/2010/main" val="3274918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Represent</a:t>
            </a:r>
          </a:p>
        </p:txBody>
      </p:sp>
      <p:sp>
        <p:nvSpPr>
          <p:cNvPr id="3" name="Content Placeholder 2"/>
          <p:cNvSpPr>
            <a:spLocks noGrp="1"/>
          </p:cNvSpPr>
          <p:nvPr>
            <p:ph idx="1"/>
          </p:nvPr>
        </p:nvSpPr>
        <p:spPr/>
        <p:txBody>
          <a:bodyPr>
            <a:normAutofit fontScale="85000" lnSpcReduction="10000"/>
          </a:bodyPr>
          <a:lstStyle/>
          <a:p>
            <a:r>
              <a:rPr lang="en-US" b="1" dirty="0"/>
              <a:t>Object:</a:t>
            </a:r>
            <a:r>
              <a:rPr lang="en-US" dirty="0"/>
              <a:t> All the facts about objects in our world domain. E.g., Guitars contains strings, trumpets are brass instruments.</a:t>
            </a:r>
          </a:p>
          <a:p>
            <a:r>
              <a:rPr lang="en-US" b="1" dirty="0"/>
              <a:t>Events:</a:t>
            </a:r>
            <a:r>
              <a:rPr lang="en-US" dirty="0"/>
              <a:t> Events are the actions which occur in our world.</a:t>
            </a:r>
          </a:p>
          <a:p>
            <a:r>
              <a:rPr lang="en-US" b="1" dirty="0"/>
              <a:t>Performance:</a:t>
            </a:r>
            <a:r>
              <a:rPr lang="en-US" dirty="0"/>
              <a:t> It describe behavior which involves knowledge about how to do things.</a:t>
            </a:r>
          </a:p>
          <a:p>
            <a:r>
              <a:rPr lang="en-US" b="1" dirty="0"/>
              <a:t>Meta-knowledge:</a:t>
            </a:r>
            <a:r>
              <a:rPr lang="en-US" dirty="0"/>
              <a:t> It is knowledge about what we know.</a:t>
            </a:r>
          </a:p>
          <a:p>
            <a:r>
              <a:rPr lang="en-US" b="1" dirty="0"/>
              <a:t>Facts:</a:t>
            </a:r>
            <a:r>
              <a:rPr lang="en-US" dirty="0"/>
              <a:t> Facts are the truths about the real world and what we represent.</a:t>
            </a:r>
          </a:p>
          <a:p>
            <a:r>
              <a:rPr lang="en-US" b="1" dirty="0"/>
              <a:t>Knowledge-Base:</a:t>
            </a:r>
            <a:r>
              <a:rPr lang="en-US" dirty="0"/>
              <a:t> The central component of the knowledge-based agents is the knowledge base. It is represented as KB. The Knowledgebase is a group of the Sentences (Here, sentences are used as a technical term and not identical with the English language).</a:t>
            </a:r>
          </a:p>
        </p:txBody>
      </p:sp>
    </p:spTree>
    <p:extLst>
      <p:ext uri="{BB962C8B-B14F-4D97-AF65-F5344CB8AC3E}">
        <p14:creationId xmlns:p14="http://schemas.microsoft.com/office/powerpoint/2010/main" val="21205310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Early Systems</a:t>
            </a:r>
            <a:endParaRPr lang="en-US" dirty="0"/>
          </a:p>
        </p:txBody>
      </p:sp>
      <p:sp>
        <p:nvSpPr>
          <p:cNvPr id="3" name="Content Placeholder 2"/>
          <p:cNvSpPr>
            <a:spLocks noGrp="1"/>
          </p:cNvSpPr>
          <p:nvPr>
            <p:ph idx="1"/>
          </p:nvPr>
        </p:nvSpPr>
        <p:spPr>
          <a:xfrm>
            <a:off x="1006644" y="2490501"/>
            <a:ext cx="9601196" cy="3318936"/>
          </a:xfrm>
        </p:spPr>
        <p:txBody>
          <a:bodyPr/>
          <a:lstStyle/>
          <a:p>
            <a:r>
              <a:rPr lang="en-US" dirty="0" smtClean="0"/>
              <a:t>Knowledge: Permissible Transformations</a:t>
            </a:r>
          </a:p>
          <a:p>
            <a:r>
              <a:rPr lang="en-US" dirty="0" smtClean="0"/>
              <a:t>Reasoning: Search Algorithm</a:t>
            </a:r>
          </a:p>
          <a:p>
            <a:r>
              <a:rPr lang="en-US" dirty="0" smtClean="0"/>
              <a:t>Issues</a:t>
            </a:r>
          </a:p>
          <a:p>
            <a:pPr lvl="1"/>
            <a:r>
              <a:rPr lang="en-US" dirty="0" smtClean="0"/>
              <a:t>Real world data is challenging</a:t>
            </a:r>
          </a:p>
          <a:p>
            <a:pPr lvl="1"/>
            <a:r>
              <a:rPr lang="en-US" dirty="0" smtClean="0"/>
              <a:t>Lack of generalization to large number of symbols</a:t>
            </a:r>
          </a:p>
          <a:p>
            <a:pPr lvl="1"/>
            <a:r>
              <a:rPr lang="en-US" dirty="0" smtClean="0"/>
              <a:t>No learning</a:t>
            </a:r>
          </a:p>
          <a:p>
            <a:endParaRPr lang="en-US" dirty="0"/>
          </a:p>
        </p:txBody>
      </p:sp>
      <p:pic>
        <p:nvPicPr>
          <p:cNvPr id="5" name="Picture 4"/>
          <p:cNvPicPr>
            <a:picLocks noChangeAspect="1"/>
          </p:cNvPicPr>
          <p:nvPr/>
        </p:nvPicPr>
        <p:blipFill>
          <a:blip r:embed="rId3"/>
          <a:stretch>
            <a:fillRect/>
          </a:stretch>
        </p:blipFill>
        <p:spPr>
          <a:xfrm>
            <a:off x="3626188" y="5293804"/>
            <a:ext cx="7920115" cy="1031265"/>
          </a:xfrm>
          <a:prstGeom prst="rect">
            <a:avLst/>
          </a:prstGeom>
        </p:spPr>
      </p:pic>
    </p:spTree>
    <p:extLst>
      <p:ext uri="{BB962C8B-B14F-4D97-AF65-F5344CB8AC3E}">
        <p14:creationId xmlns:p14="http://schemas.microsoft.com/office/powerpoint/2010/main" val="3088251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Recent Work</a:t>
            </a:r>
            <a:endParaRPr lang="en-US" dirty="0"/>
          </a:p>
        </p:txBody>
      </p:sp>
      <p:sp>
        <p:nvSpPr>
          <p:cNvPr id="3" name="Content Placeholder 2"/>
          <p:cNvSpPr>
            <a:spLocks noGrp="1"/>
          </p:cNvSpPr>
          <p:nvPr>
            <p:ph idx="1"/>
          </p:nvPr>
        </p:nvSpPr>
        <p:spPr/>
        <p:txBody>
          <a:bodyPr/>
          <a:lstStyle/>
          <a:p>
            <a:r>
              <a:rPr lang="en-US" dirty="0" smtClean="0"/>
              <a:t>Speech </a:t>
            </a:r>
            <a:r>
              <a:rPr lang="en-US" dirty="0" err="1" smtClean="0"/>
              <a:t>recogmition</a:t>
            </a:r>
            <a:endParaRPr lang="en-US" dirty="0" smtClean="0"/>
          </a:p>
          <a:p>
            <a:r>
              <a:rPr lang="en-US" dirty="0" smtClean="0"/>
              <a:t>Image recognition</a:t>
            </a:r>
          </a:p>
          <a:p>
            <a:r>
              <a:rPr lang="en-US" dirty="0" smtClean="0"/>
              <a:t>Deep Neural networks</a:t>
            </a:r>
          </a:p>
          <a:p>
            <a:pPr lvl="1"/>
            <a:r>
              <a:rPr lang="en-US" dirty="0" smtClean="0"/>
              <a:t>Real valued vector (distributed representations)</a:t>
            </a:r>
          </a:p>
          <a:p>
            <a:pPr lvl="1"/>
            <a:r>
              <a:rPr lang="en-US" dirty="0" smtClean="0"/>
              <a:t>Transformation from input to output is learned from data using backpropagation algorithm</a:t>
            </a:r>
          </a:p>
          <a:p>
            <a:pPr lvl="1"/>
            <a:r>
              <a:rPr lang="en-US" dirty="0" smtClean="0"/>
              <a:t>Continuous data processing through real numbers</a:t>
            </a:r>
            <a:endParaRPr lang="en-US" dirty="0"/>
          </a:p>
        </p:txBody>
      </p:sp>
    </p:spTree>
    <p:extLst>
      <p:ext uri="{BB962C8B-B14F-4D97-AF65-F5344CB8AC3E}">
        <p14:creationId xmlns:p14="http://schemas.microsoft.com/office/powerpoint/2010/main" val="20508975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Related work in reasoning</a:t>
            </a:r>
            <a:endParaRPr lang="en-US" dirty="0"/>
          </a:p>
        </p:txBody>
      </p:sp>
      <p:sp>
        <p:nvSpPr>
          <p:cNvPr id="3" name="Content Placeholder 2"/>
          <p:cNvSpPr>
            <a:spLocks noGrp="1"/>
          </p:cNvSpPr>
          <p:nvPr>
            <p:ph idx="1"/>
          </p:nvPr>
        </p:nvSpPr>
        <p:spPr/>
        <p:txBody>
          <a:bodyPr/>
          <a:lstStyle/>
          <a:p>
            <a:endParaRPr lang="en-US" dirty="0" smtClean="0"/>
          </a:p>
          <a:p>
            <a:r>
              <a:rPr lang="en-US" dirty="0" smtClean="0"/>
              <a:t>Natural Language Inference</a:t>
            </a:r>
          </a:p>
          <a:p>
            <a:r>
              <a:rPr lang="en-US" dirty="0" smtClean="0"/>
              <a:t>Visual Question Answering</a:t>
            </a:r>
          </a:p>
          <a:p>
            <a:r>
              <a:rPr lang="en-US" smtClean="0"/>
              <a:t>Reading Comprehension</a:t>
            </a:r>
            <a:endParaRPr lang="en-US" dirty="0"/>
          </a:p>
        </p:txBody>
      </p:sp>
    </p:spTree>
    <p:extLst>
      <p:ext uri="{BB962C8B-B14F-4D97-AF65-F5344CB8AC3E}">
        <p14:creationId xmlns:p14="http://schemas.microsoft.com/office/powerpoint/2010/main" val="26455537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26771" y="786189"/>
            <a:ext cx="8077200" cy="5679925"/>
          </a:xfrm>
          <a:prstGeom prst="rect">
            <a:avLst/>
          </a:prstGeom>
        </p:spPr>
      </p:pic>
    </p:spTree>
    <p:extLst>
      <p:ext uri="{BB962C8B-B14F-4D97-AF65-F5344CB8AC3E}">
        <p14:creationId xmlns:p14="http://schemas.microsoft.com/office/powerpoint/2010/main" val="4229912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89555" y="435428"/>
            <a:ext cx="10961279" cy="6139543"/>
          </a:xfrm>
          <a:prstGeom prst="rect">
            <a:avLst/>
          </a:prstGeom>
        </p:spPr>
      </p:pic>
    </p:spTree>
    <p:extLst>
      <p:ext uri="{BB962C8B-B14F-4D97-AF65-F5344CB8AC3E}">
        <p14:creationId xmlns:p14="http://schemas.microsoft.com/office/powerpoint/2010/main" val="1320270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Knowledge Representation Schemes</a:t>
            </a:r>
            <a:endParaRPr lang="en-US" dirty="0"/>
          </a:p>
        </p:txBody>
      </p:sp>
      <p:sp>
        <p:nvSpPr>
          <p:cNvPr id="3" name="Content Placeholder 2"/>
          <p:cNvSpPr>
            <a:spLocks noGrp="1"/>
          </p:cNvSpPr>
          <p:nvPr>
            <p:ph idx="1"/>
          </p:nvPr>
        </p:nvSpPr>
        <p:spPr/>
        <p:txBody>
          <a:bodyPr/>
          <a:lstStyle/>
          <a:p>
            <a:r>
              <a:rPr lang="en-US" dirty="0" smtClean="0"/>
              <a:t>Relational </a:t>
            </a:r>
          </a:p>
          <a:p>
            <a:r>
              <a:rPr lang="en-US" dirty="0" smtClean="0"/>
              <a:t>Inheritable</a:t>
            </a:r>
          </a:p>
          <a:p>
            <a:r>
              <a:rPr lang="en-US" dirty="0" smtClean="0"/>
              <a:t>Inferential</a:t>
            </a:r>
          </a:p>
          <a:p>
            <a:r>
              <a:rPr lang="en-US" dirty="0" smtClean="0"/>
              <a:t>Declarative/Procedural</a:t>
            </a:r>
          </a:p>
          <a:p>
            <a:endParaRPr lang="en-US" dirty="0"/>
          </a:p>
        </p:txBody>
      </p:sp>
    </p:spTree>
    <p:extLst>
      <p:ext uri="{BB962C8B-B14F-4D97-AF65-F5344CB8AC3E}">
        <p14:creationId xmlns:p14="http://schemas.microsoft.com/office/powerpoint/2010/main" val="2934480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Relational Knowledge</a:t>
            </a:r>
            <a:endParaRPr lang="en-US" dirty="0"/>
          </a:p>
        </p:txBody>
      </p:sp>
      <p:sp>
        <p:nvSpPr>
          <p:cNvPr id="3" name="Content Placeholder 2"/>
          <p:cNvSpPr>
            <a:spLocks noGrp="1"/>
          </p:cNvSpPr>
          <p:nvPr>
            <p:ph idx="1"/>
          </p:nvPr>
        </p:nvSpPr>
        <p:spPr/>
        <p:txBody>
          <a:bodyPr/>
          <a:lstStyle/>
          <a:p>
            <a:r>
              <a:rPr lang="en-US" dirty="0" smtClean="0"/>
              <a:t>It’s the simplest way to represent facts, each set out systematically in columns</a:t>
            </a:r>
          </a:p>
          <a:p>
            <a:r>
              <a:rPr lang="en-US" dirty="0" smtClean="0"/>
              <a:t>It stores set of attributes and its associated values</a:t>
            </a:r>
          </a:p>
          <a:p>
            <a:r>
              <a:rPr lang="en-US" dirty="0" smtClean="0"/>
              <a:t>This approach of knowledge representation is popular in database systems where the relationship between different entities is represented</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13152347"/>
              </p:ext>
            </p:extLst>
          </p:nvPr>
        </p:nvGraphicFramePr>
        <p:xfrm>
          <a:off x="1826260" y="4763348"/>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40687938"/>
                    </a:ext>
                  </a:extLst>
                </a:gridCol>
                <a:gridCol w="2032000">
                  <a:extLst>
                    <a:ext uri="{9D8B030D-6E8A-4147-A177-3AD203B41FA5}">
                      <a16:colId xmlns:a16="http://schemas.microsoft.com/office/drawing/2014/main" val="3723911603"/>
                    </a:ext>
                  </a:extLst>
                </a:gridCol>
                <a:gridCol w="2032000">
                  <a:extLst>
                    <a:ext uri="{9D8B030D-6E8A-4147-A177-3AD203B41FA5}">
                      <a16:colId xmlns:a16="http://schemas.microsoft.com/office/drawing/2014/main" val="2431192443"/>
                    </a:ext>
                  </a:extLst>
                </a:gridCol>
                <a:gridCol w="2032000">
                  <a:extLst>
                    <a:ext uri="{9D8B030D-6E8A-4147-A177-3AD203B41FA5}">
                      <a16:colId xmlns:a16="http://schemas.microsoft.com/office/drawing/2014/main" val="2445249732"/>
                    </a:ext>
                  </a:extLst>
                </a:gridCol>
              </a:tblGrid>
              <a:tr h="370840">
                <a:tc>
                  <a:txBody>
                    <a:bodyPr/>
                    <a:lstStyle/>
                    <a:p>
                      <a:r>
                        <a:rPr lang="en-US" dirty="0" smtClean="0"/>
                        <a:t>Player </a:t>
                      </a:r>
                      <a:endParaRPr lang="en-US" dirty="0"/>
                    </a:p>
                  </a:txBody>
                  <a:tcPr/>
                </a:tc>
                <a:tc>
                  <a:txBody>
                    <a:bodyPr/>
                    <a:lstStyle/>
                    <a:p>
                      <a:r>
                        <a:rPr lang="en-US" dirty="0" smtClean="0"/>
                        <a:t>Height</a:t>
                      </a:r>
                      <a:endParaRPr lang="en-US" dirty="0"/>
                    </a:p>
                  </a:txBody>
                  <a:tcPr/>
                </a:tc>
                <a:tc>
                  <a:txBody>
                    <a:bodyPr/>
                    <a:lstStyle/>
                    <a:p>
                      <a:r>
                        <a:rPr lang="en-US" dirty="0" smtClean="0"/>
                        <a:t>Weight</a:t>
                      </a:r>
                      <a:endParaRPr lang="en-US" dirty="0"/>
                    </a:p>
                  </a:txBody>
                  <a:tcPr/>
                </a:tc>
                <a:tc>
                  <a:txBody>
                    <a:bodyPr/>
                    <a:lstStyle/>
                    <a:p>
                      <a:r>
                        <a:rPr lang="en-US" dirty="0" smtClean="0"/>
                        <a:t>Wins</a:t>
                      </a:r>
                      <a:endParaRPr lang="en-US" dirty="0"/>
                    </a:p>
                  </a:txBody>
                  <a:tcPr/>
                </a:tc>
                <a:extLst>
                  <a:ext uri="{0D108BD9-81ED-4DB2-BD59-A6C34878D82A}">
                    <a16:rowId xmlns:a16="http://schemas.microsoft.com/office/drawing/2014/main" val="2353188357"/>
                  </a:ext>
                </a:extLst>
              </a:tr>
              <a:tr h="370840">
                <a:tc>
                  <a:txBody>
                    <a:bodyPr/>
                    <a:lstStyle/>
                    <a:p>
                      <a:r>
                        <a:rPr lang="en-US" dirty="0" err="1" smtClean="0"/>
                        <a:t>Morara</a:t>
                      </a:r>
                      <a:endParaRPr lang="en-US" dirty="0"/>
                    </a:p>
                  </a:txBody>
                  <a:tcPr/>
                </a:tc>
                <a:tc>
                  <a:txBody>
                    <a:bodyPr/>
                    <a:lstStyle/>
                    <a:p>
                      <a:r>
                        <a:rPr lang="en-US" dirty="0" smtClean="0"/>
                        <a:t>5.7</a:t>
                      </a:r>
                      <a:endParaRPr lang="en-US" dirty="0"/>
                    </a:p>
                  </a:txBody>
                  <a:tcPr/>
                </a:tc>
                <a:tc>
                  <a:txBody>
                    <a:bodyPr/>
                    <a:lstStyle/>
                    <a:p>
                      <a:r>
                        <a:rPr lang="en-US" dirty="0" smtClean="0"/>
                        <a:t>61</a:t>
                      </a:r>
                      <a:endParaRPr lang="en-US" dirty="0"/>
                    </a:p>
                  </a:txBody>
                  <a:tcPr/>
                </a:tc>
                <a:tc>
                  <a:txBody>
                    <a:bodyPr/>
                    <a:lstStyle/>
                    <a:p>
                      <a:r>
                        <a:rPr lang="en-US" dirty="0" smtClean="0"/>
                        <a:t>7</a:t>
                      </a:r>
                      <a:endParaRPr lang="en-US" dirty="0"/>
                    </a:p>
                  </a:txBody>
                  <a:tcPr/>
                </a:tc>
                <a:extLst>
                  <a:ext uri="{0D108BD9-81ED-4DB2-BD59-A6C34878D82A}">
                    <a16:rowId xmlns:a16="http://schemas.microsoft.com/office/drawing/2014/main" val="454011552"/>
                  </a:ext>
                </a:extLst>
              </a:tr>
              <a:tr h="370840">
                <a:tc>
                  <a:txBody>
                    <a:bodyPr/>
                    <a:lstStyle/>
                    <a:p>
                      <a:r>
                        <a:rPr lang="en-US" dirty="0" err="1" smtClean="0"/>
                        <a:t>Wanjohi</a:t>
                      </a:r>
                      <a:endParaRPr lang="en-US" dirty="0"/>
                    </a:p>
                  </a:txBody>
                  <a:tcPr/>
                </a:tc>
                <a:tc>
                  <a:txBody>
                    <a:bodyPr/>
                    <a:lstStyle/>
                    <a:p>
                      <a:r>
                        <a:rPr lang="en-US" dirty="0" smtClean="0"/>
                        <a:t>6.1</a:t>
                      </a:r>
                      <a:endParaRPr lang="en-US" dirty="0"/>
                    </a:p>
                  </a:txBody>
                  <a:tcPr/>
                </a:tc>
                <a:tc>
                  <a:txBody>
                    <a:bodyPr/>
                    <a:lstStyle/>
                    <a:p>
                      <a:r>
                        <a:rPr lang="en-US" dirty="0" smtClean="0"/>
                        <a:t>72</a:t>
                      </a:r>
                      <a:endParaRPr lang="en-US" dirty="0"/>
                    </a:p>
                  </a:txBody>
                  <a:tcPr/>
                </a:tc>
                <a:tc>
                  <a:txBody>
                    <a:bodyPr/>
                    <a:lstStyle/>
                    <a:p>
                      <a:r>
                        <a:rPr lang="en-US" dirty="0" smtClean="0"/>
                        <a:t>4</a:t>
                      </a:r>
                      <a:endParaRPr lang="en-US" dirty="0"/>
                    </a:p>
                  </a:txBody>
                  <a:tcPr/>
                </a:tc>
                <a:extLst>
                  <a:ext uri="{0D108BD9-81ED-4DB2-BD59-A6C34878D82A}">
                    <a16:rowId xmlns:a16="http://schemas.microsoft.com/office/drawing/2014/main" val="1531191696"/>
                  </a:ext>
                </a:extLst>
              </a:tr>
            </a:tbl>
          </a:graphicData>
        </a:graphic>
      </p:graphicFrame>
    </p:spTree>
    <p:extLst>
      <p:ext uri="{BB962C8B-B14F-4D97-AF65-F5344CB8AC3E}">
        <p14:creationId xmlns:p14="http://schemas.microsoft.com/office/powerpoint/2010/main" val="3393262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744" y="699103"/>
            <a:ext cx="9601196" cy="1303867"/>
          </a:xfrm>
        </p:spPr>
        <p:txBody>
          <a:bodyPr/>
          <a:lstStyle/>
          <a:p>
            <a:r>
              <a:rPr lang="en-US" dirty="0" smtClean="0"/>
              <a:t>Inheritable knowledge</a:t>
            </a:r>
            <a:endParaRPr lang="en-US" dirty="0"/>
          </a:p>
        </p:txBody>
      </p:sp>
      <p:sp>
        <p:nvSpPr>
          <p:cNvPr id="3" name="Content Placeholder 2"/>
          <p:cNvSpPr>
            <a:spLocks noGrp="1"/>
          </p:cNvSpPr>
          <p:nvPr>
            <p:ph idx="1"/>
          </p:nvPr>
        </p:nvSpPr>
        <p:spPr>
          <a:xfrm>
            <a:off x="881744" y="2556932"/>
            <a:ext cx="6825342" cy="3451982"/>
          </a:xfrm>
        </p:spPr>
        <p:txBody>
          <a:bodyPr>
            <a:normAutofit fontScale="92500"/>
          </a:bodyPr>
          <a:lstStyle/>
          <a:p>
            <a:r>
              <a:rPr lang="en-US" dirty="0" smtClean="0"/>
              <a:t>Here, all the data must be stored in a hierarchy of classes</a:t>
            </a:r>
          </a:p>
          <a:p>
            <a:r>
              <a:rPr lang="en-US" dirty="0" smtClean="0"/>
              <a:t>Inheritance property is applied whereby elements inherit values from other members of a class</a:t>
            </a:r>
          </a:p>
          <a:p>
            <a:r>
              <a:rPr lang="en-US" dirty="0" smtClean="0"/>
              <a:t>It shows the relation between an instance and class (instance relation)</a:t>
            </a:r>
          </a:p>
          <a:p>
            <a:r>
              <a:rPr lang="en-US" dirty="0" smtClean="0"/>
              <a:t>Every frame can represent the collection of attributes and its values</a:t>
            </a:r>
          </a:p>
          <a:p>
            <a:r>
              <a:rPr lang="en-US" dirty="0" smtClean="0"/>
              <a:t>Objects and values are represented in boxed nodes</a:t>
            </a:r>
            <a:endParaRPr lang="en-US" dirty="0"/>
          </a:p>
        </p:txBody>
      </p:sp>
      <p:pic>
        <p:nvPicPr>
          <p:cNvPr id="4" name="Picture 3"/>
          <p:cNvPicPr>
            <a:picLocks noChangeAspect="1"/>
          </p:cNvPicPr>
          <p:nvPr/>
        </p:nvPicPr>
        <p:blipFill>
          <a:blip r:embed="rId2"/>
          <a:stretch>
            <a:fillRect/>
          </a:stretch>
        </p:blipFill>
        <p:spPr>
          <a:xfrm>
            <a:off x="7956776" y="2216150"/>
            <a:ext cx="3724275" cy="4000500"/>
          </a:xfrm>
          <a:prstGeom prst="rect">
            <a:avLst/>
          </a:prstGeom>
        </p:spPr>
      </p:pic>
    </p:spTree>
    <p:extLst>
      <p:ext uri="{BB962C8B-B14F-4D97-AF65-F5344CB8AC3E}">
        <p14:creationId xmlns:p14="http://schemas.microsoft.com/office/powerpoint/2010/main" val="3580446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Inferential Knowledge</a:t>
            </a:r>
            <a:endParaRPr lang="en-US" dirty="0"/>
          </a:p>
        </p:txBody>
      </p:sp>
      <p:sp>
        <p:nvSpPr>
          <p:cNvPr id="3" name="Content Placeholder 2"/>
          <p:cNvSpPr>
            <a:spLocks noGrp="1"/>
          </p:cNvSpPr>
          <p:nvPr>
            <p:ph idx="1"/>
          </p:nvPr>
        </p:nvSpPr>
        <p:spPr/>
        <p:txBody>
          <a:bodyPr/>
          <a:lstStyle/>
          <a:p>
            <a:r>
              <a:rPr lang="en-US" dirty="0" smtClean="0"/>
              <a:t>This represents knowledge in the form of formal logic</a:t>
            </a:r>
          </a:p>
          <a:p>
            <a:r>
              <a:rPr lang="en-US" dirty="0" smtClean="0"/>
              <a:t>This approach can be used to derive more facts and guarantees correctness</a:t>
            </a:r>
          </a:p>
          <a:p>
            <a:r>
              <a:rPr lang="en-US" dirty="0" smtClean="0"/>
              <a:t>Example: Given two statements</a:t>
            </a:r>
          </a:p>
          <a:p>
            <a:pPr lvl="1"/>
            <a:r>
              <a:rPr lang="en-US" dirty="0" smtClean="0"/>
              <a:t>Sudanese are tall </a:t>
            </a:r>
          </a:p>
          <a:p>
            <a:pPr lvl="1"/>
            <a:r>
              <a:rPr lang="en-US" dirty="0" err="1" smtClean="0"/>
              <a:t>Akuec</a:t>
            </a:r>
            <a:r>
              <a:rPr lang="en-US" dirty="0" smtClean="0"/>
              <a:t> is Sudanese </a:t>
            </a:r>
            <a:br>
              <a:rPr lang="en-US" dirty="0" smtClean="0"/>
            </a:br>
            <a:r>
              <a:rPr lang="en-US" dirty="0" smtClean="0"/>
              <a:t>This is represented as:</a:t>
            </a:r>
          </a:p>
          <a:p>
            <a:pPr marL="457200" lvl="1" indent="0">
              <a:buNone/>
            </a:pPr>
            <a:r>
              <a:rPr lang="en-US" dirty="0" err="1" smtClean="0"/>
              <a:t>sudanese</a:t>
            </a:r>
            <a:r>
              <a:rPr lang="en-US" dirty="0" smtClean="0"/>
              <a:t>(</a:t>
            </a:r>
            <a:r>
              <a:rPr lang="en-US" dirty="0" err="1" smtClean="0"/>
              <a:t>Akuec</a:t>
            </a:r>
            <a:r>
              <a:rPr lang="en-US" dirty="0" smtClean="0"/>
              <a:t>)</a:t>
            </a:r>
          </a:p>
          <a:p>
            <a:pPr marL="457200" lvl="1" indent="0">
              <a:buNone/>
            </a:pPr>
            <a:endParaRPr lang="en-US" dirty="0"/>
          </a:p>
        </p:txBody>
      </p:sp>
      <p:pic>
        <p:nvPicPr>
          <p:cNvPr id="4" name="Picture 3"/>
          <p:cNvPicPr>
            <a:picLocks noChangeAspect="1"/>
          </p:cNvPicPr>
          <p:nvPr/>
        </p:nvPicPr>
        <p:blipFill>
          <a:blip r:embed="rId2"/>
          <a:stretch>
            <a:fillRect/>
          </a:stretch>
        </p:blipFill>
        <p:spPr>
          <a:xfrm>
            <a:off x="6286497" y="3821430"/>
            <a:ext cx="4610100" cy="1866900"/>
          </a:xfrm>
          <a:prstGeom prst="rect">
            <a:avLst/>
          </a:prstGeom>
        </p:spPr>
      </p:pic>
    </p:spTree>
    <p:extLst>
      <p:ext uri="{BB962C8B-B14F-4D97-AF65-F5344CB8AC3E}">
        <p14:creationId xmlns:p14="http://schemas.microsoft.com/office/powerpoint/2010/main" val="2019479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Procedural Knowledge</a:t>
            </a:r>
            <a:endParaRPr lang="en-US" dirty="0"/>
          </a:p>
        </p:txBody>
      </p:sp>
      <p:sp>
        <p:nvSpPr>
          <p:cNvPr id="3" name="Content Placeholder 2"/>
          <p:cNvSpPr>
            <a:spLocks noGrp="1"/>
          </p:cNvSpPr>
          <p:nvPr>
            <p:ph idx="1"/>
          </p:nvPr>
        </p:nvSpPr>
        <p:spPr/>
        <p:txBody>
          <a:bodyPr/>
          <a:lstStyle/>
          <a:p>
            <a:r>
              <a:rPr lang="en-US" dirty="0" smtClean="0"/>
              <a:t>This uses software programs and codes to describe HOW to do specific things</a:t>
            </a:r>
          </a:p>
          <a:p>
            <a:r>
              <a:rPr lang="en-US" dirty="0" smtClean="0"/>
              <a:t>This approach uses </a:t>
            </a:r>
            <a:r>
              <a:rPr lang="en-US" dirty="0"/>
              <a:t>the </a:t>
            </a:r>
            <a:r>
              <a:rPr lang="en-US" dirty="0" smtClean="0"/>
              <a:t> </a:t>
            </a:r>
            <a:r>
              <a:rPr lang="en-US" b="1" dirty="0"/>
              <a:t>If-Then</a:t>
            </a:r>
            <a:r>
              <a:rPr lang="en-US" dirty="0"/>
              <a:t> </a:t>
            </a:r>
            <a:r>
              <a:rPr lang="en-US" dirty="0" smtClean="0"/>
              <a:t>rule</a:t>
            </a:r>
          </a:p>
          <a:p>
            <a:r>
              <a:rPr lang="en-US" dirty="0" smtClean="0"/>
              <a:t>Example coding languages include LISP and Prolog languages</a:t>
            </a:r>
          </a:p>
          <a:p>
            <a:r>
              <a:rPr lang="en-US" dirty="0" smtClean="0"/>
              <a:t>We can easily represent heuristic </a:t>
            </a:r>
            <a:r>
              <a:rPr lang="en-US" dirty="0"/>
              <a:t>or </a:t>
            </a:r>
            <a:r>
              <a:rPr lang="en-US" dirty="0" smtClean="0"/>
              <a:t>domain-specific knowledge using this approach</a:t>
            </a:r>
          </a:p>
          <a:p>
            <a:r>
              <a:rPr lang="en-US" dirty="0" smtClean="0"/>
              <a:t>However, not necessary to represent all cases using this approach</a:t>
            </a:r>
            <a:endParaRPr lang="en-US" dirty="0"/>
          </a:p>
        </p:txBody>
      </p:sp>
    </p:spTree>
    <p:extLst>
      <p:ext uri="{BB962C8B-B14F-4D97-AF65-F5344CB8AC3E}">
        <p14:creationId xmlns:p14="http://schemas.microsoft.com/office/powerpoint/2010/main" val="968654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83921" y="386080"/>
            <a:ext cx="9601196" cy="1303867"/>
          </a:xfrm>
        </p:spPr>
        <p:txBody>
          <a:bodyPr>
            <a:normAutofit fontScale="90000"/>
          </a:bodyPr>
          <a:lstStyle/>
          <a:p>
            <a:r>
              <a:rPr lang="en-US" b="1" dirty="0"/>
              <a:t>Cycle of Knowledge Representation in AI</a:t>
            </a:r>
            <a:r>
              <a:rPr lang="en-US" dirty="0"/>
              <a:t/>
            </a:r>
            <a:br>
              <a:rPr lang="en-US" dirty="0"/>
            </a:br>
            <a:endParaRPr lang="en-US" dirty="0"/>
          </a:p>
        </p:txBody>
      </p:sp>
      <p:sp>
        <p:nvSpPr>
          <p:cNvPr id="3" name="Content Placeholder 2"/>
          <p:cNvSpPr>
            <a:spLocks noGrp="1"/>
          </p:cNvSpPr>
          <p:nvPr>
            <p:ph idx="1"/>
          </p:nvPr>
        </p:nvSpPr>
        <p:spPr>
          <a:xfrm>
            <a:off x="883921" y="1962572"/>
            <a:ext cx="9601196" cy="3318936"/>
          </a:xfrm>
        </p:spPr>
        <p:txBody>
          <a:bodyPr>
            <a:normAutofit lnSpcReduction="10000"/>
          </a:bodyPr>
          <a:lstStyle/>
          <a:p>
            <a:r>
              <a:rPr lang="en-US" dirty="0" smtClean="0"/>
              <a:t>AI Systems consist </a:t>
            </a:r>
            <a:r>
              <a:rPr lang="en-US" dirty="0"/>
              <a:t>of various components to display their intelligent behavior. Some of these components include:</a:t>
            </a:r>
          </a:p>
          <a:p>
            <a:r>
              <a:rPr lang="en-US" dirty="0"/>
              <a:t>Perception</a:t>
            </a:r>
          </a:p>
          <a:p>
            <a:r>
              <a:rPr lang="en-US" dirty="0"/>
              <a:t>Learning</a:t>
            </a:r>
          </a:p>
          <a:p>
            <a:r>
              <a:rPr lang="en-US" dirty="0"/>
              <a:t>Knowledge Representation &amp; Reasoning</a:t>
            </a:r>
          </a:p>
          <a:p>
            <a:r>
              <a:rPr lang="en-US" dirty="0"/>
              <a:t>Planning</a:t>
            </a:r>
          </a:p>
          <a:p>
            <a:r>
              <a:rPr lang="en-US" dirty="0"/>
              <a:t>Execution</a:t>
            </a:r>
          </a:p>
          <a:p>
            <a:endParaRPr lang="en-US" dirty="0"/>
          </a:p>
        </p:txBody>
      </p:sp>
      <p:pic>
        <p:nvPicPr>
          <p:cNvPr id="4" name="Picture 3"/>
          <p:cNvPicPr>
            <a:picLocks noChangeAspect="1"/>
          </p:cNvPicPr>
          <p:nvPr/>
        </p:nvPicPr>
        <p:blipFill>
          <a:blip r:embed="rId3"/>
          <a:stretch>
            <a:fillRect/>
          </a:stretch>
        </p:blipFill>
        <p:spPr>
          <a:xfrm>
            <a:off x="6162675" y="2823210"/>
            <a:ext cx="6029325" cy="4034790"/>
          </a:xfrm>
          <a:prstGeom prst="rect">
            <a:avLst/>
          </a:prstGeom>
        </p:spPr>
      </p:pic>
    </p:spTree>
    <p:extLst>
      <p:ext uri="{BB962C8B-B14F-4D97-AF65-F5344CB8AC3E}">
        <p14:creationId xmlns:p14="http://schemas.microsoft.com/office/powerpoint/2010/main" val="1952881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013" y="765810"/>
            <a:ext cx="10567567" cy="5737859"/>
          </a:xfrm>
          <a:prstGeom prst="rect">
            <a:avLst/>
          </a:prstGeom>
        </p:spPr>
      </p:pic>
    </p:spTree>
    <p:extLst>
      <p:ext uri="{BB962C8B-B14F-4D97-AF65-F5344CB8AC3E}">
        <p14:creationId xmlns:p14="http://schemas.microsoft.com/office/powerpoint/2010/main" val="2040564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Knowledge Representation </a:t>
            </a:r>
            <a:r>
              <a:rPr lang="en-US" b="1" dirty="0" smtClean="0"/>
              <a:t>Structures</a:t>
            </a:r>
            <a:endParaRPr lang="en-US" dirty="0"/>
          </a:p>
        </p:txBody>
      </p:sp>
      <p:sp>
        <p:nvSpPr>
          <p:cNvPr id="3" name="Content Placeholder 2"/>
          <p:cNvSpPr>
            <a:spLocks noGrp="1"/>
          </p:cNvSpPr>
          <p:nvPr>
            <p:ph idx="1"/>
          </p:nvPr>
        </p:nvSpPr>
        <p:spPr/>
        <p:txBody>
          <a:bodyPr>
            <a:normAutofit fontScale="92500"/>
          </a:bodyPr>
          <a:lstStyle/>
          <a:p>
            <a:r>
              <a:rPr lang="en-US" b="1" dirty="0"/>
              <a:t>Facts:</a:t>
            </a:r>
            <a:r>
              <a:rPr lang="en-US" dirty="0"/>
              <a:t> Simple statements about the world.</a:t>
            </a:r>
          </a:p>
          <a:p>
            <a:r>
              <a:rPr lang="en-US" b="1" dirty="0"/>
              <a:t>Rules:</a:t>
            </a:r>
            <a:r>
              <a:rPr lang="en-US" dirty="0"/>
              <a:t> Statements that specify relationships or conditions.</a:t>
            </a:r>
          </a:p>
          <a:p>
            <a:r>
              <a:rPr lang="en-US" b="1" dirty="0"/>
              <a:t>Frames:</a:t>
            </a:r>
            <a:r>
              <a:rPr lang="en-US" dirty="0"/>
              <a:t> Structures that organize knowledge about objects or concepts.</a:t>
            </a:r>
          </a:p>
          <a:p>
            <a:r>
              <a:rPr lang="en-US" b="1" dirty="0"/>
              <a:t>Semantic Networks:</a:t>
            </a:r>
            <a:r>
              <a:rPr lang="en-US" dirty="0"/>
              <a:t> Graph structures representing relationships between entities.</a:t>
            </a:r>
          </a:p>
          <a:p>
            <a:r>
              <a:rPr lang="en-US" b="1" dirty="0"/>
              <a:t>Ontologies:</a:t>
            </a:r>
            <a:r>
              <a:rPr lang="en-US" dirty="0"/>
              <a:t> Hierarchical structures defining concepts and their relationships.</a:t>
            </a:r>
          </a:p>
          <a:p>
            <a:r>
              <a:rPr lang="en-US" b="1" dirty="0"/>
              <a:t>Knowledge Graphs:</a:t>
            </a:r>
            <a:r>
              <a:rPr lang="en-US" dirty="0"/>
              <a:t> Graph databases that connect entities and their relationships.</a:t>
            </a:r>
          </a:p>
        </p:txBody>
      </p:sp>
    </p:spTree>
    <p:extLst>
      <p:ext uri="{BB962C8B-B14F-4D97-AF65-F5344CB8AC3E}">
        <p14:creationId xmlns:p14="http://schemas.microsoft.com/office/powerpoint/2010/main" val="3250879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lnSpcReduction="10000"/>
          </a:bodyPr>
          <a:lstStyle/>
          <a:p>
            <a:r>
              <a:rPr lang="en-US" dirty="0">
                <a:hlinkClick r:id="rId2"/>
              </a:rPr>
              <a:t>https://</a:t>
            </a:r>
            <a:r>
              <a:rPr lang="en-US" dirty="0" smtClean="0">
                <a:hlinkClick r:id="rId2"/>
              </a:rPr>
              <a:t>www.youtube.com/watch?v=OmOwj3qMdOY</a:t>
            </a:r>
            <a:endParaRPr lang="en-US" dirty="0" smtClean="0"/>
          </a:p>
          <a:p>
            <a:r>
              <a:rPr lang="en-US" dirty="0">
                <a:hlinkClick r:id="rId3"/>
              </a:rPr>
              <a:t>https://angeluriot.com/maze_solver</a:t>
            </a:r>
            <a:r>
              <a:rPr lang="en-US" dirty="0" smtClean="0">
                <a:hlinkClick r:id="rId3"/>
              </a:rPr>
              <a:t>/</a:t>
            </a:r>
            <a:endParaRPr lang="en-US" dirty="0" smtClean="0"/>
          </a:p>
          <a:p>
            <a:r>
              <a:rPr lang="en-US" dirty="0">
                <a:hlinkClick r:id="rId4"/>
              </a:rPr>
              <a:t>Top 5 Most Common Graph Algorithms for Coding Interviews (youtube.com)</a:t>
            </a:r>
            <a:endParaRPr lang="en-US" dirty="0" smtClean="0"/>
          </a:p>
          <a:p>
            <a:r>
              <a:rPr lang="en-US" dirty="0">
                <a:hlinkClick r:id="rId5"/>
              </a:rPr>
              <a:t>Breadth First Search (BFS): Visualized and Explained (youtube.com</a:t>
            </a:r>
            <a:r>
              <a:rPr lang="en-US" dirty="0" smtClean="0">
                <a:hlinkClick r:id="rId5"/>
              </a:rPr>
              <a:t>)</a:t>
            </a:r>
            <a:endParaRPr lang="en-US" dirty="0" smtClean="0"/>
          </a:p>
          <a:p>
            <a:r>
              <a:rPr lang="en-US" dirty="0">
                <a:hlinkClick r:id="rId6"/>
              </a:rPr>
              <a:t>Depth First Search (DFS) Explained: Algorithm, Examples, and Code (youtube.com</a:t>
            </a:r>
            <a:r>
              <a:rPr lang="en-US" dirty="0" smtClean="0">
                <a:hlinkClick r:id="rId6"/>
              </a:rPr>
              <a:t>)</a:t>
            </a:r>
            <a:endParaRPr lang="en-US" dirty="0" smtClean="0"/>
          </a:p>
          <a:p>
            <a:endParaRPr lang="en-US" dirty="0"/>
          </a:p>
        </p:txBody>
      </p:sp>
    </p:spTree>
    <p:extLst>
      <p:ext uri="{BB962C8B-B14F-4D97-AF65-F5344CB8AC3E}">
        <p14:creationId xmlns:p14="http://schemas.microsoft.com/office/powerpoint/2010/main" val="391128455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5680</TotalTime>
  <Words>1967</Words>
  <Application>Microsoft Office PowerPoint</Application>
  <PresentationFormat>Widescreen</PresentationFormat>
  <Paragraphs>169</Paragraphs>
  <Slides>28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Garamond</vt:lpstr>
      <vt:lpstr>Organic</vt:lpstr>
      <vt:lpstr>Knowledge Representation in AI</vt:lpstr>
      <vt:lpstr>Lesson objective</vt:lpstr>
      <vt:lpstr>Lesson Learning Outcomes</vt:lpstr>
      <vt:lpstr>PowerPoint Presentation</vt:lpstr>
      <vt:lpstr>PowerPoint Presentation</vt:lpstr>
      <vt:lpstr>PowerPoint Presentation</vt:lpstr>
      <vt:lpstr>HOW DO I KNOW?</vt:lpstr>
      <vt:lpstr>PowerPoint Presentation</vt:lpstr>
      <vt:lpstr>PowerPoint Presentation</vt:lpstr>
      <vt:lpstr>PowerPoint Presentation</vt:lpstr>
      <vt:lpstr>CONCEPTS for building AI</vt:lpstr>
      <vt:lpstr>What is Knowledge?</vt:lpstr>
      <vt:lpstr>What is knowledge representation? </vt:lpstr>
      <vt:lpstr>What to Represent</vt:lpstr>
      <vt:lpstr>Early Systems</vt:lpstr>
      <vt:lpstr>Recent Work</vt:lpstr>
      <vt:lpstr>Related work in reasoning</vt:lpstr>
      <vt:lpstr>PowerPoint Presentation</vt:lpstr>
      <vt:lpstr>PowerPoint Presentation</vt:lpstr>
      <vt:lpstr>Knowledge Representation Schemes</vt:lpstr>
      <vt:lpstr>Simple Relational Knowledge</vt:lpstr>
      <vt:lpstr>Inheritable knowledge</vt:lpstr>
      <vt:lpstr>Inferential Knowledge</vt:lpstr>
      <vt:lpstr>Procedural Knowledge</vt:lpstr>
      <vt:lpstr>Cycle of Knowledge Representation in AI </vt:lpstr>
      <vt:lpstr>PowerPoint Presentation</vt:lpstr>
      <vt:lpstr>Knowledge Representation Structures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Algorithms</dc:title>
  <dc:creator>Edward Ombui</dc:creator>
  <cp:lastModifiedBy>Edward Ombui</cp:lastModifiedBy>
  <cp:revision>77</cp:revision>
  <dcterms:created xsi:type="dcterms:W3CDTF">2024-01-27T08:55:54Z</dcterms:created>
  <dcterms:modified xsi:type="dcterms:W3CDTF">2025-06-09T07:47:01Z</dcterms:modified>
</cp:coreProperties>
</file>