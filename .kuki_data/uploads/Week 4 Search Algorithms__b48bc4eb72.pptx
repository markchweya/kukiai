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9"/>
  </p:notesMasterIdLst>
  <p:sldIdLst>
    <p:sldId id="256" r:id="rId2"/>
    <p:sldId id="262" r:id="rId3"/>
    <p:sldId id="257" r:id="rId4"/>
    <p:sldId id="268" r:id="rId5"/>
    <p:sldId id="258" r:id="rId6"/>
    <p:sldId id="272" r:id="rId7"/>
    <p:sldId id="270" r:id="rId8"/>
    <p:sldId id="273" r:id="rId9"/>
    <p:sldId id="274" r:id="rId10"/>
    <p:sldId id="275" r:id="rId11"/>
    <p:sldId id="271" r:id="rId12"/>
    <p:sldId id="259" r:id="rId13"/>
    <p:sldId id="264" r:id="rId14"/>
    <p:sldId id="265" r:id="rId15"/>
    <p:sldId id="276" r:id="rId16"/>
    <p:sldId id="278" r:id="rId17"/>
    <p:sldId id="277" r:id="rId18"/>
    <p:sldId id="279" r:id="rId19"/>
    <p:sldId id="280" r:id="rId20"/>
    <p:sldId id="281" r:id="rId21"/>
    <p:sldId id="266" r:id="rId22"/>
    <p:sldId id="282" r:id="rId23"/>
    <p:sldId id="283" r:id="rId24"/>
    <p:sldId id="267" r:id="rId25"/>
    <p:sldId id="260" r:id="rId26"/>
    <p:sldId id="263" r:id="rId27"/>
    <p:sldId id="261"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2653" autoAdjust="0"/>
  </p:normalViewPr>
  <p:slideViewPr>
    <p:cSldViewPr snapToGrid="0">
      <p:cViewPr varScale="1">
        <p:scale>
          <a:sx n="54" d="100"/>
          <a:sy n="54" d="100"/>
        </p:scale>
        <p:origin x="173"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AE9C55-8322-4A5B-9CFD-907B072CC03E}" type="datetimeFigureOut">
              <a:rPr lang="en-US" smtClean="0"/>
              <a:t>2/2/2024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7206E1-3AC3-48E6-87C4-B07D84DE850E}" type="slidenum">
              <a:rPr lang="en-US" smtClean="0"/>
              <a:t>‹#›</a:t>
            </a:fld>
            <a:endParaRPr lang="en-US"/>
          </a:p>
        </p:txBody>
      </p:sp>
    </p:spTree>
    <p:extLst>
      <p:ext uri="{BB962C8B-B14F-4D97-AF65-F5344CB8AC3E}">
        <p14:creationId xmlns:p14="http://schemas.microsoft.com/office/powerpoint/2010/main" val="9763964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Uninformed Search: Algorithms that are general purpose traversals of the state space or search tree without any information about how good a state is. These are also referred to as blind search algorithms.</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Informed Search: Algorithms that have information about the goal during the traversal, allowing the search to prioritize its expansion toward the goal state instead of exploring directions that may yield a favorable cost but don’t lead to the goal, or global optimum. By including extra rules that aid in estimating the location of the goal (known as heuristics) informed search algorithms can be more computationally efficient when searching for a path to the goal state.</a:t>
            </a:r>
          </a:p>
          <a:p>
            <a:endParaRPr lang="en-US" dirty="0"/>
          </a:p>
        </p:txBody>
      </p:sp>
      <p:sp>
        <p:nvSpPr>
          <p:cNvPr id="4" name="Slide Number Placeholder 3"/>
          <p:cNvSpPr>
            <a:spLocks noGrp="1"/>
          </p:cNvSpPr>
          <p:nvPr>
            <p:ph type="sldNum" sz="quarter" idx="10"/>
          </p:nvPr>
        </p:nvSpPr>
        <p:spPr/>
        <p:txBody>
          <a:bodyPr/>
          <a:lstStyle/>
          <a:p>
            <a:fld id="{F77206E1-3AC3-48E6-87C4-B07D84DE850E}" type="slidenum">
              <a:rPr lang="en-US" smtClean="0"/>
              <a:t>12</a:t>
            </a:fld>
            <a:endParaRPr lang="en-US"/>
          </a:p>
        </p:txBody>
      </p:sp>
    </p:spTree>
    <p:extLst>
      <p:ext uri="{BB962C8B-B14F-4D97-AF65-F5344CB8AC3E}">
        <p14:creationId xmlns:p14="http://schemas.microsoft.com/office/powerpoint/2010/main" val="33794187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Finding the Shortest Path between Two Points: </a:t>
            </a:r>
            <a:r>
              <a:rPr lang="en-US" sz="1200" b="0" i="0" kern="1200" dirty="0" smtClean="0">
                <a:solidFill>
                  <a:schemeClr val="tx1"/>
                </a:solidFill>
                <a:effectLst/>
                <a:latin typeface="+mn-lt"/>
                <a:ea typeface="+mn-ea"/>
                <a:cs typeface="+mn-cs"/>
              </a:rPr>
              <a:t>Whether it's navigating through a city or planning a delivery route, algorithms such as </a:t>
            </a:r>
            <a:r>
              <a:rPr lang="en-US" sz="1200" b="0" i="0" kern="1200" dirty="0" err="1" smtClean="0">
                <a:solidFill>
                  <a:schemeClr val="tx1"/>
                </a:solidFill>
                <a:effectLst/>
                <a:latin typeface="+mn-lt"/>
                <a:ea typeface="+mn-ea"/>
                <a:cs typeface="+mn-cs"/>
              </a:rPr>
              <a:t>Dijkstra's</a:t>
            </a:r>
            <a:r>
              <a:rPr lang="en-US" sz="1200" b="0" i="0" kern="1200" dirty="0" smtClean="0">
                <a:solidFill>
                  <a:schemeClr val="tx1"/>
                </a:solidFill>
                <a:effectLst/>
                <a:latin typeface="+mn-lt"/>
                <a:ea typeface="+mn-ea"/>
                <a:cs typeface="+mn-cs"/>
              </a:rPr>
              <a:t> algorithm or A* (A-star) can efficiently determine the optimal path. These algorithms explore the graph representation of the problem space, considering the cost associated with each path and gradually moving toward the destination. By leveraging these algorithms, we can save time, and resources, and improve efficiency in various transportation and logistics scenarios.</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Scheduling tasks efficiently is a critical challenge in many domains, such as project management or resource allocation. By formulating task scheduling as a search problem, we can employ search algorithms to find an optimal schedule that minimizes the overall completion time. These algorithms explore the search space of possible task sequences, considering factors such as dependencies, deadlines, and resource constraints. By incorporating techniques like constraint satisfaction or heuristic-based search, we can develop effective scheduling solutions tailored to specific contexts.</a:t>
            </a:r>
          </a:p>
          <a:p>
            <a:endParaRPr lang="en-US" dirty="0" smtClean="0"/>
          </a:p>
          <a:p>
            <a:r>
              <a:rPr lang="en-US" sz="1200" b="0" i="0" kern="1200" dirty="0" smtClean="0">
                <a:solidFill>
                  <a:schemeClr val="tx1"/>
                </a:solidFill>
                <a:effectLst/>
                <a:latin typeface="+mn-lt"/>
                <a:ea typeface="+mn-ea"/>
                <a:cs typeface="+mn-cs"/>
              </a:rPr>
              <a:t>Mazes, whether on paper or digital platforms, can be transformed into graph structures. Search algorithms prove invaluable in solving mazes by exploring paths and identifying the route from the starting point to the end. By applying algorithms like depth-first search (DFS) or breadth-first search (BFS), we can efficiently navigate through intricate mazes, map out the solution, and uncover hidden paths. This technique finds applications in areas such as game design, automated robotic navigation, and architectural planning.</a:t>
            </a:r>
            <a:endParaRPr lang="en-US" dirty="0"/>
          </a:p>
        </p:txBody>
      </p:sp>
      <p:sp>
        <p:nvSpPr>
          <p:cNvPr id="4" name="Slide Number Placeholder 3"/>
          <p:cNvSpPr>
            <a:spLocks noGrp="1"/>
          </p:cNvSpPr>
          <p:nvPr>
            <p:ph type="sldNum" sz="quarter" idx="10"/>
          </p:nvPr>
        </p:nvSpPr>
        <p:spPr/>
        <p:txBody>
          <a:bodyPr/>
          <a:lstStyle/>
          <a:p>
            <a:fld id="{F77206E1-3AC3-48E6-87C4-B07D84DE850E}" type="slidenum">
              <a:rPr lang="en-US" smtClean="0"/>
              <a:t>25</a:t>
            </a:fld>
            <a:endParaRPr lang="en-US"/>
          </a:p>
        </p:txBody>
      </p:sp>
    </p:spTree>
    <p:extLst>
      <p:ext uri="{BB962C8B-B14F-4D97-AF65-F5344CB8AC3E}">
        <p14:creationId xmlns:p14="http://schemas.microsoft.com/office/powerpoint/2010/main" val="292898872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2/2/2024</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2/2/2024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2/2/2024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2/2/2024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2/2/2024</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3" Type="http://schemas.openxmlformats.org/officeDocument/2006/relationships/hyperlink" Target="https://angeluriot.com/maze_solver/" TargetMode="External"/><Relationship Id="rId2" Type="http://schemas.openxmlformats.org/officeDocument/2006/relationships/hyperlink" Target="https://www.youtube.com/watch?v=OmOwj3qMdOY" TargetMode="External"/><Relationship Id="rId1" Type="http://schemas.openxmlformats.org/officeDocument/2006/relationships/slideLayout" Target="../slideLayouts/slideLayout2.xml"/><Relationship Id="rId6" Type="http://schemas.openxmlformats.org/officeDocument/2006/relationships/hyperlink" Target="https://www.youtube.com/watch?v=PMMc4VsIacU" TargetMode="External"/><Relationship Id="rId5" Type="http://schemas.openxmlformats.org/officeDocument/2006/relationships/hyperlink" Target="https://www.youtube.com/watch?v=xlVX7dXLS64" TargetMode="External"/><Relationship Id="rId4" Type="http://schemas.openxmlformats.org/officeDocument/2006/relationships/hyperlink" Target="https://www.youtube.com/watch?v=utDu3Q7Flrw"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Search Algorithms</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98084927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Lesson Learning Outcomes</a:t>
            </a:r>
            <a:endParaRPr lang="en-US" dirty="0"/>
          </a:p>
        </p:txBody>
      </p:sp>
      <p:sp>
        <p:nvSpPr>
          <p:cNvPr id="3" name="Content Placeholder 2"/>
          <p:cNvSpPr>
            <a:spLocks noGrp="1"/>
          </p:cNvSpPr>
          <p:nvPr>
            <p:ph idx="1"/>
          </p:nvPr>
        </p:nvSpPr>
        <p:spPr/>
        <p:txBody>
          <a:bodyPr/>
          <a:lstStyle/>
          <a:p>
            <a:r>
              <a:rPr lang="en-US" dirty="0" smtClean="0"/>
              <a:t>Differentiate between uninformed and informed search algorithms</a:t>
            </a:r>
          </a:p>
          <a:p>
            <a:r>
              <a:rPr lang="en-US" dirty="0" smtClean="0"/>
              <a:t>Discuss the characteristics, advantages and limitations of each type of search algorithm</a:t>
            </a:r>
          </a:p>
          <a:p>
            <a:r>
              <a:rPr lang="en-US" dirty="0"/>
              <a:t>A</a:t>
            </a:r>
            <a:r>
              <a:rPr lang="en-US" dirty="0" smtClean="0"/>
              <a:t>nalyze </a:t>
            </a:r>
            <a:r>
              <a:rPr lang="en-US" dirty="0"/>
              <a:t>and identify appropriate search algorithms for specific problem-solving scenarios in the context of artificial intelligence</a:t>
            </a:r>
            <a:r>
              <a:rPr lang="en-US" dirty="0" smtClean="0"/>
              <a:t>.</a:t>
            </a:r>
          </a:p>
          <a:p>
            <a:r>
              <a:rPr lang="en-US" dirty="0"/>
              <a:t>A</a:t>
            </a:r>
            <a:r>
              <a:rPr lang="en-US" dirty="0" smtClean="0"/>
              <a:t>pply </a:t>
            </a:r>
            <a:r>
              <a:rPr lang="en-US" dirty="0"/>
              <a:t>search algorithms to solve real-world problems</a:t>
            </a:r>
          </a:p>
        </p:txBody>
      </p:sp>
    </p:spTree>
    <p:extLst>
      <p:ext uri="{BB962C8B-B14F-4D97-AF65-F5344CB8AC3E}">
        <p14:creationId xmlns:p14="http://schemas.microsoft.com/office/powerpoint/2010/main" val="288962364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Lesson objectives</a:t>
            </a:r>
            <a:endParaRPr lang="en-US" dirty="0"/>
          </a:p>
        </p:txBody>
      </p:sp>
      <p:sp>
        <p:nvSpPr>
          <p:cNvPr id="3" name="Content Placeholder 2"/>
          <p:cNvSpPr>
            <a:spLocks noGrp="1"/>
          </p:cNvSpPr>
          <p:nvPr>
            <p:ph idx="1"/>
          </p:nvPr>
        </p:nvSpPr>
        <p:spPr>
          <a:xfrm>
            <a:off x="942975" y="2556932"/>
            <a:ext cx="10572750" cy="3318936"/>
          </a:xfrm>
        </p:spPr>
        <p:txBody>
          <a:bodyPr/>
          <a:lstStyle/>
          <a:p>
            <a:r>
              <a:rPr lang="en-US" dirty="0" smtClean="0"/>
              <a:t>Define the importance of search algorithms in AI for problem </a:t>
            </a:r>
            <a:r>
              <a:rPr lang="en-US" dirty="0" smtClean="0"/>
              <a:t>solving</a:t>
            </a:r>
          </a:p>
          <a:p>
            <a:r>
              <a:rPr lang="en-US" dirty="0" smtClean="0"/>
              <a:t>Types </a:t>
            </a:r>
            <a:r>
              <a:rPr lang="en-US" dirty="0" smtClean="0"/>
              <a:t>of search algorithms</a:t>
            </a:r>
          </a:p>
          <a:p>
            <a:r>
              <a:rPr lang="en-US" dirty="0" smtClean="0"/>
              <a:t>Exploration vs Exploitation</a:t>
            </a:r>
            <a:endParaRPr lang="en-US" dirty="0"/>
          </a:p>
        </p:txBody>
      </p:sp>
    </p:spTree>
    <p:extLst>
      <p:ext uri="{BB962C8B-B14F-4D97-AF65-F5344CB8AC3E}">
        <p14:creationId xmlns:p14="http://schemas.microsoft.com/office/powerpoint/2010/main" val="9600651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Problem-solving agents</a:t>
            </a:r>
          </a:p>
        </p:txBody>
      </p:sp>
      <p:sp>
        <p:nvSpPr>
          <p:cNvPr id="3" name="Content Placeholder 2"/>
          <p:cNvSpPr>
            <a:spLocks noGrp="1"/>
          </p:cNvSpPr>
          <p:nvPr>
            <p:ph idx="1"/>
          </p:nvPr>
        </p:nvSpPr>
        <p:spPr>
          <a:xfrm>
            <a:off x="1295401" y="2556932"/>
            <a:ext cx="10063162" cy="3318936"/>
          </a:xfrm>
        </p:spPr>
        <p:txBody>
          <a:bodyPr>
            <a:normAutofit/>
          </a:bodyPr>
          <a:lstStyle/>
          <a:p>
            <a:r>
              <a:rPr lang="en-US" dirty="0" smtClean="0"/>
              <a:t>Search </a:t>
            </a:r>
            <a:r>
              <a:rPr lang="en-US" dirty="0"/>
              <a:t>techniques are universal problem-solving methods.</a:t>
            </a:r>
            <a:endParaRPr lang="en-US" dirty="0" smtClean="0"/>
          </a:p>
          <a:p>
            <a:r>
              <a:rPr lang="en-US" dirty="0"/>
              <a:t> </a:t>
            </a:r>
            <a:r>
              <a:rPr lang="en-US" b="1" dirty="0"/>
              <a:t>Rational agents</a:t>
            </a:r>
            <a:r>
              <a:rPr lang="en-US" dirty="0"/>
              <a:t> or </a:t>
            </a:r>
            <a:r>
              <a:rPr lang="en-US" b="1" dirty="0"/>
              <a:t>Problem-solving agents</a:t>
            </a:r>
            <a:r>
              <a:rPr lang="en-US" dirty="0"/>
              <a:t> in AI mostly </a:t>
            </a:r>
            <a:r>
              <a:rPr lang="en-US" dirty="0" smtClean="0"/>
              <a:t>use </a:t>
            </a:r>
            <a:r>
              <a:rPr lang="en-US" dirty="0"/>
              <a:t>these search strategies or algorithms to solve a specific problem and provide the best result. </a:t>
            </a:r>
            <a:endParaRPr lang="en-US" dirty="0" smtClean="0"/>
          </a:p>
          <a:p>
            <a:r>
              <a:rPr lang="en-US" dirty="0" smtClean="0"/>
              <a:t>Problem-solving </a:t>
            </a:r>
            <a:r>
              <a:rPr lang="en-US" dirty="0"/>
              <a:t>agents are the goal-based agents and use atomic representation</a:t>
            </a:r>
            <a:r>
              <a:rPr lang="en-US" dirty="0" smtClean="0"/>
              <a:t>.</a:t>
            </a:r>
          </a:p>
        </p:txBody>
      </p:sp>
    </p:spTree>
    <p:extLst>
      <p:ext uri="{BB962C8B-B14F-4D97-AF65-F5344CB8AC3E}">
        <p14:creationId xmlns:p14="http://schemas.microsoft.com/office/powerpoint/2010/main" val="41707720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115050" y="1272647"/>
            <a:ext cx="6076950" cy="3381375"/>
          </a:xfrm>
          <a:prstGeom prst="rect">
            <a:avLst/>
          </a:prstGeom>
        </p:spPr>
      </p:pic>
      <p:sp>
        <p:nvSpPr>
          <p:cNvPr id="2" name="Title 1"/>
          <p:cNvSpPr>
            <a:spLocks noGrp="1"/>
          </p:cNvSpPr>
          <p:nvPr>
            <p:ph type="title"/>
          </p:nvPr>
        </p:nvSpPr>
        <p:spPr>
          <a:xfrm>
            <a:off x="266702" y="0"/>
            <a:ext cx="9601196" cy="1303867"/>
          </a:xfrm>
        </p:spPr>
        <p:txBody>
          <a:bodyPr/>
          <a:lstStyle/>
          <a:p>
            <a:r>
              <a:rPr lang="en-US" dirty="0" smtClean="0"/>
              <a:t>What is a Search Algorithm?</a:t>
            </a:r>
            <a:endParaRPr lang="en-US" dirty="0"/>
          </a:p>
        </p:txBody>
      </p:sp>
      <p:sp>
        <p:nvSpPr>
          <p:cNvPr id="3" name="Content Placeholder 2"/>
          <p:cNvSpPr>
            <a:spLocks noGrp="1"/>
          </p:cNvSpPr>
          <p:nvPr>
            <p:ph idx="1"/>
          </p:nvPr>
        </p:nvSpPr>
        <p:spPr>
          <a:xfrm>
            <a:off x="0" y="1546754"/>
            <a:ext cx="6534148" cy="5311246"/>
          </a:xfrm>
        </p:spPr>
        <p:txBody>
          <a:bodyPr>
            <a:normAutofit fontScale="92500" lnSpcReduction="10000"/>
          </a:bodyPr>
          <a:lstStyle/>
          <a:p>
            <a:r>
              <a:rPr lang="en-US" dirty="0"/>
              <a:t>A search algorithm is a </a:t>
            </a:r>
            <a:r>
              <a:rPr lang="en-US" dirty="0" smtClean="0"/>
              <a:t>kind </a:t>
            </a:r>
            <a:r>
              <a:rPr lang="en-US" dirty="0"/>
              <a:t>of algorithm used in artificial intelligence </a:t>
            </a:r>
            <a:r>
              <a:rPr lang="en-US" dirty="0" smtClean="0"/>
              <a:t>that </a:t>
            </a:r>
            <a:r>
              <a:rPr lang="en-US" dirty="0"/>
              <a:t>explores a set of potential solutions, also known as a </a:t>
            </a:r>
            <a:r>
              <a:rPr lang="en-US" dirty="0">
                <a:solidFill>
                  <a:srgbClr val="FF0000"/>
                </a:solidFill>
              </a:rPr>
              <a:t>search space</a:t>
            </a:r>
            <a:r>
              <a:rPr lang="en-US" dirty="0"/>
              <a:t>, in order to discover the best or most optimum solution to a problem. </a:t>
            </a:r>
            <a:endParaRPr lang="en-US" dirty="0" smtClean="0"/>
          </a:p>
          <a:p>
            <a:r>
              <a:rPr lang="en-US" dirty="0" smtClean="0"/>
              <a:t>To </a:t>
            </a:r>
            <a:r>
              <a:rPr lang="en-US" dirty="0"/>
              <a:t>identify the optimum answer for a given set of constraints, a search algorithm sorts through a vast number of options</a:t>
            </a:r>
            <a:r>
              <a:rPr lang="en-US" dirty="0" smtClean="0"/>
              <a:t>.</a:t>
            </a:r>
          </a:p>
          <a:p>
            <a:r>
              <a:rPr lang="en-US" dirty="0"/>
              <a:t>Generally, search algorithms work by arranging the search space into a specific kind of graph, which is usually a tree, and then calculating the optimal score, or cost, of going through each branch of the tree. </a:t>
            </a:r>
            <a:endParaRPr lang="en-US" dirty="0" smtClean="0"/>
          </a:p>
          <a:p>
            <a:r>
              <a:rPr lang="en-US" dirty="0" smtClean="0"/>
              <a:t>A </a:t>
            </a:r>
            <a:r>
              <a:rPr lang="en-US" dirty="0"/>
              <a:t>path that maximizes the cost within the constraints of the implemented method from the start state to the goal state is called a </a:t>
            </a:r>
            <a:r>
              <a:rPr lang="en-US" dirty="0">
                <a:solidFill>
                  <a:srgbClr val="FF0000"/>
                </a:solidFill>
              </a:rPr>
              <a:t>solution</a:t>
            </a:r>
            <a:r>
              <a:rPr lang="en-US" dirty="0"/>
              <a:t>.</a:t>
            </a:r>
          </a:p>
          <a:p>
            <a:endParaRPr lang="en-US" dirty="0"/>
          </a:p>
        </p:txBody>
      </p:sp>
    </p:spTree>
    <p:extLst>
      <p:ext uri="{BB962C8B-B14F-4D97-AF65-F5344CB8AC3E}">
        <p14:creationId xmlns:p14="http://schemas.microsoft.com/office/powerpoint/2010/main" val="30617507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5602" name="Title 1"/>
          <p:cNvSpPr>
            <a:spLocks noGrp="1"/>
          </p:cNvSpPr>
          <p:nvPr>
            <p:ph type="title"/>
          </p:nvPr>
        </p:nvSpPr>
        <p:spPr>
          <a:xfrm>
            <a:off x="2286000" y="1"/>
            <a:ext cx="7958138" cy="1281113"/>
          </a:xfrm>
        </p:spPr>
        <p:txBody>
          <a:bodyPr/>
          <a:lstStyle/>
          <a:p>
            <a:pPr eaLnBrk="1" hangingPunct="1"/>
            <a:r>
              <a:rPr lang="en-US" altLang="en-US" smtClean="0"/>
              <a:t>Components of a Search Problem</a:t>
            </a:r>
          </a:p>
        </p:txBody>
      </p:sp>
      <p:sp>
        <p:nvSpPr>
          <p:cNvPr id="3" name="Content Placeholder 2"/>
          <p:cNvSpPr>
            <a:spLocks noGrp="1"/>
          </p:cNvSpPr>
          <p:nvPr>
            <p:ph idx="1"/>
          </p:nvPr>
        </p:nvSpPr>
        <p:spPr>
          <a:xfrm>
            <a:off x="671513" y="1133474"/>
            <a:ext cx="11144250" cy="5553075"/>
          </a:xfrm>
        </p:spPr>
        <p:txBody>
          <a:bodyPr>
            <a:normAutofit fontScale="92500" lnSpcReduction="20000"/>
          </a:bodyPr>
          <a:lstStyle/>
          <a:p>
            <a:pPr eaLnBrk="1" hangingPunct="1"/>
            <a:r>
              <a:rPr lang="en-US" altLang="en-US" b="1" dirty="0" smtClean="0"/>
              <a:t>State/Search </a:t>
            </a:r>
            <a:r>
              <a:rPr lang="en-US" altLang="en-US" b="1" dirty="0" smtClean="0"/>
              <a:t>Space</a:t>
            </a:r>
          </a:p>
          <a:p>
            <a:pPr lvl="1" eaLnBrk="1" hangingPunct="1"/>
            <a:r>
              <a:rPr lang="en-US" altLang="en-US" dirty="0" smtClean="0"/>
              <a:t>The set of all possible states the system can be in. Each state represents a specific configuration or situation of the problem</a:t>
            </a:r>
          </a:p>
          <a:p>
            <a:pPr eaLnBrk="1" hangingPunct="1"/>
            <a:r>
              <a:rPr lang="en-US" altLang="en-US" b="1" dirty="0" smtClean="0"/>
              <a:t>Initial/Start </a:t>
            </a:r>
            <a:r>
              <a:rPr lang="en-US" altLang="en-US" b="1" dirty="0" smtClean="0"/>
              <a:t>State</a:t>
            </a:r>
          </a:p>
          <a:p>
            <a:pPr lvl="1"/>
            <a:r>
              <a:rPr lang="en-US" dirty="0"/>
              <a:t>It is a state from where an agent begins </a:t>
            </a:r>
            <a:r>
              <a:rPr lang="en-US" b="1" dirty="0"/>
              <a:t>the search</a:t>
            </a:r>
            <a:r>
              <a:rPr lang="en-US" altLang="en-US" dirty="0" smtClean="0"/>
              <a:t>. </a:t>
            </a:r>
            <a:endParaRPr lang="en-US" altLang="en-US" dirty="0" smtClean="0"/>
          </a:p>
          <a:p>
            <a:pPr eaLnBrk="1" hangingPunct="1"/>
            <a:r>
              <a:rPr lang="en-US" altLang="en-US" b="1" dirty="0" smtClean="0"/>
              <a:t>Goal State</a:t>
            </a:r>
          </a:p>
          <a:p>
            <a:pPr lvl="1" eaLnBrk="1" hangingPunct="1"/>
            <a:r>
              <a:rPr lang="en-US" altLang="en-US" dirty="0" smtClean="0"/>
              <a:t>The desired state/condition that the system aims to reach. The objective of the search is to find a sequence of actions that lead from initial state to the goal state</a:t>
            </a:r>
          </a:p>
          <a:p>
            <a:pPr eaLnBrk="1" hangingPunct="1"/>
            <a:r>
              <a:rPr lang="en-US" altLang="en-US" b="1" dirty="0" smtClean="0"/>
              <a:t>Operators/Actions</a:t>
            </a:r>
          </a:p>
          <a:p>
            <a:pPr lvl="1" eaLnBrk="1" hangingPunct="1"/>
            <a:r>
              <a:rPr lang="en-US" altLang="en-US" dirty="0" smtClean="0"/>
              <a:t>The set of actions or operators that the system can perform to transition from one state to another. (building blocks of the search process)</a:t>
            </a:r>
          </a:p>
          <a:p>
            <a:pPr eaLnBrk="1" hangingPunct="1"/>
            <a:r>
              <a:rPr lang="en-US" altLang="en-US" b="1" dirty="0" smtClean="0"/>
              <a:t>Transition model</a:t>
            </a:r>
          </a:p>
          <a:p>
            <a:pPr lvl="1" eaLnBrk="1" hangingPunct="1"/>
            <a:r>
              <a:rPr lang="en-US" altLang="en-US" dirty="0" smtClean="0"/>
              <a:t>Describes how the system moves from one state to another when a specific action is applied.</a:t>
            </a:r>
          </a:p>
          <a:p>
            <a:pPr eaLnBrk="1" hangingPunct="1"/>
            <a:r>
              <a:rPr lang="en-US" altLang="en-US" b="1" dirty="0" smtClean="0"/>
              <a:t>Path Cost</a:t>
            </a:r>
          </a:p>
          <a:p>
            <a:pPr lvl="1" eaLnBrk="1" hangingPunct="1"/>
            <a:r>
              <a:rPr lang="en-US" altLang="en-US" dirty="0" smtClean="0"/>
              <a:t>The cost associated with taking a specific path. The goal is to find the path with minimum cost</a:t>
            </a:r>
          </a:p>
        </p:txBody>
      </p:sp>
      <p:sp>
        <p:nvSpPr>
          <p:cNvPr id="25604" name="Slide Number Placeholder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43DD61C0-2579-4598-97B5-BBA6BAC9A7B2}" type="slidenum">
              <a:rPr lang="en-US" altLang="en-US" smtClean="0">
                <a:solidFill>
                  <a:srgbClr val="FEFFFF"/>
                </a:solidFill>
              </a:rPr>
              <a:pPr/>
              <a:t>6</a:t>
            </a:fld>
            <a:endParaRPr lang="en-US" altLang="en-US" smtClean="0">
              <a:solidFill>
                <a:srgbClr val="FEFFFF"/>
              </a:solidFill>
            </a:endParaRPr>
          </a:p>
        </p:txBody>
      </p:sp>
    </p:spTree>
    <p:extLst>
      <p:ext uri="{BB962C8B-B14F-4D97-AF65-F5344CB8AC3E}">
        <p14:creationId xmlns:p14="http://schemas.microsoft.com/office/powerpoint/2010/main" val="19989133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left)">
                                      <p:cBhvr>
                                        <p:cTn id="10" dur="500"/>
                                        <p:tgtEl>
                                          <p:spTgt spid="3">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left)">
                                      <p:cBhvr>
                                        <p:cTn id="18" dur="500"/>
                                        <p:tgtEl>
                                          <p:spTgt spid="3">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wipe(left)">
                                      <p:cBhvr>
                                        <p:cTn id="26" dur="500"/>
                                        <p:tgtEl>
                                          <p:spTgt spid="3">
                                            <p:txEl>
                                              <p:pRg st="5" end="5"/>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wipe(left)">
                                      <p:cBhvr>
                                        <p:cTn id="31" dur="500"/>
                                        <p:tgtEl>
                                          <p:spTgt spid="3">
                                            <p:txEl>
                                              <p:pRg st="6" end="6"/>
                                            </p:txEl>
                                          </p:spTgt>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wipe(left)">
                                      <p:cBhvr>
                                        <p:cTn id="34" dur="500"/>
                                        <p:tgtEl>
                                          <p:spTgt spid="3">
                                            <p:txEl>
                                              <p:pRg st="7" end="7"/>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wipe(left)">
                                      <p:cBhvr>
                                        <p:cTn id="39" dur="500"/>
                                        <p:tgtEl>
                                          <p:spTgt spid="3">
                                            <p:txEl>
                                              <p:pRg st="8" end="8"/>
                                            </p:txEl>
                                          </p:spTgt>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wipe(left)">
                                      <p:cBhvr>
                                        <p:cTn id="42" dur="500"/>
                                        <p:tgtEl>
                                          <p:spTgt spid="3">
                                            <p:txEl>
                                              <p:pRg st="9" end="9"/>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wipe(left)">
                                      <p:cBhvr>
                                        <p:cTn id="47" dur="500"/>
                                        <p:tgtEl>
                                          <p:spTgt spid="3">
                                            <p:txEl>
                                              <p:pRg st="10" end="10"/>
                                            </p:txEl>
                                          </p:spTgt>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3">
                                            <p:txEl>
                                              <p:pRg st="11" end="11"/>
                                            </p:txEl>
                                          </p:spTgt>
                                        </p:tgtEl>
                                        <p:attrNameLst>
                                          <p:attrName>style.visibility</p:attrName>
                                        </p:attrNameLst>
                                      </p:cBhvr>
                                      <p:to>
                                        <p:strVal val="visible"/>
                                      </p:to>
                                    </p:set>
                                    <p:animEffect transition="in" filter="wipe(left)">
                                      <p:cBhvr>
                                        <p:cTn id="50"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Terms</a:t>
            </a:r>
            <a:endParaRPr lang="en-US" dirty="0"/>
          </a:p>
        </p:txBody>
      </p:sp>
      <p:sp>
        <p:nvSpPr>
          <p:cNvPr id="3" name="Content Placeholder 2"/>
          <p:cNvSpPr>
            <a:spLocks noGrp="1"/>
          </p:cNvSpPr>
          <p:nvPr>
            <p:ph idx="1"/>
          </p:nvPr>
        </p:nvSpPr>
        <p:spPr>
          <a:xfrm>
            <a:off x="928684" y="2556932"/>
            <a:ext cx="10872787" cy="3318936"/>
          </a:xfrm>
        </p:spPr>
        <p:txBody>
          <a:bodyPr>
            <a:normAutofit fontScale="92500" lnSpcReduction="10000"/>
          </a:bodyPr>
          <a:lstStyle/>
          <a:p>
            <a:r>
              <a:rPr lang="en-US" b="1" dirty="0"/>
              <a:t>Search tree:</a:t>
            </a:r>
            <a:r>
              <a:rPr lang="en-US" dirty="0"/>
              <a:t> A tree representation of search </a:t>
            </a:r>
            <a:r>
              <a:rPr lang="en-US" dirty="0" smtClean="0"/>
              <a:t>problem. </a:t>
            </a:r>
            <a:r>
              <a:rPr lang="en-US" dirty="0"/>
              <a:t>The root of the search tree is the root node which is corresponding to the initial state</a:t>
            </a:r>
            <a:r>
              <a:rPr lang="en-US" dirty="0" smtClean="0"/>
              <a:t>.</a:t>
            </a:r>
          </a:p>
          <a:p>
            <a:r>
              <a:rPr lang="en-US" altLang="en-US" dirty="0"/>
              <a:t>Time and space complexity are measured </a:t>
            </a:r>
            <a:r>
              <a:rPr lang="en-US" altLang="en-US" dirty="0" smtClean="0"/>
              <a:t>in</a:t>
            </a:r>
            <a:endParaRPr lang="en-US" dirty="0"/>
          </a:p>
          <a:p>
            <a:pPr lvl="1"/>
            <a:r>
              <a:rPr lang="en-US" dirty="0"/>
              <a:t>‘</a:t>
            </a:r>
            <a:r>
              <a:rPr lang="en-US" b="1" dirty="0"/>
              <a:t>b</a:t>
            </a:r>
            <a:r>
              <a:rPr lang="en-US" dirty="0"/>
              <a:t>‘ – maximum branching factor </a:t>
            </a:r>
            <a:r>
              <a:rPr lang="en-US" dirty="0" smtClean="0"/>
              <a:t>of the search tree</a:t>
            </a:r>
            <a:r>
              <a:rPr lang="en-US" dirty="0"/>
              <a:t>.</a:t>
            </a:r>
          </a:p>
          <a:p>
            <a:pPr lvl="1"/>
            <a:r>
              <a:rPr lang="en-US" dirty="0"/>
              <a:t>‘</a:t>
            </a:r>
            <a:r>
              <a:rPr lang="en-US" b="1" dirty="0"/>
              <a:t>d</a:t>
            </a:r>
            <a:r>
              <a:rPr lang="en-US" dirty="0"/>
              <a:t>‘ – the depth of the least-cost solution.</a:t>
            </a:r>
          </a:p>
          <a:p>
            <a:pPr lvl="1"/>
            <a:r>
              <a:rPr lang="en-US" dirty="0"/>
              <a:t>‘</a:t>
            </a:r>
            <a:r>
              <a:rPr lang="en-US" b="1" dirty="0"/>
              <a:t>m</a:t>
            </a:r>
            <a:r>
              <a:rPr lang="en-US" dirty="0"/>
              <a:t>‘ – maximum depth </a:t>
            </a:r>
            <a:r>
              <a:rPr lang="en-US" dirty="0" smtClean="0"/>
              <a:t>of the state </a:t>
            </a:r>
            <a:r>
              <a:rPr lang="en-US" dirty="0"/>
              <a:t>space(maybe infinity</a:t>
            </a:r>
            <a:r>
              <a:rPr lang="en-US" dirty="0" smtClean="0"/>
              <a:t>)</a:t>
            </a:r>
            <a:endParaRPr lang="en-US" b="1" dirty="0"/>
          </a:p>
          <a:p>
            <a:r>
              <a:rPr lang="en-US" b="1" dirty="0" smtClean="0"/>
              <a:t>Solution</a:t>
            </a:r>
            <a:r>
              <a:rPr lang="en-US" b="1" dirty="0"/>
              <a:t>:</a:t>
            </a:r>
            <a:r>
              <a:rPr lang="en-US" dirty="0"/>
              <a:t> It is an action sequence which leads from the start node to the goal node.</a:t>
            </a:r>
          </a:p>
          <a:p>
            <a:r>
              <a:rPr lang="en-US" b="1" dirty="0"/>
              <a:t>Optimal Solution:</a:t>
            </a:r>
            <a:r>
              <a:rPr lang="en-US" dirty="0"/>
              <a:t> If a solution has the lowest cost among all solutions</a:t>
            </a:r>
            <a:r>
              <a:rPr lang="en-US" dirty="0" smtClean="0"/>
              <a:t>.</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43846" y="981074"/>
            <a:ext cx="3857625" cy="2609850"/>
          </a:xfrm>
          <a:prstGeom prst="rect">
            <a:avLst/>
          </a:prstGeom>
        </p:spPr>
      </p:pic>
    </p:spTree>
    <p:extLst>
      <p:ext uri="{BB962C8B-B14F-4D97-AF65-F5344CB8AC3E}">
        <p14:creationId xmlns:p14="http://schemas.microsoft.com/office/powerpoint/2010/main" val="835927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arn(inVertical)">
                                      <p:cBhvr>
                                        <p:cTn id="15" dur="500"/>
                                        <p:tgtEl>
                                          <p:spTgt spid="3">
                                            <p:txEl>
                                              <p:pRg st="2" end="2"/>
                                            </p:txEl>
                                          </p:spTgt>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barn(inVertical)">
                                      <p:cBhvr>
                                        <p:cTn id="18" dur="500"/>
                                        <p:tgtEl>
                                          <p:spTgt spid="3">
                                            <p:txEl>
                                              <p:pRg st="3" end="3"/>
                                            </p:txEl>
                                          </p:spTgt>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barn(inVertical)">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barn(inVertical)">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barn(inVertical)">
                                      <p:cBhvr>
                                        <p:cTn id="31"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1962149" y="1009650"/>
            <a:ext cx="9053513" cy="1281112"/>
          </a:xfrm>
        </p:spPr>
        <p:txBody>
          <a:bodyPr>
            <a:normAutofit fontScale="90000"/>
          </a:bodyPr>
          <a:lstStyle/>
          <a:p>
            <a:pPr eaLnBrk="1" hangingPunct="1"/>
            <a:r>
              <a:rPr lang="en-US" altLang="en-US" dirty="0" smtClean="0"/>
              <a:t>ROBOTIC LAWN MOWER PROBLEM</a:t>
            </a:r>
          </a:p>
        </p:txBody>
      </p:sp>
      <p:sp>
        <p:nvSpPr>
          <p:cNvPr id="29699" name="Content Placeholder 2"/>
          <p:cNvSpPr>
            <a:spLocks noGrp="1"/>
          </p:cNvSpPr>
          <p:nvPr>
            <p:ph idx="1"/>
          </p:nvPr>
        </p:nvSpPr>
        <p:spPr>
          <a:xfrm>
            <a:off x="1314450" y="2470150"/>
            <a:ext cx="8277225" cy="3778250"/>
          </a:xfrm>
        </p:spPr>
        <p:txBody>
          <a:bodyPr/>
          <a:lstStyle/>
          <a:p>
            <a:pPr marL="457200" indent="-457200" eaLnBrk="1" hangingPunct="1">
              <a:buFont typeface="+mj-lt"/>
              <a:buAutoNum type="arabicPeriod"/>
            </a:pPr>
            <a:r>
              <a:rPr lang="en-US" altLang="en-US" dirty="0" smtClean="0"/>
              <a:t>Define the problem</a:t>
            </a:r>
          </a:p>
          <a:p>
            <a:pPr marL="457200" indent="-457200" eaLnBrk="1" hangingPunct="1">
              <a:buFont typeface="+mj-lt"/>
              <a:buAutoNum type="arabicPeriod"/>
            </a:pPr>
            <a:r>
              <a:rPr lang="en-US" altLang="en-US" dirty="0" smtClean="0"/>
              <a:t>Create a search space with states and actions</a:t>
            </a:r>
          </a:p>
          <a:p>
            <a:pPr marL="457200" indent="-457200" eaLnBrk="1" hangingPunct="1">
              <a:buFont typeface="+mj-lt"/>
              <a:buAutoNum type="arabicPeriod"/>
            </a:pPr>
            <a:r>
              <a:rPr lang="en-US" altLang="en-US" dirty="0" smtClean="0"/>
              <a:t>Employ search algorithms</a:t>
            </a:r>
          </a:p>
          <a:p>
            <a:pPr marL="457200" indent="-457200" eaLnBrk="1" hangingPunct="1">
              <a:buFont typeface="+mj-lt"/>
              <a:buAutoNum type="arabicPeriod"/>
            </a:pPr>
            <a:r>
              <a:rPr lang="en-US" altLang="en-US" dirty="0" smtClean="0"/>
              <a:t>Consider heuristics and optimization criteria</a:t>
            </a:r>
          </a:p>
          <a:p>
            <a:pPr marL="457200" indent="-457200" eaLnBrk="1" hangingPunct="1">
              <a:buFont typeface="+mj-lt"/>
              <a:buAutoNum type="arabicPeriod"/>
            </a:pPr>
            <a:r>
              <a:rPr lang="en-US" altLang="en-US" dirty="0" smtClean="0"/>
              <a:t>Adapt to a dynamic environment, possibly with a learning mechanism</a:t>
            </a:r>
          </a:p>
          <a:p>
            <a:pPr eaLnBrk="1" hangingPunct="1"/>
            <a:endParaRPr lang="en-US" altLang="en-US" dirty="0" smtClean="0"/>
          </a:p>
        </p:txBody>
      </p:sp>
      <p:sp>
        <p:nvSpPr>
          <p:cNvPr id="29702" name="Slide Number Placeholder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0CD49E02-278D-401E-B468-E1C35E8DB946}" type="slidenum">
              <a:rPr lang="en-US" altLang="en-US" smtClean="0">
                <a:solidFill>
                  <a:srgbClr val="FEFFFF"/>
                </a:solidFill>
              </a:rPr>
              <a:pPr/>
              <a:t>8</a:t>
            </a:fld>
            <a:endParaRPr lang="en-US" altLang="en-US" smtClean="0">
              <a:solidFill>
                <a:srgbClr val="FEFFFF"/>
              </a:solidFill>
            </a:endParaRPr>
          </a:p>
        </p:txBody>
      </p:sp>
    </p:spTree>
    <p:extLst>
      <p:ext uri="{BB962C8B-B14F-4D97-AF65-F5344CB8AC3E}">
        <p14:creationId xmlns:p14="http://schemas.microsoft.com/office/powerpoint/2010/main" val="408624661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30722" name="Title 1"/>
          <p:cNvSpPr>
            <a:spLocks noGrp="1"/>
          </p:cNvSpPr>
          <p:nvPr>
            <p:ph type="title"/>
          </p:nvPr>
        </p:nvSpPr>
        <p:spPr>
          <a:xfrm>
            <a:off x="3468688" y="623888"/>
            <a:ext cx="6589712" cy="1281112"/>
          </a:xfrm>
        </p:spPr>
        <p:txBody>
          <a:bodyPr/>
          <a:lstStyle/>
          <a:p>
            <a:pPr eaLnBrk="1" hangingPunct="1"/>
            <a:endParaRPr lang="en-US" altLang="en-US" smtClean="0"/>
          </a:p>
        </p:txBody>
      </p:sp>
      <p:sp>
        <p:nvSpPr>
          <p:cNvPr id="4" name="Date Placeholder 3"/>
          <p:cNvSpPr>
            <a:spLocks noGrp="1"/>
          </p:cNvSpPr>
          <p:nvPr>
            <p:ph type="dt" sz="quarter" idx="10"/>
          </p:nvPr>
        </p:nvSpPr>
        <p:spPr/>
        <p:txBody>
          <a:bodyPr/>
          <a:lstStyle/>
          <a:p>
            <a:pPr>
              <a:defRPr/>
            </a:pPr>
            <a:fld id="{D6FA2ACC-644E-40CA-A4B4-B77FE393EB3C}" type="datetime1">
              <a:rPr lang="en-US" smtClean="0"/>
              <a:pPr>
                <a:defRPr/>
              </a:pPr>
              <a:t>2/2/2024</a:t>
            </a:fld>
            <a:endParaRPr lang="en-US"/>
          </a:p>
        </p:txBody>
      </p:sp>
      <p:sp>
        <p:nvSpPr>
          <p:cNvPr id="30725" name="Slide Number Placeholder 5"/>
          <p:cNvSpPr>
            <a:spLocks noGrp="1"/>
          </p:cNvSpPr>
          <p:nvPr>
            <p:ph type="sldNum" sz="quarter" idx="12"/>
          </p:nvPr>
        </p:nvSpPr>
        <p:spPr>
          <a:xfrm>
            <a:off x="2354264" y="-1670050"/>
            <a:ext cx="5857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13D3A164-E74F-4FBD-8F97-EB17808ACD52}" type="slidenum">
              <a:rPr lang="en-US" altLang="en-US" smtClean="0">
                <a:solidFill>
                  <a:srgbClr val="FEFFFF"/>
                </a:solidFill>
              </a:rPr>
              <a:pPr/>
              <a:t>9</a:t>
            </a:fld>
            <a:endParaRPr lang="en-US" altLang="en-US" smtClean="0">
              <a:solidFill>
                <a:srgbClr val="FEFFFF"/>
              </a:solidFill>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67001" y="309564"/>
            <a:ext cx="749617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47951" y="1628775"/>
            <a:ext cx="7896225"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667001" y="3248026"/>
            <a:ext cx="7954963"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163763" y="4706938"/>
            <a:ext cx="84582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513420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left)">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D917AB55-01E5-488A-A0A6-FEE6E8BC6FE0}" type="datetime1">
              <a:rPr lang="en-US" smtClean="0"/>
              <a:pPr>
                <a:defRPr/>
              </a:pPr>
              <a:t>2/2/2024</a:t>
            </a:fld>
            <a:endParaRPr lang="en-US"/>
          </a:p>
        </p:txBody>
      </p:sp>
      <p:sp>
        <p:nvSpPr>
          <p:cNvPr id="31748" name="Slide Number Placeholder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83C876B5-99F7-48E0-BF9A-20321B5DA3C4}" type="slidenum">
              <a:rPr lang="en-US" altLang="en-US" smtClean="0">
                <a:solidFill>
                  <a:srgbClr val="FEFFFF"/>
                </a:solidFill>
              </a:rPr>
              <a:pPr/>
              <a:t>10</a:t>
            </a:fld>
            <a:endParaRPr lang="en-US" altLang="en-US" smtClean="0">
              <a:solidFill>
                <a:srgbClr val="FEFFFF"/>
              </a:solidFill>
            </a:endParaRPr>
          </a:p>
        </p:txBody>
      </p:sp>
      <p:pic>
        <p:nvPicPr>
          <p:cNvPr id="31749" name="Picture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62189" y="138114"/>
            <a:ext cx="7667625" cy="565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0"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5859464"/>
            <a:ext cx="8039100" cy="99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081640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4 Essential Properties </a:t>
            </a:r>
            <a:r>
              <a:rPr lang="en-US" dirty="0"/>
              <a:t>of Search </a:t>
            </a:r>
            <a:r>
              <a:rPr lang="en-US" dirty="0" smtClean="0"/>
              <a:t>Algorithms</a:t>
            </a:r>
            <a:r>
              <a:rPr lang="en-US" dirty="0"/>
              <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r>
              <a:rPr lang="en-US" b="1" dirty="0"/>
              <a:t>Completeness:</a:t>
            </a:r>
            <a:r>
              <a:rPr lang="en-US" dirty="0"/>
              <a:t> A search algorithm is said to be complete if it guarantees to return a solution if at least any solution exists for any random </a:t>
            </a:r>
            <a:r>
              <a:rPr lang="en-US" dirty="0" smtClean="0"/>
              <a:t>input</a:t>
            </a:r>
          </a:p>
          <a:p>
            <a:r>
              <a:rPr lang="en-US" b="1" dirty="0"/>
              <a:t>Optimality:</a:t>
            </a:r>
            <a:r>
              <a:rPr lang="en-US" dirty="0"/>
              <a:t> If a solution found for an algorithm is guaranteed to be the best solution (lowest path cost) among all other solutions, then such a solution for is said to be an optimal solution.</a:t>
            </a:r>
          </a:p>
          <a:p>
            <a:r>
              <a:rPr lang="en-US" b="1" dirty="0"/>
              <a:t>Time Complexity:</a:t>
            </a:r>
            <a:r>
              <a:rPr lang="en-US" dirty="0"/>
              <a:t> Time complexity is a measure of time for an algorithm to complete its task.</a:t>
            </a:r>
          </a:p>
          <a:p>
            <a:r>
              <a:rPr lang="en-US" b="1" dirty="0"/>
              <a:t>Space Complexity:</a:t>
            </a:r>
            <a:r>
              <a:rPr lang="en-US" dirty="0"/>
              <a:t> It is the maximum storage space required at any point during the search, as the complexity of the problem.</a:t>
            </a:r>
          </a:p>
          <a:p>
            <a:endParaRPr lang="en-US" dirty="0"/>
          </a:p>
        </p:txBody>
      </p:sp>
    </p:spTree>
    <p:extLst>
      <p:ext uri="{BB962C8B-B14F-4D97-AF65-F5344CB8AC3E}">
        <p14:creationId xmlns:p14="http://schemas.microsoft.com/office/powerpoint/2010/main" val="2354770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7650" name="Title 1"/>
          <p:cNvSpPr>
            <a:spLocks noGrp="1"/>
          </p:cNvSpPr>
          <p:nvPr>
            <p:ph type="title"/>
          </p:nvPr>
        </p:nvSpPr>
        <p:spPr>
          <a:xfrm>
            <a:off x="3468688" y="623888"/>
            <a:ext cx="6589712" cy="1281112"/>
          </a:xfrm>
        </p:spPr>
        <p:txBody>
          <a:bodyPr/>
          <a:lstStyle/>
          <a:p>
            <a:pPr eaLnBrk="1" hangingPunct="1"/>
            <a:endParaRPr lang="en-US" altLang="en-US" smtClean="0"/>
          </a:p>
        </p:txBody>
      </p:sp>
      <p:sp>
        <p:nvSpPr>
          <p:cNvPr id="27651" name="Content Placeholder 2"/>
          <p:cNvSpPr>
            <a:spLocks noGrp="1"/>
          </p:cNvSpPr>
          <p:nvPr>
            <p:ph idx="1"/>
          </p:nvPr>
        </p:nvSpPr>
        <p:spPr>
          <a:xfrm>
            <a:off x="3467100" y="2133600"/>
            <a:ext cx="6591300" cy="3778250"/>
          </a:xfrm>
        </p:spPr>
        <p:txBody>
          <a:bodyPr/>
          <a:lstStyle/>
          <a:p>
            <a:pPr eaLnBrk="1" hangingPunct="1"/>
            <a:endParaRPr lang="en-US" altLang="en-US" smtClean="0"/>
          </a:p>
        </p:txBody>
      </p:sp>
      <p:sp>
        <p:nvSpPr>
          <p:cNvPr id="4" name="Date Placeholder 3"/>
          <p:cNvSpPr>
            <a:spLocks noGrp="1"/>
          </p:cNvSpPr>
          <p:nvPr>
            <p:ph type="dt" sz="quarter" idx="10"/>
          </p:nvPr>
        </p:nvSpPr>
        <p:spPr/>
        <p:txBody>
          <a:bodyPr/>
          <a:lstStyle/>
          <a:p>
            <a:pPr>
              <a:defRPr/>
            </a:pPr>
            <a:fld id="{16334D45-EC48-434B-897B-5A9923014D5A}" type="datetime1">
              <a:rPr lang="en-US" smtClean="0"/>
              <a:pPr>
                <a:defRPr/>
              </a:pPr>
              <a:t>2/2/2024</a:t>
            </a:fld>
            <a:endParaRPr lang="en-US"/>
          </a:p>
        </p:txBody>
      </p:sp>
      <p:sp>
        <p:nvSpPr>
          <p:cNvPr id="5" name="Footer Placeholder 4"/>
          <p:cNvSpPr>
            <a:spLocks noGrp="1"/>
          </p:cNvSpPr>
          <p:nvPr>
            <p:ph type="ftr" sz="quarter" idx="11"/>
          </p:nvPr>
        </p:nvSpPr>
        <p:spPr/>
        <p:txBody>
          <a:bodyPr/>
          <a:lstStyle/>
          <a:p>
            <a:pPr>
              <a:defRPr/>
            </a:pPr>
            <a:r>
              <a:rPr lang="en-US" altLang="en-US"/>
              <a:t>AI: Chapter 3: Solving Problems by Searching</a:t>
            </a:r>
          </a:p>
        </p:txBody>
      </p:sp>
      <p:sp>
        <p:nvSpPr>
          <p:cNvPr id="27654" name="Slide Number Placeholder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spcBef>
                <a:spcPct val="0"/>
              </a:spcBef>
              <a:buClrTx/>
              <a:buFontTx/>
              <a:buNone/>
            </a:pPr>
            <a:fld id="{5893101A-F450-4E08-8D22-8F56EA05E2E6}" type="slidenum">
              <a:rPr lang="en-US" altLang="en-US" smtClean="0">
                <a:solidFill>
                  <a:srgbClr val="FEFFFF"/>
                </a:solidFill>
                <a:latin typeface="Tahoma" panose="020B0604030504040204" pitchFamily="34" charset="0"/>
              </a:rPr>
              <a:pPr>
                <a:spcBef>
                  <a:spcPct val="0"/>
                </a:spcBef>
                <a:buClrTx/>
                <a:buFontTx/>
                <a:buNone/>
              </a:pPr>
              <a:t>12</a:t>
            </a:fld>
            <a:endParaRPr lang="en-US" altLang="en-US" smtClean="0">
              <a:solidFill>
                <a:srgbClr val="FEFFFF"/>
              </a:solidFill>
              <a:latin typeface="Tahoma" panose="020B0604030504040204" pitchFamily="34" charset="0"/>
            </a:endParaRPr>
          </a:p>
        </p:txBody>
      </p:sp>
      <p:pic>
        <p:nvPicPr>
          <p:cNvPr id="27655"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59088" y="585788"/>
            <a:ext cx="7808912" cy="606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9998161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81065" y="167745"/>
            <a:ext cx="9601196" cy="1303867"/>
          </a:xfrm>
        </p:spPr>
        <p:txBody>
          <a:bodyPr/>
          <a:lstStyle/>
          <a:p>
            <a:r>
              <a:rPr lang="en-US" dirty="0" smtClean="0"/>
              <a:t>What is Uninformed Search in AI?</a:t>
            </a:r>
            <a:endParaRPr lang="en-US" dirty="0"/>
          </a:p>
        </p:txBody>
      </p:sp>
      <p:sp>
        <p:nvSpPr>
          <p:cNvPr id="3" name="Content Placeholder 2"/>
          <p:cNvSpPr>
            <a:spLocks noGrp="1"/>
          </p:cNvSpPr>
          <p:nvPr>
            <p:ph idx="1"/>
          </p:nvPr>
        </p:nvSpPr>
        <p:spPr>
          <a:xfrm>
            <a:off x="195263" y="1628245"/>
            <a:ext cx="9601196" cy="4815418"/>
          </a:xfrm>
        </p:spPr>
        <p:txBody>
          <a:bodyPr>
            <a:normAutofit/>
          </a:bodyPr>
          <a:lstStyle/>
          <a:p>
            <a:r>
              <a:rPr lang="en-US" dirty="0" smtClean="0"/>
              <a:t>Aka blind search : an algorithm </a:t>
            </a:r>
            <a:r>
              <a:rPr lang="en-US" dirty="0"/>
              <a:t>that explores a problem </a:t>
            </a:r>
            <a:r>
              <a:rPr lang="en-US" dirty="0" smtClean="0"/>
              <a:t>space (</a:t>
            </a:r>
            <a:r>
              <a:rPr lang="en-US" dirty="0"/>
              <a:t>produces the search tree </a:t>
            </a:r>
            <a:r>
              <a:rPr lang="en-US" dirty="0" smtClean="0"/>
              <a:t>) </a:t>
            </a:r>
            <a:r>
              <a:rPr lang="en-US" dirty="0"/>
              <a:t>without any </a:t>
            </a:r>
            <a:r>
              <a:rPr lang="en-US" dirty="0" smtClean="0"/>
              <a:t>domain </a:t>
            </a:r>
            <a:r>
              <a:rPr lang="en-US" dirty="0"/>
              <a:t>knowledge or information about the problem other than the initial state and the possible actions to take. </a:t>
            </a:r>
            <a:endParaRPr lang="en-US" dirty="0" smtClean="0"/>
          </a:p>
          <a:p>
            <a:r>
              <a:rPr lang="en-US" dirty="0" smtClean="0"/>
              <a:t>The </a:t>
            </a:r>
            <a:r>
              <a:rPr lang="en-US" dirty="0"/>
              <a:t>machine blindly follows the algorithm regardless of whether right or wrong, efficient or in-efficient</a:t>
            </a:r>
            <a:r>
              <a:rPr lang="en-US" dirty="0" smtClean="0"/>
              <a:t>.</a:t>
            </a:r>
            <a:r>
              <a:rPr lang="en-US" dirty="0"/>
              <a:t> (it’s brute force in nature</a:t>
            </a:r>
            <a:r>
              <a:rPr lang="en-US" dirty="0" smtClean="0"/>
              <a:t>)</a:t>
            </a:r>
          </a:p>
          <a:p>
            <a:r>
              <a:rPr lang="en-US" dirty="0" smtClean="0"/>
              <a:t>They systematically </a:t>
            </a:r>
            <a:r>
              <a:rPr lang="en-US" dirty="0"/>
              <a:t>explore the search </a:t>
            </a:r>
            <a:r>
              <a:rPr lang="en-US" dirty="0" smtClean="0"/>
              <a:t>space for all possible solutions of the problem </a:t>
            </a:r>
            <a:r>
              <a:rPr lang="en-US" dirty="0"/>
              <a:t>by applying predefined rules to generate successor states until a goal state is found or the search is exhausted. </a:t>
            </a:r>
            <a:endParaRPr lang="en-US" dirty="0" smtClean="0"/>
          </a:p>
          <a:p>
            <a:r>
              <a:rPr lang="en-US" dirty="0" smtClean="0"/>
              <a:t>They are less </a:t>
            </a:r>
            <a:r>
              <a:rPr lang="en-US" dirty="0"/>
              <a:t>efficient than informed search </a:t>
            </a:r>
            <a:r>
              <a:rPr lang="en-US" dirty="0" smtClean="0"/>
              <a:t>algorithms.</a:t>
            </a:r>
          </a:p>
          <a:p>
            <a:r>
              <a:rPr lang="en-US" dirty="0" smtClean="0"/>
              <a:t>They are used </a:t>
            </a:r>
            <a:r>
              <a:rPr lang="en-US" dirty="0"/>
              <a:t>in various applications, ranging from game playing to route planning and problem-solving</a:t>
            </a:r>
            <a:endParaRPr lang="en-US" dirty="0"/>
          </a:p>
        </p:txBody>
      </p:sp>
      <p:pic>
        <p:nvPicPr>
          <p:cNvPr id="4" name="Picture 3"/>
          <p:cNvPicPr>
            <a:picLocks noChangeAspect="1"/>
          </p:cNvPicPr>
          <p:nvPr/>
        </p:nvPicPr>
        <p:blipFill>
          <a:blip r:embed="rId2"/>
          <a:stretch>
            <a:fillRect/>
          </a:stretch>
        </p:blipFill>
        <p:spPr>
          <a:xfrm>
            <a:off x="9777409" y="1471612"/>
            <a:ext cx="2066925" cy="4357688"/>
          </a:xfrm>
          <a:prstGeom prst="rect">
            <a:avLst/>
          </a:prstGeom>
        </p:spPr>
      </p:pic>
    </p:spTree>
    <p:extLst>
      <p:ext uri="{BB962C8B-B14F-4D97-AF65-F5344CB8AC3E}">
        <p14:creationId xmlns:p14="http://schemas.microsoft.com/office/powerpoint/2010/main" val="3868960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191375" y="1628244"/>
            <a:ext cx="4838700" cy="3962400"/>
          </a:xfrm>
          <a:prstGeom prst="rect">
            <a:avLst/>
          </a:prstGeom>
        </p:spPr>
      </p:pic>
      <p:sp>
        <p:nvSpPr>
          <p:cNvPr id="2" name="Title 1"/>
          <p:cNvSpPr>
            <a:spLocks noGrp="1"/>
          </p:cNvSpPr>
          <p:nvPr>
            <p:ph type="title"/>
          </p:nvPr>
        </p:nvSpPr>
        <p:spPr>
          <a:xfrm>
            <a:off x="481014" y="0"/>
            <a:ext cx="9601196" cy="1303867"/>
          </a:xfrm>
        </p:spPr>
        <p:txBody>
          <a:bodyPr/>
          <a:lstStyle/>
          <a:p>
            <a:r>
              <a:rPr lang="en-US" b="1" dirty="0"/>
              <a:t>Breadth-First Search (BFS</a:t>
            </a:r>
            <a:r>
              <a:rPr lang="en-US" b="1" dirty="0" smtClean="0"/>
              <a:t>)</a:t>
            </a:r>
            <a:endParaRPr lang="en-US" dirty="0"/>
          </a:p>
        </p:txBody>
      </p:sp>
      <p:sp>
        <p:nvSpPr>
          <p:cNvPr id="3" name="Content Placeholder 2"/>
          <p:cNvSpPr>
            <a:spLocks noGrp="1"/>
          </p:cNvSpPr>
          <p:nvPr>
            <p:ph idx="1"/>
          </p:nvPr>
        </p:nvSpPr>
        <p:spPr>
          <a:xfrm>
            <a:off x="-1" y="1628244"/>
            <a:ext cx="7800975" cy="5115456"/>
          </a:xfrm>
        </p:spPr>
        <p:txBody>
          <a:bodyPr>
            <a:normAutofit/>
          </a:bodyPr>
          <a:lstStyle/>
          <a:p>
            <a:r>
              <a:rPr lang="en-US" b="1" dirty="0"/>
              <a:t>Exploration Strategy:</a:t>
            </a:r>
            <a:r>
              <a:rPr lang="en-US" dirty="0"/>
              <a:t> Explores the search space level by level, visiting all nodes at the current level before moving on to the next level.</a:t>
            </a:r>
          </a:p>
          <a:p>
            <a:r>
              <a:rPr lang="en-US" b="1" dirty="0"/>
              <a:t>Memory Usage:</a:t>
            </a:r>
            <a:r>
              <a:rPr lang="en-US" dirty="0"/>
              <a:t> Requires more memory as it needs to store all nodes at the current level.</a:t>
            </a:r>
          </a:p>
          <a:p>
            <a:r>
              <a:rPr lang="en-US" b="1" dirty="0"/>
              <a:t>Completeness:</a:t>
            </a:r>
            <a:r>
              <a:rPr lang="en-US" dirty="0"/>
              <a:t> Guarantees finding the shallowest solution, making it complete if the branching factor is finite.</a:t>
            </a:r>
          </a:p>
          <a:p>
            <a:r>
              <a:rPr lang="en-US" b="1" dirty="0"/>
              <a:t>Optimality:</a:t>
            </a:r>
            <a:r>
              <a:rPr lang="en-US" dirty="0"/>
              <a:t> Finds the optimal solution in terms of the number of steps but not necessarily in terms of cost.</a:t>
            </a:r>
          </a:p>
          <a:p>
            <a:endParaRPr lang="en-US" dirty="0"/>
          </a:p>
        </p:txBody>
      </p:sp>
    </p:spTree>
    <p:extLst>
      <p:ext uri="{BB962C8B-B14F-4D97-AF65-F5344CB8AC3E}">
        <p14:creationId xmlns:p14="http://schemas.microsoft.com/office/powerpoint/2010/main" val="288137932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229475" y="1622954"/>
            <a:ext cx="4962525" cy="4106333"/>
          </a:xfrm>
          <a:prstGeom prst="rect">
            <a:avLst/>
          </a:prstGeom>
        </p:spPr>
      </p:pic>
      <p:sp>
        <p:nvSpPr>
          <p:cNvPr id="2" name="Title 1"/>
          <p:cNvSpPr>
            <a:spLocks noGrp="1"/>
          </p:cNvSpPr>
          <p:nvPr>
            <p:ph type="title"/>
          </p:nvPr>
        </p:nvSpPr>
        <p:spPr>
          <a:xfrm>
            <a:off x="838202" y="0"/>
            <a:ext cx="9601196" cy="1303867"/>
          </a:xfrm>
        </p:spPr>
        <p:txBody>
          <a:bodyPr/>
          <a:lstStyle/>
          <a:p>
            <a:r>
              <a:rPr lang="en-US" b="1" dirty="0"/>
              <a:t>Depth-First Search (DFS</a:t>
            </a:r>
            <a:r>
              <a:rPr lang="en-US" b="1" dirty="0" smtClean="0"/>
              <a:t>)</a:t>
            </a:r>
            <a:endParaRPr lang="en-US" dirty="0"/>
          </a:p>
        </p:txBody>
      </p:sp>
      <p:sp>
        <p:nvSpPr>
          <p:cNvPr id="3" name="Content Placeholder 2"/>
          <p:cNvSpPr>
            <a:spLocks noGrp="1"/>
          </p:cNvSpPr>
          <p:nvPr>
            <p:ph idx="1"/>
          </p:nvPr>
        </p:nvSpPr>
        <p:spPr>
          <a:xfrm>
            <a:off x="0" y="1413932"/>
            <a:ext cx="7900988" cy="4729694"/>
          </a:xfrm>
        </p:spPr>
        <p:txBody>
          <a:bodyPr>
            <a:normAutofit/>
          </a:bodyPr>
          <a:lstStyle/>
          <a:p>
            <a:r>
              <a:rPr lang="en-US" b="1" dirty="0"/>
              <a:t>Exploration Strategy:</a:t>
            </a:r>
            <a:r>
              <a:rPr lang="en-US" dirty="0"/>
              <a:t> Explores as far as possible along one branch before backtracking.</a:t>
            </a:r>
          </a:p>
          <a:p>
            <a:r>
              <a:rPr lang="en-US" b="1" dirty="0"/>
              <a:t>Memory Usage:</a:t>
            </a:r>
            <a:r>
              <a:rPr lang="en-US" dirty="0"/>
              <a:t> Uses less memory compared to BFS, as it only needs to store the nodes along the current path.</a:t>
            </a:r>
          </a:p>
          <a:p>
            <a:r>
              <a:rPr lang="en-US" b="1" dirty="0"/>
              <a:t>Completeness:</a:t>
            </a:r>
            <a:r>
              <a:rPr lang="en-US" dirty="0"/>
              <a:t> May not be complete if the search space has infinite depth or loops.</a:t>
            </a:r>
          </a:p>
          <a:p>
            <a:r>
              <a:rPr lang="en-US" b="1" dirty="0"/>
              <a:t>Optimality:</a:t>
            </a:r>
            <a:r>
              <a:rPr lang="en-US" dirty="0"/>
              <a:t> Does not guarantee finding the optimal solution in terms of the number of steps or cost.</a:t>
            </a:r>
          </a:p>
          <a:p>
            <a:endParaRPr lang="en-US" dirty="0"/>
          </a:p>
        </p:txBody>
      </p:sp>
    </p:spTree>
    <p:extLst>
      <p:ext uri="{BB962C8B-B14F-4D97-AF65-F5344CB8AC3E}">
        <p14:creationId xmlns:p14="http://schemas.microsoft.com/office/powerpoint/2010/main" val="381229424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181850" y="1303867"/>
            <a:ext cx="5010150" cy="4382558"/>
          </a:xfrm>
          <a:prstGeom prst="rect">
            <a:avLst/>
          </a:prstGeom>
        </p:spPr>
      </p:pic>
      <p:sp>
        <p:nvSpPr>
          <p:cNvPr id="2" name="Title 1"/>
          <p:cNvSpPr>
            <a:spLocks noGrp="1"/>
          </p:cNvSpPr>
          <p:nvPr>
            <p:ph type="title"/>
          </p:nvPr>
        </p:nvSpPr>
        <p:spPr>
          <a:xfrm>
            <a:off x="0" y="0"/>
            <a:ext cx="9601196" cy="1303867"/>
          </a:xfrm>
        </p:spPr>
        <p:txBody>
          <a:bodyPr/>
          <a:lstStyle/>
          <a:p>
            <a:r>
              <a:rPr lang="en-US" b="1" dirty="0"/>
              <a:t>Depth-Limited Search (DLS)</a:t>
            </a:r>
            <a:endParaRPr lang="en-US" dirty="0"/>
          </a:p>
        </p:txBody>
      </p:sp>
      <p:sp>
        <p:nvSpPr>
          <p:cNvPr id="3" name="Content Placeholder 2"/>
          <p:cNvSpPr>
            <a:spLocks noGrp="1"/>
          </p:cNvSpPr>
          <p:nvPr>
            <p:ph idx="1"/>
          </p:nvPr>
        </p:nvSpPr>
        <p:spPr>
          <a:xfrm>
            <a:off x="0" y="1485370"/>
            <a:ext cx="7929563" cy="4401080"/>
          </a:xfrm>
        </p:spPr>
        <p:txBody>
          <a:bodyPr>
            <a:normAutofit/>
          </a:bodyPr>
          <a:lstStyle/>
          <a:p>
            <a:r>
              <a:rPr lang="en-US" b="1" dirty="0"/>
              <a:t>Exploration Strategy:</a:t>
            </a:r>
            <a:r>
              <a:rPr lang="en-US" dirty="0"/>
              <a:t> Similar to DFS but with a depth limit, preventing it from going too deep into the search space.</a:t>
            </a:r>
          </a:p>
          <a:p>
            <a:r>
              <a:rPr lang="en-US" b="1" dirty="0"/>
              <a:t>Memory Usage:</a:t>
            </a:r>
            <a:r>
              <a:rPr lang="en-US" dirty="0"/>
              <a:t> Uses less memory compared to DFS but may still require significant memory for deep searches.</a:t>
            </a:r>
          </a:p>
          <a:p>
            <a:r>
              <a:rPr lang="en-US" b="1" dirty="0"/>
              <a:t>Completeness:</a:t>
            </a:r>
            <a:r>
              <a:rPr lang="en-US" dirty="0"/>
              <a:t> Complete if the depth limit is greater than or equal to the depth of the optimal solution.</a:t>
            </a:r>
          </a:p>
          <a:p>
            <a:r>
              <a:rPr lang="en-US" b="1" dirty="0"/>
              <a:t>Optimality:</a:t>
            </a:r>
            <a:r>
              <a:rPr lang="en-US" dirty="0"/>
              <a:t> May not find the optimal solution if the depth limit is too shallow.</a:t>
            </a:r>
          </a:p>
          <a:p>
            <a:endParaRPr lang="en-US" dirty="0"/>
          </a:p>
        </p:txBody>
      </p:sp>
    </p:spTree>
    <p:extLst>
      <p:ext uri="{BB962C8B-B14F-4D97-AF65-F5344CB8AC3E}">
        <p14:creationId xmlns:p14="http://schemas.microsoft.com/office/powerpoint/2010/main" val="50993273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939085" y="1205442"/>
            <a:ext cx="4252915" cy="4838171"/>
          </a:xfrm>
          <a:prstGeom prst="rect">
            <a:avLst/>
          </a:prstGeom>
        </p:spPr>
      </p:pic>
      <p:sp>
        <p:nvSpPr>
          <p:cNvPr id="2" name="Title 1"/>
          <p:cNvSpPr>
            <a:spLocks noGrp="1"/>
          </p:cNvSpPr>
          <p:nvPr>
            <p:ph type="title"/>
          </p:nvPr>
        </p:nvSpPr>
        <p:spPr>
          <a:xfrm>
            <a:off x="323852" y="0"/>
            <a:ext cx="9601196" cy="1303867"/>
          </a:xfrm>
        </p:spPr>
        <p:txBody>
          <a:bodyPr/>
          <a:lstStyle/>
          <a:p>
            <a:r>
              <a:rPr lang="en-US" b="1" dirty="0"/>
              <a:t>Uniform-Cost Search (UCS)</a:t>
            </a:r>
            <a:endParaRPr lang="en-US" dirty="0"/>
          </a:p>
        </p:txBody>
      </p:sp>
      <p:sp>
        <p:nvSpPr>
          <p:cNvPr id="3" name="Content Placeholder 2"/>
          <p:cNvSpPr>
            <a:spLocks noGrp="1"/>
          </p:cNvSpPr>
          <p:nvPr>
            <p:ph idx="1"/>
          </p:nvPr>
        </p:nvSpPr>
        <p:spPr>
          <a:xfrm>
            <a:off x="0" y="1442506"/>
            <a:ext cx="8329613" cy="4386793"/>
          </a:xfrm>
        </p:spPr>
        <p:txBody>
          <a:bodyPr>
            <a:normAutofit/>
          </a:bodyPr>
          <a:lstStyle/>
          <a:p>
            <a:r>
              <a:rPr lang="en-US" b="1" dirty="0"/>
              <a:t>Exploration Strategy:</a:t>
            </a:r>
            <a:r>
              <a:rPr lang="en-US" dirty="0"/>
              <a:t> Explores the least-cost path first, prioritizing nodes with lower path costs.</a:t>
            </a:r>
          </a:p>
          <a:p>
            <a:r>
              <a:rPr lang="en-US" b="1" dirty="0"/>
              <a:t>Memory Usage:</a:t>
            </a:r>
            <a:r>
              <a:rPr lang="en-US" dirty="0"/>
              <a:t> Can use a significant amount of memory, especially in scenarios with high path costs.</a:t>
            </a:r>
          </a:p>
          <a:p>
            <a:r>
              <a:rPr lang="en-US" b="1" dirty="0"/>
              <a:t>Completeness:</a:t>
            </a:r>
            <a:r>
              <a:rPr lang="en-US" dirty="0"/>
              <a:t> Complete if the step cost is greater than or equal to some small positive value and the solution exists.</a:t>
            </a:r>
          </a:p>
          <a:p>
            <a:r>
              <a:rPr lang="en-US" b="1" dirty="0"/>
              <a:t>Optimality:</a:t>
            </a:r>
            <a:r>
              <a:rPr lang="en-US" dirty="0"/>
              <a:t> Guarantees finding the optimal solution in terms of cost.</a:t>
            </a:r>
          </a:p>
          <a:p>
            <a:endParaRPr lang="en-US" dirty="0"/>
          </a:p>
        </p:txBody>
      </p:sp>
    </p:spTree>
    <p:extLst>
      <p:ext uri="{BB962C8B-B14F-4D97-AF65-F5344CB8AC3E}">
        <p14:creationId xmlns:p14="http://schemas.microsoft.com/office/powerpoint/2010/main" val="385947638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81090" y="267757"/>
            <a:ext cx="9601196" cy="1303867"/>
          </a:xfrm>
        </p:spPr>
        <p:txBody>
          <a:bodyPr>
            <a:normAutofit fontScale="90000"/>
          </a:bodyPr>
          <a:lstStyle/>
          <a:p>
            <a:r>
              <a:rPr lang="en-US" sz="4900" b="1" dirty="0"/>
              <a:t>Iterative </a:t>
            </a:r>
            <a:r>
              <a:rPr lang="en-US" sz="4900" b="1" dirty="0" smtClean="0"/>
              <a:t>deepening depth-first </a:t>
            </a:r>
            <a:r>
              <a:rPr lang="en-US" sz="4900" b="1" dirty="0"/>
              <a:t>Search</a:t>
            </a:r>
            <a:r>
              <a:rPr lang="en-US" dirty="0"/>
              <a:t/>
            </a:r>
            <a:br>
              <a:rPr lang="en-US" dirty="0"/>
            </a:br>
            <a:endParaRPr lang="en-US" dirty="0"/>
          </a:p>
        </p:txBody>
      </p:sp>
      <p:pic>
        <p:nvPicPr>
          <p:cNvPr id="4" name="Content Placeholder 3"/>
          <p:cNvPicPr>
            <a:picLocks noGrp="1" noChangeAspect="1"/>
          </p:cNvPicPr>
          <p:nvPr>
            <p:ph idx="1"/>
          </p:nvPr>
        </p:nvPicPr>
        <p:blipFill>
          <a:blip r:embed="rId2"/>
          <a:stretch>
            <a:fillRect/>
          </a:stretch>
        </p:blipFill>
        <p:spPr>
          <a:xfrm>
            <a:off x="2369359" y="1157288"/>
            <a:ext cx="5917391" cy="5589785"/>
          </a:xfrm>
          <a:prstGeom prst="rect">
            <a:avLst/>
          </a:prstGeom>
          <a:noFill/>
        </p:spPr>
      </p:pic>
    </p:spTree>
    <p:extLst>
      <p:ext uri="{BB962C8B-B14F-4D97-AF65-F5344CB8AC3E}">
        <p14:creationId xmlns:p14="http://schemas.microsoft.com/office/powerpoint/2010/main" val="387244096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786562" y="1303867"/>
            <a:ext cx="5305425" cy="4939771"/>
          </a:xfrm>
          <a:prstGeom prst="rect">
            <a:avLst/>
          </a:prstGeom>
        </p:spPr>
      </p:pic>
      <p:sp>
        <p:nvSpPr>
          <p:cNvPr id="2" name="Title 1"/>
          <p:cNvSpPr>
            <a:spLocks noGrp="1"/>
          </p:cNvSpPr>
          <p:nvPr>
            <p:ph type="title"/>
          </p:nvPr>
        </p:nvSpPr>
        <p:spPr>
          <a:xfrm>
            <a:off x="881064" y="0"/>
            <a:ext cx="9601196" cy="1303867"/>
          </a:xfrm>
        </p:spPr>
        <p:txBody>
          <a:bodyPr>
            <a:normAutofit fontScale="90000"/>
          </a:bodyPr>
          <a:lstStyle/>
          <a:p>
            <a:r>
              <a:rPr lang="en-US" sz="4900" b="1" dirty="0"/>
              <a:t>Bidirectional Search Algorithm</a:t>
            </a:r>
            <a:r>
              <a:rPr lang="en-US" dirty="0"/>
              <a:t/>
            </a:r>
            <a:br>
              <a:rPr lang="en-US" dirty="0"/>
            </a:br>
            <a:endParaRPr lang="en-US" dirty="0"/>
          </a:p>
        </p:txBody>
      </p:sp>
      <p:sp>
        <p:nvSpPr>
          <p:cNvPr id="3" name="Content Placeholder 2"/>
          <p:cNvSpPr>
            <a:spLocks noGrp="1"/>
          </p:cNvSpPr>
          <p:nvPr>
            <p:ph idx="1"/>
          </p:nvPr>
        </p:nvSpPr>
        <p:spPr>
          <a:xfrm>
            <a:off x="195265" y="1585381"/>
            <a:ext cx="6848474" cy="4172481"/>
          </a:xfrm>
        </p:spPr>
        <p:txBody>
          <a:bodyPr/>
          <a:lstStyle/>
          <a:p>
            <a:r>
              <a:rPr lang="en-US" b="1" dirty="0"/>
              <a:t>Completeness:</a:t>
            </a:r>
            <a:r>
              <a:rPr lang="en-US" dirty="0"/>
              <a:t> Bidirectional Search is complete if we use BFS in both searches.</a:t>
            </a:r>
          </a:p>
          <a:p>
            <a:r>
              <a:rPr lang="en-US" b="1" dirty="0"/>
              <a:t>Time Complexity:</a:t>
            </a:r>
            <a:r>
              <a:rPr lang="en-US" dirty="0"/>
              <a:t> Time complexity of bidirectional search using BFS is </a:t>
            </a:r>
            <a:r>
              <a:rPr lang="en-US" b="1" dirty="0"/>
              <a:t>O(</a:t>
            </a:r>
            <a:r>
              <a:rPr lang="en-US" b="1" dirty="0" err="1"/>
              <a:t>b</a:t>
            </a:r>
            <a:r>
              <a:rPr lang="en-US" b="1" baseline="30000" dirty="0" err="1"/>
              <a:t>d</a:t>
            </a:r>
            <a:r>
              <a:rPr lang="en-US" b="1" dirty="0"/>
              <a:t>)</a:t>
            </a:r>
            <a:r>
              <a:rPr lang="en-US" dirty="0"/>
              <a:t>.</a:t>
            </a:r>
          </a:p>
          <a:p>
            <a:r>
              <a:rPr lang="en-US" b="1" dirty="0"/>
              <a:t>Space Complexity:</a:t>
            </a:r>
            <a:r>
              <a:rPr lang="en-US" dirty="0"/>
              <a:t> Space complexity of bidirectional search is </a:t>
            </a:r>
            <a:r>
              <a:rPr lang="en-US" b="1" dirty="0"/>
              <a:t>O(</a:t>
            </a:r>
            <a:r>
              <a:rPr lang="en-US" b="1" dirty="0" err="1"/>
              <a:t>b</a:t>
            </a:r>
            <a:r>
              <a:rPr lang="en-US" b="1" baseline="30000" dirty="0" err="1"/>
              <a:t>d</a:t>
            </a:r>
            <a:r>
              <a:rPr lang="en-US" b="1" dirty="0"/>
              <a:t>)</a:t>
            </a:r>
            <a:r>
              <a:rPr lang="en-US" dirty="0"/>
              <a:t>.</a:t>
            </a:r>
          </a:p>
          <a:p>
            <a:r>
              <a:rPr lang="en-US" b="1" dirty="0"/>
              <a:t>Optimal:</a:t>
            </a:r>
            <a:r>
              <a:rPr lang="en-US" dirty="0"/>
              <a:t> Bidirectional search is Optimal.</a:t>
            </a:r>
          </a:p>
          <a:p>
            <a:endParaRPr lang="en-US" dirty="0"/>
          </a:p>
        </p:txBody>
      </p:sp>
    </p:spTree>
    <p:extLst>
      <p:ext uri="{BB962C8B-B14F-4D97-AF65-F5344CB8AC3E}">
        <p14:creationId xmlns:p14="http://schemas.microsoft.com/office/powerpoint/2010/main" val="371171519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2" y="289984"/>
            <a:ext cx="9601196" cy="1303867"/>
          </a:xfrm>
        </p:spPr>
        <p:txBody>
          <a:bodyPr/>
          <a:lstStyle/>
          <a:p>
            <a:r>
              <a:rPr lang="en-US" dirty="0" smtClean="0"/>
              <a:t>Summary </a:t>
            </a:r>
            <a:endParaRPr lang="en-US" dirty="0"/>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1109662" y="1593850"/>
            <a:ext cx="9906001" cy="4921613"/>
          </a:xfrm>
          <a:prstGeom prst="rect">
            <a:avLst/>
          </a:prstGeom>
        </p:spPr>
      </p:pic>
    </p:spTree>
    <p:extLst>
      <p:ext uri="{BB962C8B-B14F-4D97-AF65-F5344CB8AC3E}">
        <p14:creationId xmlns:p14="http://schemas.microsoft.com/office/powerpoint/2010/main" val="200707980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601196" cy="1303867"/>
          </a:xfrm>
        </p:spPr>
        <p:txBody>
          <a:bodyPr/>
          <a:lstStyle/>
          <a:p>
            <a:r>
              <a:rPr lang="en-US" dirty="0" smtClean="0"/>
              <a:t>What is Informed Search in AI?</a:t>
            </a:r>
            <a:endParaRPr lang="en-US" dirty="0"/>
          </a:p>
        </p:txBody>
      </p:sp>
      <p:sp>
        <p:nvSpPr>
          <p:cNvPr id="3" name="Content Placeholder 2"/>
          <p:cNvSpPr>
            <a:spLocks noGrp="1"/>
          </p:cNvSpPr>
          <p:nvPr>
            <p:ph idx="1"/>
          </p:nvPr>
        </p:nvSpPr>
        <p:spPr>
          <a:xfrm>
            <a:off x="0" y="1556807"/>
            <a:ext cx="10120312" cy="3318936"/>
          </a:xfrm>
        </p:spPr>
        <p:txBody>
          <a:bodyPr>
            <a:normAutofit fontScale="92500" lnSpcReduction="20000"/>
          </a:bodyPr>
          <a:lstStyle/>
          <a:p>
            <a:r>
              <a:rPr lang="en-US" dirty="0" smtClean="0"/>
              <a:t>AKA heuristic search: it use </a:t>
            </a:r>
            <a:r>
              <a:rPr lang="en-US" dirty="0"/>
              <a:t>additional knowledge or heuristics to guide the search </a:t>
            </a:r>
            <a:r>
              <a:rPr lang="en-US" dirty="0" smtClean="0"/>
              <a:t>process</a:t>
            </a:r>
          </a:p>
          <a:p>
            <a:r>
              <a:rPr lang="en-US" dirty="0" smtClean="0"/>
              <a:t>Examples of additional knowledge: how </a:t>
            </a:r>
            <a:r>
              <a:rPr lang="en-US" dirty="0"/>
              <a:t>far we are from the goal, path cost, how to reach to goal node, etc. </a:t>
            </a:r>
            <a:endParaRPr lang="en-US" dirty="0" smtClean="0"/>
          </a:p>
          <a:p>
            <a:r>
              <a:rPr lang="en-US" dirty="0" smtClean="0"/>
              <a:t>This </a:t>
            </a:r>
            <a:r>
              <a:rPr lang="en-US" dirty="0"/>
              <a:t>knowledge help agents to explore less to the search space and find more efficiently the goal </a:t>
            </a:r>
            <a:r>
              <a:rPr lang="en-US" dirty="0" smtClean="0"/>
              <a:t>node. (more </a:t>
            </a:r>
            <a:r>
              <a:rPr lang="en-US" dirty="0"/>
              <a:t>useful for large search </a:t>
            </a:r>
            <a:r>
              <a:rPr lang="en-US" dirty="0" smtClean="0"/>
              <a:t>space)</a:t>
            </a:r>
          </a:p>
          <a:p>
            <a:r>
              <a:rPr lang="en-US" dirty="0"/>
              <a:t>Heuristic is a function </a:t>
            </a:r>
            <a:r>
              <a:rPr lang="en-US" dirty="0" smtClean="0"/>
              <a:t>h(n) in </a:t>
            </a:r>
            <a:r>
              <a:rPr lang="en-US" dirty="0"/>
              <a:t>Informed Search, </a:t>
            </a:r>
            <a:r>
              <a:rPr lang="en-US" dirty="0" smtClean="0"/>
              <a:t>used to find </a:t>
            </a:r>
            <a:r>
              <a:rPr lang="en-US" dirty="0"/>
              <a:t>the most promising path. </a:t>
            </a:r>
            <a:endParaRPr lang="en-US" dirty="0" smtClean="0"/>
          </a:p>
          <a:p>
            <a:r>
              <a:rPr lang="en-US" dirty="0" smtClean="0"/>
              <a:t>It </a:t>
            </a:r>
            <a:r>
              <a:rPr lang="en-US" dirty="0"/>
              <a:t>takes the current state of the agent as its input and produces the estimation of how close agent is from the goal.</a:t>
            </a:r>
            <a:endParaRPr lang="en-US" dirty="0"/>
          </a:p>
        </p:txBody>
      </p:sp>
      <p:pic>
        <p:nvPicPr>
          <p:cNvPr id="4" name="Picture 3"/>
          <p:cNvPicPr>
            <a:picLocks noChangeAspect="1"/>
          </p:cNvPicPr>
          <p:nvPr/>
        </p:nvPicPr>
        <p:blipFill>
          <a:blip r:embed="rId2"/>
          <a:stretch>
            <a:fillRect/>
          </a:stretch>
        </p:blipFill>
        <p:spPr>
          <a:xfrm>
            <a:off x="8605836" y="4597910"/>
            <a:ext cx="3586164" cy="2260090"/>
          </a:xfrm>
          <a:prstGeom prst="rect">
            <a:avLst/>
          </a:prstGeom>
        </p:spPr>
      </p:pic>
    </p:spTree>
    <p:extLst>
      <p:ext uri="{BB962C8B-B14F-4D97-AF65-F5344CB8AC3E}">
        <p14:creationId xmlns:p14="http://schemas.microsoft.com/office/powerpoint/2010/main" val="86781337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Best-first Search Algorithm (Greedy Search)</a:t>
            </a:r>
            <a:br>
              <a:rPr lang="en-US" dirty="0"/>
            </a:br>
            <a:endParaRPr lang="en-US" dirty="0"/>
          </a:p>
        </p:txBody>
      </p:sp>
      <p:sp>
        <p:nvSpPr>
          <p:cNvPr id="3" name="Content Placeholder 2"/>
          <p:cNvSpPr>
            <a:spLocks noGrp="1"/>
          </p:cNvSpPr>
          <p:nvPr>
            <p:ph idx="1"/>
          </p:nvPr>
        </p:nvSpPr>
        <p:spPr/>
        <p:txBody>
          <a:bodyPr/>
          <a:lstStyle/>
          <a:p>
            <a:r>
              <a:rPr lang="en-US" b="1" dirty="0"/>
              <a:t>Time Complexity:</a:t>
            </a:r>
            <a:r>
              <a:rPr lang="en-US" dirty="0"/>
              <a:t> The worst case time complexity of Greedy best first search is O(</a:t>
            </a:r>
            <a:r>
              <a:rPr lang="en-US" dirty="0" err="1"/>
              <a:t>b</a:t>
            </a:r>
            <a:r>
              <a:rPr lang="en-US" baseline="30000" dirty="0" err="1"/>
              <a:t>m</a:t>
            </a:r>
            <a:r>
              <a:rPr lang="en-US" dirty="0"/>
              <a:t>).</a:t>
            </a:r>
          </a:p>
          <a:p>
            <a:r>
              <a:rPr lang="en-US" b="1" dirty="0"/>
              <a:t>Space Complexity:</a:t>
            </a:r>
            <a:r>
              <a:rPr lang="en-US" dirty="0"/>
              <a:t> The worst case space complexity of Greedy best first search is O(</a:t>
            </a:r>
            <a:r>
              <a:rPr lang="en-US" dirty="0" err="1"/>
              <a:t>b</a:t>
            </a:r>
            <a:r>
              <a:rPr lang="en-US" baseline="30000" dirty="0" err="1"/>
              <a:t>m</a:t>
            </a:r>
            <a:r>
              <a:rPr lang="en-US" dirty="0"/>
              <a:t>). Where, m is the maximum depth of the search space.</a:t>
            </a:r>
          </a:p>
          <a:p>
            <a:r>
              <a:rPr lang="en-US" b="1" dirty="0"/>
              <a:t>Complete:</a:t>
            </a:r>
            <a:r>
              <a:rPr lang="en-US" dirty="0"/>
              <a:t> Greedy best-first search is also incomplete, even if the given state space is finite.</a:t>
            </a:r>
          </a:p>
          <a:p>
            <a:r>
              <a:rPr lang="en-US" b="1" dirty="0"/>
              <a:t>Optimal:</a:t>
            </a:r>
            <a:r>
              <a:rPr lang="en-US" dirty="0"/>
              <a:t> Greedy best first search algorithm is not optimal.</a:t>
            </a:r>
            <a:endParaRPr lang="en-US" dirty="0"/>
          </a:p>
        </p:txBody>
      </p:sp>
    </p:spTree>
    <p:extLst>
      <p:ext uri="{BB962C8B-B14F-4D97-AF65-F5344CB8AC3E}">
        <p14:creationId xmlns:p14="http://schemas.microsoft.com/office/powerpoint/2010/main" val="66120486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 Search Algorithm</a:t>
            </a:r>
            <a:br>
              <a:rPr lang="en-US" dirty="0"/>
            </a:br>
            <a:endParaRPr lang="en-US" dirty="0"/>
          </a:p>
        </p:txBody>
      </p:sp>
      <p:sp>
        <p:nvSpPr>
          <p:cNvPr id="3" name="Content Placeholder 2"/>
          <p:cNvSpPr>
            <a:spLocks noGrp="1"/>
          </p:cNvSpPr>
          <p:nvPr>
            <p:ph idx="1"/>
          </p:nvPr>
        </p:nvSpPr>
        <p:spPr/>
        <p:txBody>
          <a:bodyPr>
            <a:normAutofit lnSpcReduction="10000"/>
          </a:bodyPr>
          <a:lstStyle/>
          <a:p>
            <a:r>
              <a:rPr lang="en-US" dirty="0"/>
              <a:t>A* search is the most commonly known form of best-first search. </a:t>
            </a:r>
            <a:endParaRPr lang="en-US" dirty="0" smtClean="0"/>
          </a:p>
          <a:p>
            <a:r>
              <a:rPr lang="en-US" dirty="0" smtClean="0"/>
              <a:t>It </a:t>
            </a:r>
            <a:r>
              <a:rPr lang="en-US" dirty="0"/>
              <a:t>uses heuristic function h(n), and cost to reach the node n from the start state g(n</a:t>
            </a:r>
            <a:r>
              <a:rPr lang="en-US" dirty="0" smtClean="0"/>
              <a:t>).</a:t>
            </a:r>
          </a:p>
          <a:p>
            <a:r>
              <a:rPr lang="en-US" dirty="0"/>
              <a:t>A* algorithm returns the path which occurred first, and it does not search for all remaining paths.</a:t>
            </a:r>
          </a:p>
          <a:p>
            <a:r>
              <a:rPr lang="en-US" dirty="0"/>
              <a:t>The efficiency of A* algorithm depends on the quality of heuristic.</a:t>
            </a:r>
          </a:p>
          <a:p>
            <a:r>
              <a:rPr lang="en-US" dirty="0"/>
              <a:t>A* algorithm expands all nodes which satisfy the condition f(n)</a:t>
            </a:r>
          </a:p>
          <a:p>
            <a:endParaRPr lang="en-US" dirty="0"/>
          </a:p>
        </p:txBody>
      </p:sp>
    </p:spTree>
    <p:extLst>
      <p:ext uri="{BB962C8B-B14F-4D97-AF65-F5344CB8AC3E}">
        <p14:creationId xmlns:p14="http://schemas.microsoft.com/office/powerpoint/2010/main" val="165427399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Features of Informed Search</a:t>
            </a:r>
            <a:endParaRPr lang="en-US" dirty="0"/>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33578628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Applications of Search Algorithms</a:t>
            </a:r>
            <a:endParaRPr lang="en-US" dirty="0"/>
          </a:p>
        </p:txBody>
      </p:sp>
      <p:sp>
        <p:nvSpPr>
          <p:cNvPr id="3" name="Content Placeholder 2"/>
          <p:cNvSpPr>
            <a:spLocks noGrp="1"/>
          </p:cNvSpPr>
          <p:nvPr>
            <p:ph idx="1"/>
          </p:nvPr>
        </p:nvSpPr>
        <p:spPr/>
        <p:txBody>
          <a:bodyPr/>
          <a:lstStyle/>
          <a:p>
            <a:r>
              <a:rPr lang="en-US" dirty="0" smtClean="0"/>
              <a:t>Pathfinding: </a:t>
            </a:r>
            <a:r>
              <a:rPr lang="en-US" dirty="0"/>
              <a:t>finding the shortest path between two points</a:t>
            </a:r>
            <a:r>
              <a:rPr lang="en-US" dirty="0" smtClean="0"/>
              <a:t>.</a:t>
            </a:r>
          </a:p>
          <a:p>
            <a:pPr lvl="1"/>
            <a:r>
              <a:rPr lang="en-US" dirty="0" err="1">
                <a:solidFill>
                  <a:schemeClr val="tx1"/>
                </a:solidFill>
              </a:rPr>
              <a:t>Dijkstra's</a:t>
            </a:r>
            <a:r>
              <a:rPr lang="en-US" dirty="0">
                <a:solidFill>
                  <a:schemeClr val="tx1"/>
                </a:solidFill>
              </a:rPr>
              <a:t> algorithm or A* (A-star)</a:t>
            </a:r>
            <a:endParaRPr lang="en-US" dirty="0" smtClean="0"/>
          </a:p>
          <a:p>
            <a:r>
              <a:rPr lang="en-US" dirty="0" smtClean="0"/>
              <a:t>Scheduling Tasks efficiently: </a:t>
            </a:r>
            <a:r>
              <a:rPr lang="en-US" dirty="0"/>
              <a:t>find an optimal schedule that minimizes the overall completion time. </a:t>
            </a:r>
            <a:endParaRPr lang="en-US" dirty="0" smtClean="0"/>
          </a:p>
          <a:p>
            <a:r>
              <a:rPr lang="en-US" dirty="0" smtClean="0"/>
              <a:t>Game theory: </a:t>
            </a:r>
            <a:r>
              <a:rPr lang="en-US" dirty="0"/>
              <a:t>enable players or AI agents to analyze potential moves, evaluate outcomes, and make informed decisions.</a:t>
            </a:r>
          </a:p>
        </p:txBody>
      </p:sp>
    </p:spTree>
    <p:extLst>
      <p:ext uri="{BB962C8B-B14F-4D97-AF65-F5344CB8AC3E}">
        <p14:creationId xmlns:p14="http://schemas.microsoft.com/office/powerpoint/2010/main" val="144104058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7" name="Content Placeholder 6"/>
          <p:cNvPicPr>
            <a:picLocks noGrp="1" noChangeAspect="1"/>
          </p:cNvPicPr>
          <p:nvPr>
            <p:ph idx="1"/>
          </p:nvPr>
        </p:nvPicPr>
        <p:blipFill>
          <a:blip r:embed="rId2"/>
          <a:stretch>
            <a:fillRect/>
          </a:stretch>
        </p:blipFill>
        <p:spPr>
          <a:xfrm>
            <a:off x="8821966" y="3540125"/>
            <a:ext cx="3270021" cy="3317875"/>
          </a:xfrm>
          <a:prstGeom prst="rect">
            <a:avLst/>
          </a:prstGeom>
        </p:spPr>
      </p:pic>
      <p:pic>
        <p:nvPicPr>
          <p:cNvPr id="4" name="Picture 3"/>
          <p:cNvPicPr>
            <a:picLocks noChangeAspect="1"/>
          </p:cNvPicPr>
          <p:nvPr/>
        </p:nvPicPr>
        <p:blipFill>
          <a:blip r:embed="rId3"/>
          <a:stretch>
            <a:fillRect/>
          </a:stretch>
        </p:blipFill>
        <p:spPr>
          <a:xfrm>
            <a:off x="0" y="1668989"/>
            <a:ext cx="4705350" cy="5029200"/>
          </a:xfrm>
          <a:prstGeom prst="rect">
            <a:avLst/>
          </a:prstGeom>
        </p:spPr>
      </p:pic>
      <p:pic>
        <p:nvPicPr>
          <p:cNvPr id="5" name="Picture 4"/>
          <p:cNvPicPr>
            <a:picLocks noChangeAspect="1"/>
          </p:cNvPicPr>
          <p:nvPr/>
        </p:nvPicPr>
        <p:blipFill>
          <a:blip r:embed="rId4"/>
          <a:stretch>
            <a:fillRect/>
          </a:stretch>
        </p:blipFill>
        <p:spPr>
          <a:xfrm>
            <a:off x="5216754" y="741888"/>
            <a:ext cx="4019550" cy="3476625"/>
          </a:xfrm>
          <a:prstGeom prst="rect">
            <a:avLst/>
          </a:prstGeom>
        </p:spPr>
      </p:pic>
    </p:spTree>
    <p:extLst>
      <p:ext uri="{BB962C8B-B14F-4D97-AF65-F5344CB8AC3E}">
        <p14:creationId xmlns:p14="http://schemas.microsoft.com/office/powerpoint/2010/main" val="358803285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normAutofit lnSpcReduction="10000"/>
          </a:bodyPr>
          <a:lstStyle/>
          <a:p>
            <a:r>
              <a:rPr lang="en-US" dirty="0">
                <a:hlinkClick r:id="rId2"/>
              </a:rPr>
              <a:t>https://</a:t>
            </a:r>
            <a:r>
              <a:rPr lang="en-US" dirty="0" smtClean="0">
                <a:hlinkClick r:id="rId2"/>
              </a:rPr>
              <a:t>www.youtube.com/watch?v=OmOwj3qMdOY</a:t>
            </a:r>
            <a:endParaRPr lang="en-US" dirty="0" smtClean="0"/>
          </a:p>
          <a:p>
            <a:r>
              <a:rPr lang="en-US" dirty="0">
                <a:hlinkClick r:id="rId3"/>
              </a:rPr>
              <a:t>https://angeluriot.com/maze_solver</a:t>
            </a:r>
            <a:r>
              <a:rPr lang="en-US" dirty="0" smtClean="0">
                <a:hlinkClick r:id="rId3"/>
              </a:rPr>
              <a:t>/</a:t>
            </a:r>
            <a:endParaRPr lang="en-US" dirty="0" smtClean="0"/>
          </a:p>
          <a:p>
            <a:r>
              <a:rPr lang="en-US" dirty="0">
                <a:hlinkClick r:id="rId4"/>
              </a:rPr>
              <a:t>Top 5 Most Common Graph Algorithms for Coding Interviews (youtube.com)</a:t>
            </a:r>
            <a:endParaRPr lang="en-US" dirty="0" smtClean="0"/>
          </a:p>
          <a:p>
            <a:r>
              <a:rPr lang="en-US" dirty="0">
                <a:hlinkClick r:id="rId5"/>
              </a:rPr>
              <a:t>Breadth First Search (BFS): Visualized and Explained (youtube.com</a:t>
            </a:r>
            <a:r>
              <a:rPr lang="en-US" dirty="0" smtClean="0">
                <a:hlinkClick r:id="rId5"/>
              </a:rPr>
              <a:t>)</a:t>
            </a:r>
            <a:endParaRPr lang="en-US" dirty="0" smtClean="0"/>
          </a:p>
          <a:p>
            <a:r>
              <a:rPr lang="en-US" dirty="0">
                <a:hlinkClick r:id="rId6"/>
              </a:rPr>
              <a:t>Depth First Search (DFS) Explained: Algorithm, Examples, and Code (youtube.com</a:t>
            </a:r>
            <a:r>
              <a:rPr lang="en-US" dirty="0" smtClean="0">
                <a:hlinkClick r:id="rId6"/>
              </a:rPr>
              <a:t>)</a:t>
            </a:r>
            <a:endParaRPr lang="en-US" dirty="0" smtClean="0"/>
          </a:p>
          <a:p>
            <a:endParaRPr lang="en-US" dirty="0"/>
          </a:p>
        </p:txBody>
      </p:sp>
    </p:spTree>
    <p:extLst>
      <p:ext uri="{BB962C8B-B14F-4D97-AF65-F5344CB8AC3E}">
        <p14:creationId xmlns:p14="http://schemas.microsoft.com/office/powerpoint/2010/main" val="3911284552"/>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1426</TotalTime>
  <Words>1971</Words>
  <Application>Microsoft Office PowerPoint</Application>
  <PresentationFormat>Widescreen</PresentationFormat>
  <Paragraphs>132</Paragraphs>
  <Slides>27</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Garamond</vt:lpstr>
      <vt:lpstr>Tahoma</vt:lpstr>
      <vt:lpstr>Organic</vt:lpstr>
      <vt:lpstr>Search Algorithms</vt:lpstr>
      <vt:lpstr>Lesson Learning Outcomes</vt:lpstr>
      <vt:lpstr>Lesson objectives</vt:lpstr>
      <vt:lpstr>Problem-solving agents</vt:lpstr>
      <vt:lpstr>What is a Search Algorithm?</vt:lpstr>
      <vt:lpstr>Components of a Search Problem</vt:lpstr>
      <vt:lpstr>Other Terms</vt:lpstr>
      <vt:lpstr>ROBOTIC LAWN MOWER PROBLEM</vt:lpstr>
      <vt:lpstr>PowerPoint Presentation</vt:lpstr>
      <vt:lpstr>PowerPoint Presentation</vt:lpstr>
      <vt:lpstr>4 Essential Properties of Search Algorithms </vt:lpstr>
      <vt:lpstr>PowerPoint Presentation</vt:lpstr>
      <vt:lpstr>What is Uninformed Search in AI?</vt:lpstr>
      <vt:lpstr>Breadth-First Search (BFS)</vt:lpstr>
      <vt:lpstr>Depth-First Search (DFS)</vt:lpstr>
      <vt:lpstr>Depth-Limited Search (DLS)</vt:lpstr>
      <vt:lpstr>Uniform-Cost Search (UCS)</vt:lpstr>
      <vt:lpstr>Iterative deepening depth-first Search </vt:lpstr>
      <vt:lpstr>Bidirectional Search Algorithm </vt:lpstr>
      <vt:lpstr>Summary </vt:lpstr>
      <vt:lpstr>What is Informed Search in AI?</vt:lpstr>
      <vt:lpstr>Best-first Search Algorithm (Greedy Search) </vt:lpstr>
      <vt:lpstr>A* Search Algorithm </vt:lpstr>
      <vt:lpstr>Key Features of Informed Search</vt:lpstr>
      <vt:lpstr>Applications of Search Algorithms</vt:lpstr>
      <vt:lpstr>PowerPoint Presentation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Search Algorithms</dc:title>
  <dc:creator>Edward Ombui</dc:creator>
  <cp:lastModifiedBy>Edward Ombui</cp:lastModifiedBy>
  <cp:revision>34</cp:revision>
  <dcterms:created xsi:type="dcterms:W3CDTF">2024-01-27T08:55:54Z</dcterms:created>
  <dcterms:modified xsi:type="dcterms:W3CDTF">2024-02-02T13:12:35Z</dcterms:modified>
</cp:coreProperties>
</file>