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56" r:id="rId2"/>
    <p:sldId id="294" r:id="rId3"/>
    <p:sldId id="257" r:id="rId4"/>
    <p:sldId id="262" r:id="rId5"/>
    <p:sldId id="279" r:id="rId6"/>
    <p:sldId id="280" r:id="rId7"/>
    <p:sldId id="264" r:id="rId8"/>
    <p:sldId id="283" r:id="rId9"/>
    <p:sldId id="297" r:id="rId10"/>
    <p:sldId id="274" r:id="rId11"/>
    <p:sldId id="298" r:id="rId12"/>
    <p:sldId id="277" r:id="rId13"/>
    <p:sldId id="284" r:id="rId14"/>
    <p:sldId id="295" r:id="rId15"/>
    <p:sldId id="286" r:id="rId16"/>
    <p:sldId id="299" r:id="rId17"/>
    <p:sldId id="300" r:id="rId18"/>
    <p:sldId id="301" r:id="rId19"/>
    <p:sldId id="292" r:id="rId20"/>
    <p:sldId id="285" r:id="rId21"/>
    <p:sldId id="282" r:id="rId22"/>
    <p:sldId id="296" r:id="rId23"/>
    <p:sldId id="302" r:id="rId24"/>
    <p:sldId id="288" r:id="rId25"/>
    <p:sldId id="287" r:id="rId26"/>
    <p:sldId id="303" r:id="rId27"/>
    <p:sldId id="304" r:id="rId28"/>
    <p:sldId id="305" r:id="rId29"/>
    <p:sldId id="289" r:id="rId30"/>
    <p:sldId id="290" r:id="rId31"/>
    <p:sldId id="291" r:id="rId32"/>
    <p:sldId id="26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456" autoAdjust="0"/>
  </p:normalViewPr>
  <p:slideViewPr>
    <p:cSldViewPr snapToGrid="0">
      <p:cViewPr varScale="1">
        <p:scale>
          <a:sx n="91" d="100"/>
          <a:sy n="91" d="100"/>
        </p:scale>
        <p:origin x="62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05EE5-3672-42CD-B87C-53817B7C632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8E1F332-3A17-4D6B-B001-6BA23E1CC27B}" type="asst">
      <dgm:prSet phldrT="[Text]"/>
      <dgm:spPr/>
      <dgm:t>
        <a:bodyPr/>
        <a:lstStyle/>
        <a:p>
          <a:r>
            <a:rPr lang="en-US" dirty="0" smtClean="0"/>
            <a:t>Propositional Logic	</a:t>
          </a:r>
          <a:endParaRPr lang="en-US" dirty="0"/>
        </a:p>
      </dgm:t>
    </dgm:pt>
    <dgm:pt modelId="{433DF950-1A8C-47AD-B9E3-C9BF941471EE}" type="sibTrans" cxnId="{3D4F33B3-8132-4481-AB19-D199FE8F3C98}">
      <dgm:prSet/>
      <dgm:spPr/>
      <dgm:t>
        <a:bodyPr/>
        <a:lstStyle/>
        <a:p>
          <a:endParaRPr lang="en-US"/>
        </a:p>
      </dgm:t>
    </dgm:pt>
    <dgm:pt modelId="{1B4159F6-C749-4028-AA5A-1AA2F303C795}" type="parTrans" cxnId="{3D4F33B3-8132-4481-AB19-D199FE8F3C98}">
      <dgm:prSet/>
      <dgm:spPr/>
      <dgm:t>
        <a:bodyPr/>
        <a:lstStyle/>
        <a:p>
          <a:endParaRPr lang="en-US"/>
        </a:p>
      </dgm:t>
    </dgm:pt>
    <dgm:pt modelId="{5C644E54-76BA-4942-BCD3-751364B22458}" type="asst">
      <dgm:prSet/>
      <dgm:spPr/>
      <dgm:t>
        <a:bodyPr/>
        <a:lstStyle/>
        <a:p>
          <a:r>
            <a:rPr lang="en-US" dirty="0" smtClean="0"/>
            <a:t>Predicate Logic</a:t>
          </a:r>
          <a:endParaRPr lang="en-US" dirty="0"/>
        </a:p>
      </dgm:t>
    </dgm:pt>
    <dgm:pt modelId="{D88E6B04-85BF-4D7B-8813-22BA914BA7DD}" type="sibTrans" cxnId="{9536DADF-37C8-400D-8062-12FC53ABE26C}">
      <dgm:prSet/>
      <dgm:spPr/>
      <dgm:t>
        <a:bodyPr/>
        <a:lstStyle/>
        <a:p>
          <a:endParaRPr lang="en-US"/>
        </a:p>
      </dgm:t>
    </dgm:pt>
    <dgm:pt modelId="{0806FF0A-BA20-413B-9C0D-B11C693F0D5E}" type="parTrans" cxnId="{9536DADF-37C8-400D-8062-12FC53ABE26C}">
      <dgm:prSet/>
      <dgm:spPr/>
      <dgm:t>
        <a:bodyPr/>
        <a:lstStyle/>
        <a:p>
          <a:endParaRPr lang="en-US"/>
        </a:p>
      </dgm:t>
    </dgm:pt>
    <dgm:pt modelId="{270F5C4D-CEEA-4C62-9169-6745295350FB}">
      <dgm:prSet phldrT="[Text]"/>
      <dgm:spPr/>
      <dgm:t>
        <a:bodyPr/>
        <a:lstStyle/>
        <a:p>
          <a:r>
            <a:rPr lang="en-US" dirty="0" smtClean="0"/>
            <a:t>Logic Representation</a:t>
          </a:r>
          <a:endParaRPr lang="en-US" dirty="0"/>
        </a:p>
      </dgm:t>
    </dgm:pt>
    <dgm:pt modelId="{FD3B556B-49F0-456E-8CD9-5199181220DD}" type="sibTrans" cxnId="{F0A74ED5-A7DB-43C0-8081-E794FED76EA1}">
      <dgm:prSet/>
      <dgm:spPr/>
      <dgm:t>
        <a:bodyPr/>
        <a:lstStyle/>
        <a:p>
          <a:endParaRPr lang="en-US"/>
        </a:p>
      </dgm:t>
    </dgm:pt>
    <dgm:pt modelId="{51E88096-5FDE-4DA2-AA7C-84B04492C5FA}" type="parTrans" cxnId="{F0A74ED5-A7DB-43C0-8081-E794FED76EA1}">
      <dgm:prSet/>
      <dgm:spPr/>
      <dgm:t>
        <a:bodyPr/>
        <a:lstStyle/>
        <a:p>
          <a:endParaRPr lang="en-US"/>
        </a:p>
      </dgm:t>
    </dgm:pt>
    <dgm:pt modelId="{BACE3106-8AB3-4ACB-BCFF-A7F742E3149D}" type="pres">
      <dgm:prSet presAssocID="{28905EE5-3672-42CD-B87C-53817B7C6321}" presName="hierChild1" presStyleCnt="0">
        <dgm:presLayoutVars>
          <dgm:orgChart val="1"/>
          <dgm:chPref val="1"/>
          <dgm:dir/>
          <dgm:animOne val="branch"/>
          <dgm:animLvl val="lvl"/>
          <dgm:resizeHandles/>
        </dgm:presLayoutVars>
      </dgm:prSet>
      <dgm:spPr/>
      <dgm:t>
        <a:bodyPr/>
        <a:lstStyle/>
        <a:p>
          <a:endParaRPr lang="en-US"/>
        </a:p>
      </dgm:t>
    </dgm:pt>
    <dgm:pt modelId="{70FDD3CF-6E20-4A7B-AF21-230667B61187}" type="pres">
      <dgm:prSet presAssocID="{270F5C4D-CEEA-4C62-9169-6745295350FB}" presName="hierRoot1" presStyleCnt="0">
        <dgm:presLayoutVars>
          <dgm:hierBranch val="init"/>
        </dgm:presLayoutVars>
      </dgm:prSet>
      <dgm:spPr/>
    </dgm:pt>
    <dgm:pt modelId="{A17B95F6-209C-4F65-BEAE-911A6BF83EDB}" type="pres">
      <dgm:prSet presAssocID="{270F5C4D-CEEA-4C62-9169-6745295350FB}" presName="rootComposite1" presStyleCnt="0"/>
      <dgm:spPr/>
    </dgm:pt>
    <dgm:pt modelId="{A04A7806-F773-475F-A459-300DCDF87296}" type="pres">
      <dgm:prSet presAssocID="{270F5C4D-CEEA-4C62-9169-6745295350FB}" presName="rootText1" presStyleLbl="node0" presStyleIdx="0" presStyleCnt="1">
        <dgm:presLayoutVars>
          <dgm:chPref val="3"/>
        </dgm:presLayoutVars>
      </dgm:prSet>
      <dgm:spPr/>
      <dgm:t>
        <a:bodyPr/>
        <a:lstStyle/>
        <a:p>
          <a:endParaRPr lang="en-US"/>
        </a:p>
      </dgm:t>
    </dgm:pt>
    <dgm:pt modelId="{A21AD37D-4910-49F3-AC12-933E35234F6E}" type="pres">
      <dgm:prSet presAssocID="{270F5C4D-CEEA-4C62-9169-6745295350FB}" presName="rootConnector1" presStyleLbl="node1" presStyleIdx="0" presStyleCnt="0"/>
      <dgm:spPr/>
      <dgm:t>
        <a:bodyPr/>
        <a:lstStyle/>
        <a:p>
          <a:endParaRPr lang="en-US"/>
        </a:p>
      </dgm:t>
    </dgm:pt>
    <dgm:pt modelId="{121D639F-FA96-41EA-B57E-2AECC6F1F050}" type="pres">
      <dgm:prSet presAssocID="{270F5C4D-CEEA-4C62-9169-6745295350FB}" presName="hierChild2" presStyleCnt="0"/>
      <dgm:spPr/>
    </dgm:pt>
    <dgm:pt modelId="{54A85CED-024C-4F81-B145-B50C81ECB511}" type="pres">
      <dgm:prSet presAssocID="{270F5C4D-CEEA-4C62-9169-6745295350FB}" presName="hierChild3" presStyleCnt="0"/>
      <dgm:spPr/>
    </dgm:pt>
    <dgm:pt modelId="{B4880332-DD3F-43B7-902C-39CBFABE3980}" type="pres">
      <dgm:prSet presAssocID="{1B4159F6-C749-4028-AA5A-1AA2F303C795}" presName="Name111" presStyleLbl="parChTrans1D2" presStyleIdx="0" presStyleCnt="2"/>
      <dgm:spPr/>
      <dgm:t>
        <a:bodyPr/>
        <a:lstStyle/>
        <a:p>
          <a:endParaRPr lang="en-US"/>
        </a:p>
      </dgm:t>
    </dgm:pt>
    <dgm:pt modelId="{FAF5BE45-576E-45D1-8C33-177BBF59568F}" type="pres">
      <dgm:prSet presAssocID="{C8E1F332-3A17-4D6B-B001-6BA23E1CC27B}" presName="hierRoot3" presStyleCnt="0">
        <dgm:presLayoutVars>
          <dgm:hierBranch val="init"/>
        </dgm:presLayoutVars>
      </dgm:prSet>
      <dgm:spPr/>
    </dgm:pt>
    <dgm:pt modelId="{42FF397A-A9B0-437E-80CE-AB6A160F858D}" type="pres">
      <dgm:prSet presAssocID="{C8E1F332-3A17-4D6B-B001-6BA23E1CC27B}" presName="rootComposite3" presStyleCnt="0"/>
      <dgm:spPr/>
    </dgm:pt>
    <dgm:pt modelId="{5B1AE827-7488-4D33-B660-DB5BABA73FFA}" type="pres">
      <dgm:prSet presAssocID="{C8E1F332-3A17-4D6B-B001-6BA23E1CC27B}" presName="rootText3" presStyleLbl="asst1" presStyleIdx="0" presStyleCnt="2">
        <dgm:presLayoutVars>
          <dgm:chPref val="3"/>
        </dgm:presLayoutVars>
      </dgm:prSet>
      <dgm:spPr/>
      <dgm:t>
        <a:bodyPr/>
        <a:lstStyle/>
        <a:p>
          <a:endParaRPr lang="en-US"/>
        </a:p>
      </dgm:t>
    </dgm:pt>
    <dgm:pt modelId="{092E1D10-0F85-44B1-8D55-BF8A3DFE44E7}" type="pres">
      <dgm:prSet presAssocID="{C8E1F332-3A17-4D6B-B001-6BA23E1CC27B}" presName="rootConnector3" presStyleLbl="asst1" presStyleIdx="0" presStyleCnt="2"/>
      <dgm:spPr/>
      <dgm:t>
        <a:bodyPr/>
        <a:lstStyle/>
        <a:p>
          <a:endParaRPr lang="en-US"/>
        </a:p>
      </dgm:t>
    </dgm:pt>
    <dgm:pt modelId="{F03B7695-289F-44C0-AC98-AE11939F9E2A}" type="pres">
      <dgm:prSet presAssocID="{C8E1F332-3A17-4D6B-B001-6BA23E1CC27B}" presName="hierChild6" presStyleCnt="0"/>
      <dgm:spPr/>
    </dgm:pt>
    <dgm:pt modelId="{804A5158-B5CC-48E5-992A-BD95F6219948}" type="pres">
      <dgm:prSet presAssocID="{C8E1F332-3A17-4D6B-B001-6BA23E1CC27B}" presName="hierChild7" presStyleCnt="0"/>
      <dgm:spPr/>
    </dgm:pt>
    <dgm:pt modelId="{4853F3D7-E666-4827-B402-8C5746422446}" type="pres">
      <dgm:prSet presAssocID="{0806FF0A-BA20-413B-9C0D-B11C693F0D5E}" presName="Name111" presStyleLbl="parChTrans1D2" presStyleIdx="1" presStyleCnt="2"/>
      <dgm:spPr/>
      <dgm:t>
        <a:bodyPr/>
        <a:lstStyle/>
        <a:p>
          <a:endParaRPr lang="en-US"/>
        </a:p>
      </dgm:t>
    </dgm:pt>
    <dgm:pt modelId="{E1EADBC3-E261-43C9-85D0-A3AF9A152E50}" type="pres">
      <dgm:prSet presAssocID="{5C644E54-76BA-4942-BCD3-751364B22458}" presName="hierRoot3" presStyleCnt="0">
        <dgm:presLayoutVars>
          <dgm:hierBranch val="init"/>
        </dgm:presLayoutVars>
      </dgm:prSet>
      <dgm:spPr/>
    </dgm:pt>
    <dgm:pt modelId="{D100E093-05E3-41E6-AD4B-1805DFC4F12F}" type="pres">
      <dgm:prSet presAssocID="{5C644E54-76BA-4942-BCD3-751364B22458}" presName="rootComposite3" presStyleCnt="0"/>
      <dgm:spPr/>
    </dgm:pt>
    <dgm:pt modelId="{CC8877A5-E193-4A2A-8D70-0A51D5DC9C0F}" type="pres">
      <dgm:prSet presAssocID="{5C644E54-76BA-4942-BCD3-751364B22458}" presName="rootText3" presStyleLbl="asst1" presStyleIdx="1" presStyleCnt="2">
        <dgm:presLayoutVars>
          <dgm:chPref val="3"/>
        </dgm:presLayoutVars>
      </dgm:prSet>
      <dgm:spPr/>
      <dgm:t>
        <a:bodyPr/>
        <a:lstStyle/>
        <a:p>
          <a:endParaRPr lang="en-US"/>
        </a:p>
      </dgm:t>
    </dgm:pt>
    <dgm:pt modelId="{D4B4D3DE-26B8-4AF1-9855-188DB4000E5A}" type="pres">
      <dgm:prSet presAssocID="{5C644E54-76BA-4942-BCD3-751364B22458}" presName="rootConnector3" presStyleLbl="asst1" presStyleIdx="1" presStyleCnt="2"/>
      <dgm:spPr/>
      <dgm:t>
        <a:bodyPr/>
        <a:lstStyle/>
        <a:p>
          <a:endParaRPr lang="en-US"/>
        </a:p>
      </dgm:t>
    </dgm:pt>
    <dgm:pt modelId="{38863867-4E65-4091-88EE-A913E3F4C2AD}" type="pres">
      <dgm:prSet presAssocID="{5C644E54-76BA-4942-BCD3-751364B22458}" presName="hierChild6" presStyleCnt="0"/>
      <dgm:spPr/>
    </dgm:pt>
    <dgm:pt modelId="{8FD99A83-03A1-4410-8899-15F421DDE05B}" type="pres">
      <dgm:prSet presAssocID="{5C644E54-76BA-4942-BCD3-751364B22458}" presName="hierChild7" presStyleCnt="0"/>
      <dgm:spPr/>
    </dgm:pt>
  </dgm:ptLst>
  <dgm:cxnLst>
    <dgm:cxn modelId="{D0AF49FD-C7C6-47F3-A51A-3E2F0611A9F8}" type="presOf" srcId="{270F5C4D-CEEA-4C62-9169-6745295350FB}" destId="{A21AD37D-4910-49F3-AC12-933E35234F6E}" srcOrd="1" destOrd="0" presId="urn:microsoft.com/office/officeart/2005/8/layout/orgChart1"/>
    <dgm:cxn modelId="{2FE5D165-C667-47D8-8720-1B4636EBAE9F}" type="presOf" srcId="{C8E1F332-3A17-4D6B-B001-6BA23E1CC27B}" destId="{092E1D10-0F85-44B1-8D55-BF8A3DFE44E7}" srcOrd="1" destOrd="0" presId="urn:microsoft.com/office/officeart/2005/8/layout/orgChart1"/>
    <dgm:cxn modelId="{EEBB2CB1-0947-47C7-8361-0D9E5ED56E05}" type="presOf" srcId="{C8E1F332-3A17-4D6B-B001-6BA23E1CC27B}" destId="{5B1AE827-7488-4D33-B660-DB5BABA73FFA}" srcOrd="0" destOrd="0" presId="urn:microsoft.com/office/officeart/2005/8/layout/orgChart1"/>
    <dgm:cxn modelId="{70C1162F-0A33-47EE-9B7D-D50F5A2B0EC4}" type="presOf" srcId="{5C644E54-76BA-4942-BCD3-751364B22458}" destId="{D4B4D3DE-26B8-4AF1-9855-188DB4000E5A}" srcOrd="1" destOrd="0" presId="urn:microsoft.com/office/officeart/2005/8/layout/orgChart1"/>
    <dgm:cxn modelId="{F0A74ED5-A7DB-43C0-8081-E794FED76EA1}" srcId="{28905EE5-3672-42CD-B87C-53817B7C6321}" destId="{270F5C4D-CEEA-4C62-9169-6745295350FB}" srcOrd="0" destOrd="0" parTransId="{51E88096-5FDE-4DA2-AA7C-84B04492C5FA}" sibTransId="{FD3B556B-49F0-456E-8CD9-5199181220DD}"/>
    <dgm:cxn modelId="{9536DADF-37C8-400D-8062-12FC53ABE26C}" srcId="{270F5C4D-CEEA-4C62-9169-6745295350FB}" destId="{5C644E54-76BA-4942-BCD3-751364B22458}" srcOrd="1" destOrd="0" parTransId="{0806FF0A-BA20-413B-9C0D-B11C693F0D5E}" sibTransId="{D88E6B04-85BF-4D7B-8813-22BA914BA7DD}"/>
    <dgm:cxn modelId="{DB840FD1-9FC3-4761-9007-952BF85BE25B}" type="presOf" srcId="{1B4159F6-C749-4028-AA5A-1AA2F303C795}" destId="{B4880332-DD3F-43B7-902C-39CBFABE3980}" srcOrd="0" destOrd="0" presId="urn:microsoft.com/office/officeart/2005/8/layout/orgChart1"/>
    <dgm:cxn modelId="{FE89C38D-144D-4304-B926-791A6D4633E3}" type="presOf" srcId="{270F5C4D-CEEA-4C62-9169-6745295350FB}" destId="{A04A7806-F773-475F-A459-300DCDF87296}" srcOrd="0" destOrd="0" presId="urn:microsoft.com/office/officeart/2005/8/layout/orgChart1"/>
    <dgm:cxn modelId="{3D4F33B3-8132-4481-AB19-D199FE8F3C98}" srcId="{270F5C4D-CEEA-4C62-9169-6745295350FB}" destId="{C8E1F332-3A17-4D6B-B001-6BA23E1CC27B}" srcOrd="0" destOrd="0" parTransId="{1B4159F6-C749-4028-AA5A-1AA2F303C795}" sibTransId="{433DF950-1A8C-47AD-B9E3-C9BF941471EE}"/>
    <dgm:cxn modelId="{7A3735AB-9625-44C8-BF3B-E2B4F98019F3}" type="presOf" srcId="{28905EE5-3672-42CD-B87C-53817B7C6321}" destId="{BACE3106-8AB3-4ACB-BCFF-A7F742E3149D}" srcOrd="0" destOrd="0" presId="urn:microsoft.com/office/officeart/2005/8/layout/orgChart1"/>
    <dgm:cxn modelId="{629F4E2C-ADC0-4B6B-8805-41B686FF7189}" type="presOf" srcId="{5C644E54-76BA-4942-BCD3-751364B22458}" destId="{CC8877A5-E193-4A2A-8D70-0A51D5DC9C0F}" srcOrd="0" destOrd="0" presId="urn:microsoft.com/office/officeart/2005/8/layout/orgChart1"/>
    <dgm:cxn modelId="{F4704EC4-5A37-4E8A-9BBF-DD7657CDFC54}" type="presOf" srcId="{0806FF0A-BA20-413B-9C0D-B11C693F0D5E}" destId="{4853F3D7-E666-4827-B402-8C5746422446}" srcOrd="0" destOrd="0" presId="urn:microsoft.com/office/officeart/2005/8/layout/orgChart1"/>
    <dgm:cxn modelId="{3E037D4D-18B1-4504-941C-126D7834F1BB}" type="presParOf" srcId="{BACE3106-8AB3-4ACB-BCFF-A7F742E3149D}" destId="{70FDD3CF-6E20-4A7B-AF21-230667B61187}" srcOrd="0" destOrd="0" presId="urn:microsoft.com/office/officeart/2005/8/layout/orgChart1"/>
    <dgm:cxn modelId="{198FC689-9539-461A-AA92-40DB998406A9}" type="presParOf" srcId="{70FDD3CF-6E20-4A7B-AF21-230667B61187}" destId="{A17B95F6-209C-4F65-BEAE-911A6BF83EDB}" srcOrd="0" destOrd="0" presId="urn:microsoft.com/office/officeart/2005/8/layout/orgChart1"/>
    <dgm:cxn modelId="{D2C5257E-92F0-4C86-9D20-4DEDFEE0F2B6}" type="presParOf" srcId="{A17B95F6-209C-4F65-BEAE-911A6BF83EDB}" destId="{A04A7806-F773-475F-A459-300DCDF87296}" srcOrd="0" destOrd="0" presId="urn:microsoft.com/office/officeart/2005/8/layout/orgChart1"/>
    <dgm:cxn modelId="{C066C361-5D8B-4008-BF06-62634D54ACCF}" type="presParOf" srcId="{A17B95F6-209C-4F65-BEAE-911A6BF83EDB}" destId="{A21AD37D-4910-49F3-AC12-933E35234F6E}" srcOrd="1" destOrd="0" presId="urn:microsoft.com/office/officeart/2005/8/layout/orgChart1"/>
    <dgm:cxn modelId="{DCF6D3E0-C08B-4969-9F68-AB141414634E}" type="presParOf" srcId="{70FDD3CF-6E20-4A7B-AF21-230667B61187}" destId="{121D639F-FA96-41EA-B57E-2AECC6F1F050}" srcOrd="1" destOrd="0" presId="urn:microsoft.com/office/officeart/2005/8/layout/orgChart1"/>
    <dgm:cxn modelId="{D542A112-444D-482C-B8EB-900F6DC47FC8}" type="presParOf" srcId="{70FDD3CF-6E20-4A7B-AF21-230667B61187}" destId="{54A85CED-024C-4F81-B145-B50C81ECB511}" srcOrd="2" destOrd="0" presId="urn:microsoft.com/office/officeart/2005/8/layout/orgChart1"/>
    <dgm:cxn modelId="{051DE728-51E6-4F8B-96BA-7217C1A6F3EE}" type="presParOf" srcId="{54A85CED-024C-4F81-B145-B50C81ECB511}" destId="{B4880332-DD3F-43B7-902C-39CBFABE3980}" srcOrd="0" destOrd="0" presId="urn:microsoft.com/office/officeart/2005/8/layout/orgChart1"/>
    <dgm:cxn modelId="{374E1DE8-318D-40E4-A98B-2E073EFB2DDA}" type="presParOf" srcId="{54A85CED-024C-4F81-B145-B50C81ECB511}" destId="{FAF5BE45-576E-45D1-8C33-177BBF59568F}" srcOrd="1" destOrd="0" presId="urn:microsoft.com/office/officeart/2005/8/layout/orgChart1"/>
    <dgm:cxn modelId="{7DA5561F-631E-4971-818F-4C05D14D8BFC}" type="presParOf" srcId="{FAF5BE45-576E-45D1-8C33-177BBF59568F}" destId="{42FF397A-A9B0-437E-80CE-AB6A160F858D}" srcOrd="0" destOrd="0" presId="urn:microsoft.com/office/officeart/2005/8/layout/orgChart1"/>
    <dgm:cxn modelId="{12541DBC-C41B-4930-8274-65491AB0EBC9}" type="presParOf" srcId="{42FF397A-A9B0-437E-80CE-AB6A160F858D}" destId="{5B1AE827-7488-4D33-B660-DB5BABA73FFA}" srcOrd="0" destOrd="0" presId="urn:microsoft.com/office/officeart/2005/8/layout/orgChart1"/>
    <dgm:cxn modelId="{2AA390FE-3B38-4535-B4CB-A7A39F471239}" type="presParOf" srcId="{42FF397A-A9B0-437E-80CE-AB6A160F858D}" destId="{092E1D10-0F85-44B1-8D55-BF8A3DFE44E7}" srcOrd="1" destOrd="0" presId="urn:microsoft.com/office/officeart/2005/8/layout/orgChart1"/>
    <dgm:cxn modelId="{A9C57229-1DB2-4700-A653-0AEBE3AB8C2C}" type="presParOf" srcId="{FAF5BE45-576E-45D1-8C33-177BBF59568F}" destId="{F03B7695-289F-44C0-AC98-AE11939F9E2A}" srcOrd="1" destOrd="0" presId="urn:microsoft.com/office/officeart/2005/8/layout/orgChart1"/>
    <dgm:cxn modelId="{0A23CC77-688E-45E6-B38D-C7EBA4E5E070}" type="presParOf" srcId="{FAF5BE45-576E-45D1-8C33-177BBF59568F}" destId="{804A5158-B5CC-48E5-992A-BD95F6219948}" srcOrd="2" destOrd="0" presId="urn:microsoft.com/office/officeart/2005/8/layout/orgChart1"/>
    <dgm:cxn modelId="{37140959-847A-4DD8-A721-37544742C075}" type="presParOf" srcId="{54A85CED-024C-4F81-B145-B50C81ECB511}" destId="{4853F3D7-E666-4827-B402-8C5746422446}" srcOrd="2" destOrd="0" presId="urn:microsoft.com/office/officeart/2005/8/layout/orgChart1"/>
    <dgm:cxn modelId="{633418F9-FE07-465B-9B93-DCFE031A1188}" type="presParOf" srcId="{54A85CED-024C-4F81-B145-B50C81ECB511}" destId="{E1EADBC3-E261-43C9-85D0-A3AF9A152E50}" srcOrd="3" destOrd="0" presId="urn:microsoft.com/office/officeart/2005/8/layout/orgChart1"/>
    <dgm:cxn modelId="{1DDD6D64-E1A1-4942-A828-4F41BAC167F1}" type="presParOf" srcId="{E1EADBC3-E261-43C9-85D0-A3AF9A152E50}" destId="{D100E093-05E3-41E6-AD4B-1805DFC4F12F}" srcOrd="0" destOrd="0" presId="urn:microsoft.com/office/officeart/2005/8/layout/orgChart1"/>
    <dgm:cxn modelId="{3C3B0D11-B95C-4A60-8EA2-A21D7B7879BE}" type="presParOf" srcId="{D100E093-05E3-41E6-AD4B-1805DFC4F12F}" destId="{CC8877A5-E193-4A2A-8D70-0A51D5DC9C0F}" srcOrd="0" destOrd="0" presId="urn:microsoft.com/office/officeart/2005/8/layout/orgChart1"/>
    <dgm:cxn modelId="{D8931BF1-D9AD-41CF-B7F5-50EDAFF41F01}" type="presParOf" srcId="{D100E093-05E3-41E6-AD4B-1805DFC4F12F}" destId="{D4B4D3DE-26B8-4AF1-9855-188DB4000E5A}" srcOrd="1" destOrd="0" presId="urn:microsoft.com/office/officeart/2005/8/layout/orgChart1"/>
    <dgm:cxn modelId="{DEE6F023-0DE6-48EB-BFE0-D90FA849018D}" type="presParOf" srcId="{E1EADBC3-E261-43C9-85D0-A3AF9A152E50}" destId="{38863867-4E65-4091-88EE-A913E3F4C2AD}" srcOrd="1" destOrd="0" presId="urn:microsoft.com/office/officeart/2005/8/layout/orgChart1"/>
    <dgm:cxn modelId="{51156334-EDAF-4B2C-A819-46E472397D82}" type="presParOf" srcId="{E1EADBC3-E261-43C9-85D0-A3AF9A152E50}" destId="{8FD99A83-03A1-4410-8899-15F421DDE05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53F3D7-E666-4827-B402-8C5746422446}">
      <dsp:nvSpPr>
        <dsp:cNvPr id="0" name=""/>
        <dsp:cNvSpPr/>
      </dsp:nvSpPr>
      <dsp:spPr>
        <a:xfrm>
          <a:off x="1920646" y="1029651"/>
          <a:ext cx="182416" cy="799159"/>
        </a:xfrm>
        <a:custGeom>
          <a:avLst/>
          <a:gdLst/>
          <a:ahLst/>
          <a:cxnLst/>
          <a:rect l="0" t="0" r="0" b="0"/>
          <a:pathLst>
            <a:path>
              <a:moveTo>
                <a:pt x="0" y="0"/>
              </a:moveTo>
              <a:lnTo>
                <a:pt x="0" y="799159"/>
              </a:lnTo>
              <a:lnTo>
                <a:pt x="182416" y="79915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880332-DD3F-43B7-902C-39CBFABE3980}">
      <dsp:nvSpPr>
        <dsp:cNvPr id="0" name=""/>
        <dsp:cNvSpPr/>
      </dsp:nvSpPr>
      <dsp:spPr>
        <a:xfrm>
          <a:off x="1738229" y="1029651"/>
          <a:ext cx="182416" cy="799159"/>
        </a:xfrm>
        <a:custGeom>
          <a:avLst/>
          <a:gdLst/>
          <a:ahLst/>
          <a:cxnLst/>
          <a:rect l="0" t="0" r="0" b="0"/>
          <a:pathLst>
            <a:path>
              <a:moveTo>
                <a:pt x="182416" y="0"/>
              </a:moveTo>
              <a:lnTo>
                <a:pt x="182416" y="799159"/>
              </a:lnTo>
              <a:lnTo>
                <a:pt x="0" y="79915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4A7806-F773-475F-A459-300DCDF87296}">
      <dsp:nvSpPr>
        <dsp:cNvPr id="0" name=""/>
        <dsp:cNvSpPr/>
      </dsp:nvSpPr>
      <dsp:spPr>
        <a:xfrm>
          <a:off x="1051994" y="160999"/>
          <a:ext cx="1737303" cy="86865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en-US" sz="2300" kern="1200" dirty="0" smtClean="0"/>
            <a:t>Logic Representation</a:t>
          </a:r>
          <a:endParaRPr lang="en-US" sz="2300" kern="1200" dirty="0"/>
        </a:p>
      </dsp:txBody>
      <dsp:txXfrm>
        <a:off x="1051994" y="160999"/>
        <a:ext cx="1737303" cy="868651"/>
      </dsp:txXfrm>
    </dsp:sp>
    <dsp:sp modelId="{5B1AE827-7488-4D33-B660-DB5BABA73FFA}">
      <dsp:nvSpPr>
        <dsp:cNvPr id="0" name=""/>
        <dsp:cNvSpPr/>
      </dsp:nvSpPr>
      <dsp:spPr>
        <a:xfrm>
          <a:off x="926" y="1394484"/>
          <a:ext cx="1737303" cy="86865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en-US" sz="2300" kern="1200" dirty="0" smtClean="0"/>
            <a:t>Propositional Logic	</a:t>
          </a:r>
          <a:endParaRPr lang="en-US" sz="2300" kern="1200" dirty="0"/>
        </a:p>
      </dsp:txBody>
      <dsp:txXfrm>
        <a:off x="926" y="1394484"/>
        <a:ext cx="1737303" cy="868651"/>
      </dsp:txXfrm>
    </dsp:sp>
    <dsp:sp modelId="{CC8877A5-E193-4A2A-8D70-0A51D5DC9C0F}">
      <dsp:nvSpPr>
        <dsp:cNvPr id="0" name=""/>
        <dsp:cNvSpPr/>
      </dsp:nvSpPr>
      <dsp:spPr>
        <a:xfrm>
          <a:off x="2103062" y="1394484"/>
          <a:ext cx="1737303" cy="86865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en-US" sz="2300" kern="1200" dirty="0" smtClean="0"/>
            <a:t>Predicate Logic</a:t>
          </a:r>
          <a:endParaRPr lang="en-US" sz="2300" kern="1200" dirty="0"/>
        </a:p>
      </dsp:txBody>
      <dsp:txXfrm>
        <a:off x="2103062" y="1394484"/>
        <a:ext cx="1737303" cy="86865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E9C55-8322-4A5B-9CFD-907B072CC03E}"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206E1-3AC3-48E6-87C4-B07D84DE850E}" type="slidenum">
              <a:rPr lang="en-US" smtClean="0"/>
              <a:t>‹#›</a:t>
            </a:fld>
            <a:endParaRPr lang="en-US"/>
          </a:p>
        </p:txBody>
      </p:sp>
    </p:spTree>
    <p:extLst>
      <p:ext uri="{BB962C8B-B14F-4D97-AF65-F5344CB8AC3E}">
        <p14:creationId xmlns:p14="http://schemas.microsoft.com/office/powerpoint/2010/main" val="976396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a:t>
            </a:fld>
            <a:endParaRPr lang="en-US"/>
          </a:p>
        </p:txBody>
      </p:sp>
    </p:spTree>
    <p:extLst>
      <p:ext uri="{BB962C8B-B14F-4D97-AF65-F5344CB8AC3E}">
        <p14:creationId xmlns:p14="http://schemas.microsoft.com/office/powerpoint/2010/main" val="4151151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Advantages:</a:t>
            </a:r>
            <a:r>
              <a:rPr lang="en-US" baseline="0" dirty="0" smtClean="0"/>
              <a:t> </a:t>
            </a:r>
          </a:p>
          <a:p>
            <a:r>
              <a:rPr lang="en-US" sz="1200" b="0" i="0" kern="1200" dirty="0" smtClean="0">
                <a:solidFill>
                  <a:schemeClr val="tx1"/>
                </a:solidFill>
                <a:effectLst/>
                <a:latin typeface="+mn-lt"/>
                <a:ea typeface="+mn-ea"/>
                <a:cs typeface="+mn-cs"/>
              </a:rPr>
              <a:t>Semantic networks are a natural representation of knowledge.</a:t>
            </a:r>
          </a:p>
          <a:p>
            <a:r>
              <a:rPr lang="en-US" sz="1200" b="0" i="0" kern="1200" dirty="0" smtClean="0">
                <a:solidFill>
                  <a:schemeClr val="tx1"/>
                </a:solidFill>
                <a:effectLst/>
                <a:latin typeface="+mn-lt"/>
                <a:ea typeface="+mn-ea"/>
                <a:cs typeface="+mn-cs"/>
              </a:rPr>
              <a:t>Semantic networks convey meaning in a transparent manner.</a:t>
            </a:r>
          </a:p>
          <a:p>
            <a:r>
              <a:rPr lang="en-US" sz="1200" b="0" i="0" kern="1200" dirty="0" smtClean="0">
                <a:solidFill>
                  <a:schemeClr val="tx1"/>
                </a:solidFill>
                <a:effectLst/>
                <a:latin typeface="+mn-lt"/>
                <a:ea typeface="+mn-ea"/>
                <a:cs typeface="+mn-cs"/>
              </a:rPr>
              <a:t>These networks are simple and easily understandable.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Drawback:</a:t>
            </a:r>
          </a:p>
          <a:p>
            <a:r>
              <a:rPr lang="en-US" sz="1200" b="0" i="0" kern="1200" dirty="0" smtClean="0">
                <a:solidFill>
                  <a:schemeClr val="tx1"/>
                </a:solidFill>
                <a:effectLst/>
                <a:latin typeface="+mn-lt"/>
                <a:ea typeface="+mn-ea"/>
                <a:cs typeface="+mn-cs"/>
              </a:rPr>
              <a:t>Semantic networks take more computational time at runtime as we need to traverse the complete network tree to answer some questions. It might be possible in the worst case scenario that after traversing the entire tree, we find that the solution does not exist in this network.</a:t>
            </a:r>
          </a:p>
          <a:p>
            <a:r>
              <a:rPr lang="en-US" sz="1200" b="0" i="0" kern="1200" dirty="0" smtClean="0">
                <a:solidFill>
                  <a:schemeClr val="tx1"/>
                </a:solidFill>
                <a:effectLst/>
                <a:latin typeface="+mn-lt"/>
                <a:ea typeface="+mn-ea"/>
                <a:cs typeface="+mn-cs"/>
              </a:rPr>
              <a:t>Semantic networks try to model human-like memory (Which has 1015 neurons and links) to store the information, but in practice, it is not possible to build such a vast semantic network.</a:t>
            </a:r>
          </a:p>
          <a:p>
            <a:r>
              <a:rPr lang="en-US" sz="1200" b="0" i="0" kern="1200" dirty="0" smtClean="0">
                <a:solidFill>
                  <a:schemeClr val="tx1"/>
                </a:solidFill>
                <a:effectLst/>
                <a:latin typeface="+mn-lt"/>
                <a:ea typeface="+mn-ea"/>
                <a:cs typeface="+mn-cs"/>
              </a:rPr>
              <a:t>These types of representations are inadequate as they do not have any equivalent quantifier, e.g., for all, for some, none, etc.</a:t>
            </a:r>
          </a:p>
          <a:p>
            <a:r>
              <a:rPr lang="en-US" sz="1200" b="0" i="0" kern="1200" dirty="0" smtClean="0">
                <a:solidFill>
                  <a:schemeClr val="tx1"/>
                </a:solidFill>
                <a:effectLst/>
                <a:latin typeface="+mn-lt"/>
                <a:ea typeface="+mn-ea"/>
                <a:cs typeface="+mn-cs"/>
              </a:rPr>
              <a:t>Semantic networks do not have any standard definition for the link names.</a:t>
            </a:r>
          </a:p>
          <a:p>
            <a:r>
              <a:rPr lang="en-US" sz="1200" b="0" i="0" kern="1200" dirty="0" smtClean="0">
                <a:solidFill>
                  <a:schemeClr val="tx1"/>
                </a:solidFill>
                <a:effectLst/>
                <a:latin typeface="+mn-lt"/>
                <a:ea typeface="+mn-ea"/>
                <a:cs typeface="+mn-cs"/>
              </a:rPr>
              <a:t>These networks are not intelligent and depend on the creator of the system.</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13</a:t>
            </a:fld>
            <a:endParaRPr lang="en-US"/>
          </a:p>
        </p:txBody>
      </p:sp>
    </p:spTree>
    <p:extLst>
      <p:ext uri="{BB962C8B-B14F-4D97-AF65-F5344CB8AC3E}">
        <p14:creationId xmlns:p14="http://schemas.microsoft.com/office/powerpoint/2010/main" val="1308138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Advantages:</a:t>
            </a:r>
            <a:r>
              <a:rPr lang="en-US" baseline="0" dirty="0" smtClean="0"/>
              <a:t> </a:t>
            </a:r>
          </a:p>
          <a:p>
            <a:r>
              <a:rPr lang="en-US" sz="1200" b="0" i="0" kern="1200" dirty="0" smtClean="0">
                <a:solidFill>
                  <a:schemeClr val="tx1"/>
                </a:solidFill>
                <a:effectLst/>
                <a:latin typeface="+mn-lt"/>
                <a:ea typeface="+mn-ea"/>
                <a:cs typeface="+mn-cs"/>
              </a:rPr>
              <a:t>Semantic networks are a natural representation of knowledge.</a:t>
            </a:r>
          </a:p>
          <a:p>
            <a:r>
              <a:rPr lang="en-US" sz="1200" b="0" i="0" kern="1200" dirty="0" smtClean="0">
                <a:solidFill>
                  <a:schemeClr val="tx1"/>
                </a:solidFill>
                <a:effectLst/>
                <a:latin typeface="+mn-lt"/>
                <a:ea typeface="+mn-ea"/>
                <a:cs typeface="+mn-cs"/>
              </a:rPr>
              <a:t>Semantic networks convey meaning in a transparent manner.</a:t>
            </a:r>
          </a:p>
          <a:p>
            <a:r>
              <a:rPr lang="en-US" sz="1200" b="0" i="0" kern="1200" dirty="0" smtClean="0">
                <a:solidFill>
                  <a:schemeClr val="tx1"/>
                </a:solidFill>
                <a:effectLst/>
                <a:latin typeface="+mn-lt"/>
                <a:ea typeface="+mn-ea"/>
                <a:cs typeface="+mn-cs"/>
              </a:rPr>
              <a:t>These networks are simple and easily understandable.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Drawback:</a:t>
            </a:r>
          </a:p>
          <a:p>
            <a:r>
              <a:rPr lang="en-US" sz="1200" b="0" i="0" kern="1200" dirty="0" smtClean="0">
                <a:solidFill>
                  <a:schemeClr val="tx1"/>
                </a:solidFill>
                <a:effectLst/>
                <a:latin typeface="+mn-lt"/>
                <a:ea typeface="+mn-ea"/>
                <a:cs typeface="+mn-cs"/>
              </a:rPr>
              <a:t>Semantic networks take more computational time at runtime as we need to traverse the complete network tree to answer some questions. It might be possible in the worst case scenario that after traversing the entire tree, we find that the solution does not exist in this network.</a:t>
            </a:r>
          </a:p>
          <a:p>
            <a:r>
              <a:rPr lang="en-US" sz="1200" b="0" i="0" kern="1200" dirty="0" smtClean="0">
                <a:solidFill>
                  <a:schemeClr val="tx1"/>
                </a:solidFill>
                <a:effectLst/>
                <a:latin typeface="+mn-lt"/>
                <a:ea typeface="+mn-ea"/>
                <a:cs typeface="+mn-cs"/>
              </a:rPr>
              <a:t>Semantic networks try to model human-like memory (Which has 1015 neurons and links) to store the information, but in practice, it is not possible to build such a vast semantic network.</a:t>
            </a:r>
          </a:p>
          <a:p>
            <a:r>
              <a:rPr lang="en-US" sz="1200" b="0" i="0" kern="1200" dirty="0" smtClean="0">
                <a:solidFill>
                  <a:schemeClr val="tx1"/>
                </a:solidFill>
                <a:effectLst/>
                <a:latin typeface="+mn-lt"/>
                <a:ea typeface="+mn-ea"/>
                <a:cs typeface="+mn-cs"/>
              </a:rPr>
              <a:t>These types of representations are inadequate as they do not have any equivalent quantifier, e.g., for all, for some, none, etc.</a:t>
            </a:r>
          </a:p>
          <a:p>
            <a:r>
              <a:rPr lang="en-US" sz="1200" b="0" i="0" kern="1200" dirty="0" smtClean="0">
                <a:solidFill>
                  <a:schemeClr val="tx1"/>
                </a:solidFill>
                <a:effectLst/>
                <a:latin typeface="+mn-lt"/>
                <a:ea typeface="+mn-ea"/>
                <a:cs typeface="+mn-cs"/>
              </a:rPr>
              <a:t>Semantic networks do not have any standard definition for the link names.</a:t>
            </a:r>
          </a:p>
          <a:p>
            <a:r>
              <a:rPr lang="en-US" sz="1200" b="0" i="0" kern="1200" dirty="0" smtClean="0">
                <a:solidFill>
                  <a:schemeClr val="tx1"/>
                </a:solidFill>
                <a:effectLst/>
                <a:latin typeface="+mn-lt"/>
                <a:ea typeface="+mn-ea"/>
                <a:cs typeface="+mn-cs"/>
              </a:rPr>
              <a:t>These networks are not intelligent and depend on the creator of the system.</a:t>
            </a:r>
          </a:p>
          <a:p>
            <a:endParaRPr lang="en-US" sz="1200" b="0" i="0" kern="1200" dirty="0" smtClean="0">
              <a:solidFill>
                <a:schemeClr val="tx1"/>
              </a:solidFill>
              <a:effectLst/>
              <a:latin typeface="+mn-lt"/>
              <a:ea typeface="+mn-ea"/>
              <a:cs typeface="+mn-cs"/>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19</a:t>
            </a:fld>
            <a:endParaRPr lang="en-US"/>
          </a:p>
        </p:txBody>
      </p:sp>
    </p:spTree>
    <p:extLst>
      <p:ext uri="{BB962C8B-B14F-4D97-AF65-F5344CB8AC3E}">
        <p14:creationId xmlns:p14="http://schemas.microsoft.com/office/powerpoint/2010/main" val="3837466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John</a:t>
            </a:r>
          </a:p>
          <a:p>
            <a:pPr lvl="1"/>
            <a:r>
              <a:rPr lang="en-US" sz="1200" b="0" i="0" kern="1200" dirty="0" smtClean="0">
                <a:solidFill>
                  <a:schemeClr val="tx1"/>
                </a:solidFill>
                <a:effectLst/>
                <a:latin typeface="+mn-lt"/>
                <a:ea typeface="+mn-ea"/>
                <a:cs typeface="+mn-cs"/>
              </a:rPr>
              <a:t>Likes</a:t>
            </a:r>
          </a:p>
          <a:p>
            <a:pPr lvl="2"/>
            <a:r>
              <a:rPr lang="en-US" sz="1200" b="0" i="0" kern="1200" dirty="0" smtClean="0">
                <a:solidFill>
                  <a:schemeClr val="tx1"/>
                </a:solidFill>
                <a:effectLst/>
                <a:latin typeface="+mn-lt"/>
                <a:ea typeface="+mn-ea"/>
                <a:cs typeface="+mn-cs"/>
              </a:rPr>
              <a:t>Soccer</a:t>
            </a:r>
          </a:p>
          <a:p>
            <a:pPr lvl="2"/>
            <a:r>
              <a:rPr lang="en-US" sz="1200" b="0" i="0" kern="1200" dirty="0" smtClean="0">
                <a:solidFill>
                  <a:schemeClr val="tx1"/>
                </a:solidFill>
                <a:effectLst/>
                <a:latin typeface="+mn-lt"/>
                <a:ea typeface="+mn-ea"/>
                <a:cs typeface="+mn-cs"/>
              </a:rPr>
              <a:t>Basketball</a:t>
            </a:r>
          </a:p>
          <a:p>
            <a:r>
              <a:rPr lang="en-US" sz="1200" b="0" i="0" kern="1200" dirty="0" smtClean="0">
                <a:solidFill>
                  <a:schemeClr val="tx1"/>
                </a:solidFill>
                <a:effectLst/>
                <a:latin typeface="+mn-lt"/>
                <a:ea typeface="+mn-ea"/>
                <a:cs typeface="+mn-cs"/>
              </a:rPr>
              <a:t>Sarah</a:t>
            </a:r>
          </a:p>
          <a:p>
            <a:pPr lvl="1"/>
            <a:r>
              <a:rPr lang="en-US" sz="1200" b="0" i="0" kern="1200" dirty="0" smtClean="0">
                <a:solidFill>
                  <a:schemeClr val="tx1"/>
                </a:solidFill>
                <a:effectLst/>
                <a:latin typeface="+mn-lt"/>
                <a:ea typeface="+mn-ea"/>
                <a:cs typeface="+mn-cs"/>
              </a:rPr>
              <a:t>Likes</a:t>
            </a:r>
          </a:p>
          <a:p>
            <a:pPr lvl="2"/>
            <a:r>
              <a:rPr lang="en-US" sz="1200" b="0" i="0" kern="1200" dirty="0" smtClean="0">
                <a:solidFill>
                  <a:schemeClr val="tx1"/>
                </a:solidFill>
                <a:effectLst/>
                <a:latin typeface="+mn-lt"/>
                <a:ea typeface="+mn-ea"/>
                <a:cs typeface="+mn-cs"/>
              </a:rPr>
              <a:t>Reading books</a:t>
            </a:r>
          </a:p>
          <a:p>
            <a:pPr lvl="2"/>
            <a:r>
              <a:rPr lang="en-US" sz="1200" b="0" i="0" kern="1200" dirty="0" smtClean="0">
                <a:solidFill>
                  <a:schemeClr val="tx1"/>
                </a:solidFill>
                <a:effectLst/>
                <a:latin typeface="+mn-lt"/>
                <a:ea typeface="+mn-ea"/>
                <a:cs typeface="+mn-cs"/>
              </a:rPr>
              <a:t>Painting</a:t>
            </a:r>
          </a:p>
          <a:p>
            <a:r>
              <a:rPr lang="en-US" sz="1200" b="0" i="0" kern="1200" dirty="0" smtClean="0">
                <a:solidFill>
                  <a:schemeClr val="tx1"/>
                </a:solidFill>
                <a:effectLst/>
                <a:latin typeface="+mn-lt"/>
                <a:ea typeface="+mn-ea"/>
                <a:cs typeface="+mn-cs"/>
              </a:rPr>
              <a:t>Michael</a:t>
            </a:r>
          </a:p>
          <a:p>
            <a:pPr lvl="1"/>
            <a:r>
              <a:rPr lang="en-US" sz="1200" b="0" i="0" kern="1200" dirty="0" smtClean="0">
                <a:solidFill>
                  <a:schemeClr val="tx1"/>
                </a:solidFill>
                <a:effectLst/>
                <a:latin typeface="+mn-lt"/>
                <a:ea typeface="+mn-ea"/>
                <a:cs typeface="+mn-cs"/>
              </a:rPr>
              <a:t>Likes</a:t>
            </a:r>
          </a:p>
          <a:p>
            <a:pPr lvl="2"/>
            <a:r>
              <a:rPr lang="en-US" sz="1200" b="0" i="0" kern="1200" dirty="0" smtClean="0">
                <a:solidFill>
                  <a:schemeClr val="tx1"/>
                </a:solidFill>
                <a:effectLst/>
                <a:latin typeface="+mn-lt"/>
                <a:ea typeface="+mn-ea"/>
                <a:cs typeface="+mn-cs"/>
              </a:rPr>
              <a:t>Photography</a:t>
            </a:r>
          </a:p>
          <a:p>
            <a:pPr lvl="2"/>
            <a:r>
              <a:rPr lang="en-US" sz="1200" b="0" i="0" kern="1200" dirty="0" smtClean="0">
                <a:solidFill>
                  <a:schemeClr val="tx1"/>
                </a:solidFill>
                <a:effectLst/>
                <a:latin typeface="+mn-lt"/>
                <a:ea typeface="+mn-ea"/>
                <a:cs typeface="+mn-cs"/>
              </a:rPr>
              <a:t>Hiking</a:t>
            </a:r>
          </a:p>
          <a:p>
            <a:r>
              <a:rPr lang="en-US" sz="1200" b="0" i="0" kern="1200" dirty="0" smtClean="0">
                <a:solidFill>
                  <a:schemeClr val="tx1"/>
                </a:solidFill>
                <a:effectLst/>
                <a:latin typeface="+mn-lt"/>
                <a:ea typeface="+mn-ea"/>
                <a:cs typeface="+mn-cs"/>
              </a:rPr>
              <a:t>Emily</a:t>
            </a:r>
          </a:p>
          <a:p>
            <a:pPr lvl="1"/>
            <a:r>
              <a:rPr lang="en-US" sz="1200" b="0" i="0" kern="1200" dirty="0" smtClean="0">
                <a:solidFill>
                  <a:schemeClr val="tx1"/>
                </a:solidFill>
                <a:effectLst/>
                <a:latin typeface="+mn-lt"/>
                <a:ea typeface="+mn-ea"/>
                <a:cs typeface="+mn-cs"/>
              </a:rPr>
              <a:t>Likes</a:t>
            </a:r>
          </a:p>
          <a:p>
            <a:pPr lvl="2"/>
            <a:r>
              <a:rPr lang="en-US" sz="1200" b="0" i="0" kern="1200" dirty="0" smtClean="0">
                <a:solidFill>
                  <a:schemeClr val="tx1"/>
                </a:solidFill>
                <a:effectLst/>
                <a:latin typeface="+mn-lt"/>
                <a:ea typeface="+mn-ea"/>
                <a:cs typeface="+mn-cs"/>
              </a:rPr>
              <a:t>Playing the guitar</a:t>
            </a:r>
          </a:p>
          <a:p>
            <a:pPr lvl="2"/>
            <a:r>
              <a:rPr lang="en-US" sz="1200" b="0" i="0" kern="1200" dirty="0" smtClean="0">
                <a:solidFill>
                  <a:schemeClr val="tx1"/>
                </a:solidFill>
                <a:effectLst/>
                <a:latin typeface="+mn-lt"/>
                <a:ea typeface="+mn-ea"/>
                <a:cs typeface="+mn-cs"/>
              </a:rPr>
              <a:t>Cooking</a:t>
            </a:r>
          </a:p>
          <a:p>
            <a:r>
              <a:rPr lang="en-US" sz="1200" b="0" i="0" kern="1200" dirty="0" smtClean="0">
                <a:solidFill>
                  <a:schemeClr val="tx1"/>
                </a:solidFill>
                <a:effectLst/>
                <a:latin typeface="+mn-lt"/>
                <a:ea typeface="+mn-ea"/>
                <a:cs typeface="+mn-cs"/>
              </a:rPr>
              <a:t>David</a:t>
            </a:r>
          </a:p>
          <a:p>
            <a:pPr lvl="1"/>
            <a:r>
              <a:rPr lang="en-US" sz="1200" b="0" i="0" kern="1200" dirty="0" smtClean="0">
                <a:solidFill>
                  <a:schemeClr val="tx1"/>
                </a:solidFill>
                <a:effectLst/>
                <a:latin typeface="+mn-lt"/>
                <a:ea typeface="+mn-ea"/>
                <a:cs typeface="+mn-cs"/>
              </a:rPr>
              <a:t>Likes</a:t>
            </a:r>
          </a:p>
          <a:p>
            <a:pPr lvl="2"/>
            <a:r>
              <a:rPr lang="en-US" sz="1200" b="0" i="0" kern="1200" dirty="0" smtClean="0">
                <a:solidFill>
                  <a:schemeClr val="tx1"/>
                </a:solidFill>
                <a:effectLst/>
                <a:latin typeface="+mn-lt"/>
                <a:ea typeface="+mn-ea"/>
                <a:cs typeface="+mn-cs"/>
              </a:rPr>
              <a:t>Swimming</a:t>
            </a:r>
          </a:p>
          <a:p>
            <a:pPr lvl="2"/>
            <a:r>
              <a:rPr lang="en-US" sz="1200" b="0" i="0" kern="1200" dirty="0" smtClean="0">
                <a:solidFill>
                  <a:schemeClr val="tx1"/>
                </a:solidFill>
                <a:effectLst/>
                <a:latin typeface="+mn-lt"/>
                <a:ea typeface="+mn-ea"/>
                <a:cs typeface="+mn-cs"/>
              </a:rPr>
              <a:t>Playing video games</a:t>
            </a: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20</a:t>
            </a:fld>
            <a:endParaRPr lang="en-US"/>
          </a:p>
        </p:txBody>
      </p:sp>
    </p:spTree>
    <p:extLst>
      <p:ext uri="{BB962C8B-B14F-4D97-AF65-F5344CB8AC3E}">
        <p14:creationId xmlns:p14="http://schemas.microsoft.com/office/powerpoint/2010/main" val="2004565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Components of Frames:</a:t>
            </a:r>
            <a:r>
              <a:rPr lang="en-US" dirty="0" smtClean="0"/>
              <a:t> Explain the components of frames, including slots (attributes) and fillers (values).</a:t>
            </a:r>
          </a:p>
          <a:p>
            <a:r>
              <a:rPr lang="en-US" b="1" dirty="0" smtClean="0"/>
              <a:t>Example Demonstration:</a:t>
            </a:r>
          </a:p>
          <a:p>
            <a:r>
              <a:rPr lang="en-US" sz="1200" b="0" i="0" kern="1200" dirty="0" smtClean="0">
                <a:solidFill>
                  <a:schemeClr val="tx1"/>
                </a:solidFill>
                <a:effectLst/>
                <a:latin typeface="+mn-lt"/>
                <a:ea typeface="+mn-ea"/>
                <a:cs typeface="+mn-cs"/>
              </a:rPr>
              <a:t>For example, consider a "Car" frame:</a:t>
            </a:r>
          </a:p>
          <a:p>
            <a:r>
              <a:rPr lang="en-US" sz="1200" b="0" i="0" kern="1200" dirty="0" smtClean="0">
                <a:solidFill>
                  <a:schemeClr val="tx1"/>
                </a:solidFill>
                <a:effectLst/>
                <a:latin typeface="+mn-lt"/>
                <a:ea typeface="+mn-ea"/>
                <a:cs typeface="+mn-cs"/>
              </a:rPr>
              <a:t>Slots: Make, Model, Year, Color, Engine Type, etc.</a:t>
            </a:r>
          </a:p>
          <a:p>
            <a:r>
              <a:rPr lang="en-US" sz="1200" b="0" i="0" kern="1200" dirty="0" smtClean="0">
                <a:solidFill>
                  <a:schemeClr val="tx1"/>
                </a:solidFill>
                <a:effectLst/>
                <a:latin typeface="+mn-lt"/>
                <a:ea typeface="+mn-ea"/>
                <a:cs typeface="+mn-cs"/>
              </a:rPr>
              <a:t>Fillers: Honda, Accord, 2022, Blue, Hybrid, etc.</a:t>
            </a:r>
          </a:p>
          <a:p>
            <a:endParaRPr lang="en-US" dirty="0" smtClean="0"/>
          </a:p>
          <a:p>
            <a:r>
              <a:rPr lang="en-US" b="1" dirty="0" smtClean="0"/>
              <a:t>Properties of Frames:</a:t>
            </a:r>
            <a:r>
              <a:rPr lang="en-US" dirty="0" smtClean="0"/>
              <a:t> Discuss properties such as default values, inheritance, and slot constraints in frames.</a:t>
            </a:r>
          </a:p>
          <a:p>
            <a:r>
              <a:rPr lang="en-US" b="1" dirty="0" smtClean="0"/>
              <a:t>Exercise:</a:t>
            </a:r>
            <a:r>
              <a:rPr lang="en-US" dirty="0" smtClean="0"/>
              <a:t> Ask students to create frames for various objects or concepts, specifying slots and fillers.</a:t>
            </a: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21</a:t>
            </a:fld>
            <a:endParaRPr lang="en-US"/>
          </a:p>
        </p:txBody>
      </p:sp>
    </p:spTree>
    <p:extLst>
      <p:ext uri="{BB962C8B-B14F-4D97-AF65-F5344CB8AC3E}">
        <p14:creationId xmlns:p14="http://schemas.microsoft.com/office/powerpoint/2010/main" val="254671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Causal Reasoning</a:t>
            </a:r>
            <a:r>
              <a:rPr lang="en-US" sz="1200" b="0" i="0" kern="1200" dirty="0" smtClean="0">
                <a:solidFill>
                  <a:schemeClr val="tx1"/>
                </a:solidFill>
                <a:effectLst/>
                <a:latin typeface="+mn-lt"/>
                <a:ea typeface="+mn-ea"/>
                <a:cs typeface="+mn-cs"/>
              </a:rPr>
              <a:t>: Causal reasoning involves identifying cause-and-effect relationships between variables or events. It's about understanding why something happens. For example:</a:t>
            </a:r>
          </a:p>
          <a:p>
            <a:r>
              <a:rPr lang="en-US" sz="1200" b="0" i="0" kern="1200" dirty="0" smtClean="0">
                <a:solidFill>
                  <a:schemeClr val="tx1"/>
                </a:solidFill>
                <a:effectLst/>
                <a:latin typeface="+mn-lt"/>
                <a:ea typeface="+mn-ea"/>
                <a:cs typeface="+mn-cs"/>
              </a:rPr>
              <a:t>Smoking causes lung cancer.</a:t>
            </a:r>
          </a:p>
          <a:p>
            <a:r>
              <a:rPr lang="en-US" sz="1200" b="0" i="0" kern="1200" dirty="0" smtClean="0">
                <a:solidFill>
                  <a:schemeClr val="tx1"/>
                </a:solidFill>
                <a:effectLst/>
                <a:latin typeface="+mn-lt"/>
                <a:ea typeface="+mn-ea"/>
                <a:cs typeface="+mn-cs"/>
              </a:rPr>
              <a:t>Therefore, if someone smokes, they are at higher risk of developing lung cancer.</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Monotonic reasoning </a:t>
            </a:r>
            <a:r>
              <a:rPr lang="en-US" sz="1200" b="0" i="0" kern="1200" dirty="0" smtClean="0">
                <a:solidFill>
                  <a:schemeClr val="tx1"/>
                </a:solidFill>
                <a:effectLst/>
                <a:latin typeface="+mn-lt"/>
                <a:ea typeface="+mn-ea"/>
                <a:cs typeface="+mn-cs"/>
              </a:rPr>
              <a:t>is a type of logical reasoning where the set of beliefs or assumptions remains constant or grows stronger as new information is added. I</a:t>
            </a:r>
          </a:p>
          <a:p>
            <a:endParaRPr lang="en-US" dirty="0" smtClean="0"/>
          </a:p>
          <a:p>
            <a:r>
              <a:rPr lang="en-US" sz="1200" b="0" i="0" kern="1200" dirty="0" smtClean="0">
                <a:solidFill>
                  <a:schemeClr val="tx1"/>
                </a:solidFill>
                <a:effectLst/>
                <a:latin typeface="+mn-lt"/>
                <a:ea typeface="+mn-ea"/>
                <a:cs typeface="+mn-cs"/>
              </a:rPr>
              <a:t>These types of reasoning are not mutually exclusive, and often, multiple types of reasoning are used in combination to address complex problems or draw conclusions.</a:t>
            </a:r>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30</a:t>
            </a:fld>
            <a:endParaRPr lang="en-US"/>
          </a:p>
        </p:txBody>
      </p:sp>
    </p:spTree>
    <p:extLst>
      <p:ext uri="{BB962C8B-B14F-4D97-AF65-F5344CB8AC3E}">
        <p14:creationId xmlns:p14="http://schemas.microsoft.com/office/powerpoint/2010/main" val="2913504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Deductive Reasoning</a:t>
            </a:r>
            <a:r>
              <a:rPr lang="en-US" sz="1200" b="0" i="0" kern="1200" dirty="0" smtClean="0">
                <a:solidFill>
                  <a:schemeClr val="tx1"/>
                </a:solidFill>
                <a:effectLst/>
                <a:latin typeface="+mn-lt"/>
                <a:ea typeface="+mn-ea"/>
                <a:cs typeface="+mn-cs"/>
              </a:rPr>
              <a:t>: It's about deriving specific conclusions from general principles.</a:t>
            </a:r>
          </a:p>
          <a:p>
            <a:r>
              <a:rPr lang="en-US" sz="1200" b="0" i="0" kern="1200" dirty="0" smtClean="0">
                <a:solidFill>
                  <a:schemeClr val="tx1"/>
                </a:solidFill>
                <a:effectLst/>
                <a:latin typeface="+mn-lt"/>
                <a:ea typeface="+mn-ea"/>
                <a:cs typeface="+mn-cs"/>
              </a:rPr>
              <a:t>All humans are mortal. (Premise)</a:t>
            </a:r>
          </a:p>
          <a:p>
            <a:r>
              <a:rPr lang="en-US" sz="1200" b="0" i="0" kern="1200" dirty="0" smtClean="0">
                <a:solidFill>
                  <a:schemeClr val="tx1"/>
                </a:solidFill>
                <a:effectLst/>
                <a:latin typeface="+mn-lt"/>
                <a:ea typeface="+mn-ea"/>
                <a:cs typeface="+mn-cs"/>
              </a:rPr>
              <a:t>Socrates is a human. (Premise)</a:t>
            </a:r>
          </a:p>
          <a:p>
            <a:r>
              <a:rPr lang="en-US" sz="1200" b="0" i="0" kern="1200" dirty="0" smtClean="0">
                <a:solidFill>
                  <a:schemeClr val="tx1"/>
                </a:solidFill>
                <a:effectLst/>
                <a:latin typeface="+mn-lt"/>
                <a:ea typeface="+mn-ea"/>
                <a:cs typeface="+mn-cs"/>
              </a:rPr>
              <a:t>Therefore, Socrates is mortal. (Conclusion)</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Inductive Reasoning</a:t>
            </a:r>
            <a:r>
              <a:rPr lang="en-US" sz="1200" b="0" i="0" kern="1200" dirty="0" smtClean="0">
                <a:solidFill>
                  <a:schemeClr val="tx1"/>
                </a:solidFill>
                <a:effectLst/>
                <a:latin typeface="+mn-lt"/>
                <a:ea typeface="+mn-ea"/>
                <a:cs typeface="+mn-cs"/>
              </a:rPr>
              <a:t>: Inductive reasoning involves making generalizations based on specific observations. It's about forming probable conclusions based on evidence. </a:t>
            </a:r>
          </a:p>
          <a:p>
            <a:r>
              <a:rPr lang="en-US" sz="1200" b="0" i="0" kern="1200" dirty="0" smtClean="0">
                <a:solidFill>
                  <a:schemeClr val="tx1"/>
                </a:solidFill>
                <a:effectLst/>
                <a:latin typeface="+mn-lt"/>
                <a:ea typeface="+mn-ea"/>
                <a:cs typeface="+mn-cs"/>
              </a:rPr>
              <a:t>Every swan I've seen is white.</a:t>
            </a:r>
          </a:p>
          <a:p>
            <a:r>
              <a:rPr lang="en-US" sz="1200" b="0" i="0" kern="1200" dirty="0" smtClean="0">
                <a:solidFill>
                  <a:schemeClr val="tx1"/>
                </a:solidFill>
                <a:effectLst/>
                <a:latin typeface="+mn-lt"/>
                <a:ea typeface="+mn-ea"/>
                <a:cs typeface="+mn-cs"/>
              </a:rPr>
              <a:t>Therefore, all swans are white. </a:t>
            </a:r>
          </a:p>
          <a:p>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Abductive</a:t>
            </a:r>
            <a:r>
              <a:rPr lang="en-US" sz="1200" b="1" i="0" kern="1200" dirty="0" smtClean="0">
                <a:solidFill>
                  <a:schemeClr val="tx1"/>
                </a:solidFill>
                <a:effectLst/>
                <a:latin typeface="+mn-lt"/>
                <a:ea typeface="+mn-ea"/>
                <a:cs typeface="+mn-cs"/>
              </a:rPr>
              <a:t> Reasoning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Abductive</a:t>
            </a:r>
            <a:r>
              <a:rPr lang="en-US" sz="1200" b="0" i="0" kern="1200" dirty="0" smtClean="0">
                <a:solidFill>
                  <a:schemeClr val="tx1"/>
                </a:solidFill>
                <a:effectLst/>
                <a:latin typeface="+mn-lt"/>
                <a:ea typeface="+mn-ea"/>
                <a:cs typeface="+mn-cs"/>
              </a:rPr>
              <a:t> reasoning is about forming the best explanation for observed phenomena, even if it's not necessarily the most certain or logically guaranteed explanation. It's often used in scientific inference and problem-solving. For example:</a:t>
            </a:r>
          </a:p>
          <a:p>
            <a:r>
              <a:rPr lang="en-US" sz="1200" b="0" i="0" kern="1200" dirty="0" smtClean="0">
                <a:solidFill>
                  <a:schemeClr val="tx1"/>
                </a:solidFill>
                <a:effectLst/>
                <a:latin typeface="+mn-lt"/>
                <a:ea typeface="+mn-ea"/>
                <a:cs typeface="+mn-cs"/>
              </a:rPr>
              <a:t>There is water on the road.</a:t>
            </a:r>
          </a:p>
          <a:p>
            <a:r>
              <a:rPr lang="en-US" sz="1200" b="0" i="0" kern="1200" dirty="0" smtClean="0">
                <a:solidFill>
                  <a:schemeClr val="tx1"/>
                </a:solidFill>
                <a:effectLst/>
                <a:latin typeface="+mn-lt"/>
                <a:ea typeface="+mn-ea"/>
                <a:cs typeface="+mn-cs"/>
              </a:rPr>
              <a:t>The road is wet.</a:t>
            </a:r>
          </a:p>
          <a:p>
            <a:r>
              <a:rPr lang="en-US" sz="1200" b="0" i="0" kern="1200" dirty="0" smtClean="0">
                <a:solidFill>
                  <a:schemeClr val="tx1"/>
                </a:solidFill>
                <a:effectLst/>
                <a:latin typeface="+mn-lt"/>
                <a:ea typeface="+mn-ea"/>
                <a:cs typeface="+mn-cs"/>
              </a:rPr>
              <a:t>Therefore, it must have rained. (The inference of rain explains both the presence of water on the road and why the road is wet.)</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7206E1-3AC3-48E6-87C4-B07D84DE850E}" type="slidenum">
              <a:rPr lang="en-US" smtClean="0"/>
              <a:t>31</a:t>
            </a:fld>
            <a:endParaRPr lang="en-US"/>
          </a:p>
        </p:txBody>
      </p:sp>
    </p:spTree>
    <p:extLst>
      <p:ext uri="{BB962C8B-B14F-4D97-AF65-F5344CB8AC3E}">
        <p14:creationId xmlns:p14="http://schemas.microsoft.com/office/powerpoint/2010/main" val="33178926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6/12/2024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visuwords.co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tutorialspoint.com/prolog/prolog_relations.htm" TargetMode="External"/><Relationship Id="rId2" Type="http://schemas.openxmlformats.org/officeDocument/2006/relationships/hyperlink" Target="https://www.javatpoint.com/knowledge-representation-in-a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1004" y="1818879"/>
            <a:ext cx="7718456" cy="1515533"/>
          </a:xfrm>
        </p:spPr>
        <p:txBody>
          <a:bodyPr/>
          <a:lstStyle/>
          <a:p>
            <a:r>
              <a:rPr lang="en-US" dirty="0" smtClean="0"/>
              <a:t>Knowledge Representation &amp; Reasoning in AI</a:t>
            </a:r>
            <a:endParaRPr lang="en-US" dirty="0"/>
          </a:p>
        </p:txBody>
      </p:sp>
      <p:sp>
        <p:nvSpPr>
          <p:cNvPr id="3" name="Subtitle 2"/>
          <p:cNvSpPr>
            <a:spLocks noGrp="1"/>
          </p:cNvSpPr>
          <p:nvPr>
            <p:ph type="subTitle" idx="1"/>
          </p:nvPr>
        </p:nvSpPr>
        <p:spPr/>
        <p:txBody>
          <a:bodyPr/>
          <a:lstStyle/>
          <a:p>
            <a:r>
              <a:rPr lang="en-US" dirty="0" smtClean="0"/>
              <a:t>Week 6</a:t>
            </a:r>
          </a:p>
          <a:p>
            <a:r>
              <a:rPr lang="en-US" dirty="0" smtClean="0"/>
              <a:t>Edward Ombui, PhD</a:t>
            </a:r>
            <a:endParaRPr lang="en-US" dirty="0"/>
          </a:p>
        </p:txBody>
      </p:sp>
    </p:spTree>
    <p:extLst>
      <p:ext uri="{BB962C8B-B14F-4D97-AF65-F5344CB8AC3E}">
        <p14:creationId xmlns:p14="http://schemas.microsoft.com/office/powerpoint/2010/main" val="1980849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1" y="638175"/>
            <a:ext cx="12192000" cy="5581650"/>
          </a:xfrm>
          <a:prstGeom prst="rect">
            <a:avLst/>
          </a:prstGeom>
        </p:spPr>
      </p:pic>
    </p:spTree>
    <p:extLst>
      <p:ext uri="{BB962C8B-B14F-4D97-AF65-F5344CB8AC3E}">
        <p14:creationId xmlns:p14="http://schemas.microsoft.com/office/powerpoint/2010/main" val="2278898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objective</a:t>
            </a:r>
            <a:endParaRPr lang="en-US" dirty="0"/>
          </a:p>
        </p:txBody>
      </p:sp>
      <p:sp>
        <p:nvSpPr>
          <p:cNvPr id="3" name="Content Placeholder 2"/>
          <p:cNvSpPr>
            <a:spLocks noGrp="1"/>
          </p:cNvSpPr>
          <p:nvPr>
            <p:ph idx="1"/>
          </p:nvPr>
        </p:nvSpPr>
        <p:spPr>
          <a:xfrm>
            <a:off x="942975" y="2556932"/>
            <a:ext cx="10572750" cy="3318936"/>
          </a:xfrm>
        </p:spPr>
        <p:txBody>
          <a:bodyPr/>
          <a:lstStyle/>
          <a:p>
            <a:r>
              <a:rPr lang="en-US" dirty="0"/>
              <a:t>By the end of this lesson, students should be able to understand the concepts of knowledge representation and reasoning using semantic networks and frames, and apply these concepts to solve problems in AI.</a:t>
            </a:r>
          </a:p>
        </p:txBody>
      </p:sp>
    </p:spTree>
    <p:extLst>
      <p:ext uri="{BB962C8B-B14F-4D97-AF65-F5344CB8AC3E}">
        <p14:creationId xmlns:p14="http://schemas.microsoft.com/office/powerpoint/2010/main" val="960065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Learning Outcomes</a:t>
            </a:r>
            <a:endParaRPr lang="en-US" dirty="0"/>
          </a:p>
        </p:txBody>
      </p:sp>
      <p:sp>
        <p:nvSpPr>
          <p:cNvPr id="3" name="Content Placeholder 2"/>
          <p:cNvSpPr>
            <a:spLocks noGrp="1"/>
          </p:cNvSpPr>
          <p:nvPr>
            <p:ph idx="1"/>
          </p:nvPr>
        </p:nvSpPr>
        <p:spPr/>
        <p:txBody>
          <a:bodyPr>
            <a:normAutofit/>
          </a:bodyPr>
          <a:lstStyle/>
          <a:p>
            <a:r>
              <a:rPr lang="en-US" dirty="0"/>
              <a:t>E</a:t>
            </a:r>
            <a:r>
              <a:rPr lang="en-US" dirty="0" smtClean="0"/>
              <a:t>xplain </a:t>
            </a:r>
            <a:r>
              <a:rPr lang="en-US" dirty="0"/>
              <a:t>the concepts of semantic networks and frames as knowledge representation structures in </a:t>
            </a:r>
            <a:r>
              <a:rPr lang="en-US" dirty="0" smtClean="0"/>
              <a:t>AI</a:t>
            </a:r>
          </a:p>
          <a:p>
            <a:r>
              <a:rPr lang="en-US" dirty="0"/>
              <a:t>D</a:t>
            </a:r>
            <a:r>
              <a:rPr lang="en-US" dirty="0" smtClean="0"/>
              <a:t>emonstrate </a:t>
            </a:r>
            <a:r>
              <a:rPr lang="en-US" dirty="0"/>
              <a:t>the ability to create semantic networks and frames to represent information in various domains</a:t>
            </a:r>
            <a:r>
              <a:rPr lang="en-US" dirty="0" smtClean="0"/>
              <a:t>.</a:t>
            </a:r>
          </a:p>
          <a:p>
            <a:r>
              <a:rPr lang="en-US" dirty="0"/>
              <a:t>D</a:t>
            </a:r>
            <a:r>
              <a:rPr lang="en-US" dirty="0" smtClean="0"/>
              <a:t>emonstrate </a:t>
            </a:r>
            <a:r>
              <a:rPr lang="en-US" dirty="0"/>
              <a:t>reasoning skills by performing inference and deduction tasks using semantic networks and frames.</a:t>
            </a:r>
            <a:endParaRPr lang="en-US" dirty="0" smtClean="0"/>
          </a:p>
        </p:txBody>
      </p:sp>
    </p:spTree>
    <p:extLst>
      <p:ext uri="{BB962C8B-B14F-4D97-AF65-F5344CB8AC3E}">
        <p14:creationId xmlns:p14="http://schemas.microsoft.com/office/powerpoint/2010/main" val="2889623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70124" y="237549"/>
            <a:ext cx="9995846" cy="1303867"/>
          </a:xfrm>
        </p:spPr>
        <p:txBody>
          <a:bodyPr>
            <a:normAutofit fontScale="90000"/>
          </a:bodyPr>
          <a:lstStyle/>
          <a:p>
            <a:r>
              <a:rPr lang="en-US" dirty="0" smtClean="0"/>
              <a:t>Knowledge Representation and Reasoning (KRR)</a:t>
            </a:r>
            <a:endParaRPr lang="en-US" dirty="0"/>
          </a:p>
        </p:txBody>
      </p:sp>
      <p:sp>
        <p:nvSpPr>
          <p:cNvPr id="3" name="Content Placeholder 2"/>
          <p:cNvSpPr>
            <a:spLocks noGrp="1"/>
          </p:cNvSpPr>
          <p:nvPr>
            <p:ph idx="1"/>
          </p:nvPr>
        </p:nvSpPr>
        <p:spPr>
          <a:xfrm>
            <a:off x="450376" y="2086668"/>
            <a:ext cx="11280069" cy="4314131"/>
          </a:xfrm>
        </p:spPr>
        <p:txBody>
          <a:bodyPr>
            <a:normAutofit lnSpcReduction="10000"/>
          </a:bodyPr>
          <a:lstStyle/>
          <a:p>
            <a:r>
              <a:rPr lang="en-US" dirty="0" smtClean="0"/>
              <a:t>KRR </a:t>
            </a:r>
            <a:r>
              <a:rPr lang="en-US" dirty="0"/>
              <a:t>is the part of Artificial intelligence which concerned with AI agents thinking and </a:t>
            </a:r>
            <a:r>
              <a:rPr lang="en-US" dirty="0">
                <a:solidFill>
                  <a:srgbClr val="FF0000"/>
                </a:solidFill>
              </a:rPr>
              <a:t>how thinking contributes to intelligent behavior of agents</a:t>
            </a:r>
            <a:r>
              <a:rPr lang="en-US" dirty="0"/>
              <a:t>.</a:t>
            </a:r>
          </a:p>
          <a:p>
            <a:r>
              <a:rPr lang="en-US" dirty="0"/>
              <a:t>It is responsible for representing information about the real world so that a computer can understand and can utilize this knowledge to solve the complex real world problems </a:t>
            </a:r>
            <a:r>
              <a:rPr lang="en-US" dirty="0" smtClean="0"/>
              <a:t>E.g. </a:t>
            </a:r>
          </a:p>
          <a:p>
            <a:pPr lvl="1"/>
            <a:r>
              <a:rPr lang="en-US" dirty="0" smtClean="0"/>
              <a:t>diagnosis </a:t>
            </a:r>
            <a:r>
              <a:rPr lang="en-US" dirty="0"/>
              <a:t>a medical condition </a:t>
            </a:r>
            <a:r>
              <a:rPr lang="en-US" dirty="0" smtClean="0"/>
              <a:t> </a:t>
            </a:r>
          </a:p>
          <a:p>
            <a:pPr lvl="1"/>
            <a:r>
              <a:rPr lang="en-US" dirty="0" smtClean="0"/>
              <a:t>communicating </a:t>
            </a:r>
            <a:r>
              <a:rPr lang="en-US" dirty="0"/>
              <a:t>with humans in natural language</a:t>
            </a:r>
            <a:r>
              <a:rPr lang="en-US" dirty="0" smtClean="0"/>
              <a:t>.</a:t>
            </a:r>
          </a:p>
          <a:p>
            <a:r>
              <a:rPr lang="en-US" dirty="0"/>
              <a:t>It is also a way which describes how we can represent knowledge in artificial intelligence. </a:t>
            </a:r>
            <a:endParaRPr lang="en-US" dirty="0" smtClean="0"/>
          </a:p>
          <a:p>
            <a:r>
              <a:rPr lang="en-US" dirty="0" smtClean="0"/>
              <a:t>Knowledge </a:t>
            </a:r>
            <a:r>
              <a:rPr lang="en-US" dirty="0"/>
              <a:t>representation is not just storing data into some database, but it also enables an intelligent machine to </a:t>
            </a:r>
            <a:r>
              <a:rPr lang="en-US" dirty="0">
                <a:solidFill>
                  <a:srgbClr val="FF0000"/>
                </a:solidFill>
              </a:rPr>
              <a:t>learn from that knowledge and experiences</a:t>
            </a:r>
            <a:r>
              <a:rPr lang="en-US" dirty="0"/>
              <a:t> so that it can behave intelligently like a human.</a:t>
            </a:r>
          </a:p>
          <a:p>
            <a:endParaRPr lang="en-US" dirty="0"/>
          </a:p>
          <a:p>
            <a:endParaRPr lang="en-US" dirty="0"/>
          </a:p>
        </p:txBody>
      </p:sp>
    </p:spTree>
    <p:extLst>
      <p:ext uri="{BB962C8B-B14F-4D97-AF65-F5344CB8AC3E}">
        <p14:creationId xmlns:p14="http://schemas.microsoft.com/office/powerpoint/2010/main" val="8641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95401" y="982132"/>
            <a:ext cx="9601196" cy="4922627"/>
          </a:xfrm>
          <a:prstGeom prst="rect">
            <a:avLst/>
          </a:prstGeom>
        </p:spPr>
      </p:pic>
    </p:spTree>
    <p:extLst>
      <p:ext uri="{BB962C8B-B14F-4D97-AF65-F5344CB8AC3E}">
        <p14:creationId xmlns:p14="http://schemas.microsoft.com/office/powerpoint/2010/main" val="39479149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Knowledge Representation </a:t>
            </a:r>
            <a:r>
              <a:rPr lang="en-US" b="1" dirty="0" smtClean="0"/>
              <a:t>Structures</a:t>
            </a:r>
            <a:endParaRPr lang="en-US" dirty="0"/>
          </a:p>
        </p:txBody>
      </p:sp>
      <p:sp>
        <p:nvSpPr>
          <p:cNvPr id="3" name="Content Placeholder 2"/>
          <p:cNvSpPr>
            <a:spLocks noGrp="1"/>
          </p:cNvSpPr>
          <p:nvPr>
            <p:ph idx="1"/>
          </p:nvPr>
        </p:nvSpPr>
        <p:spPr/>
        <p:txBody>
          <a:bodyPr>
            <a:normAutofit fontScale="92500"/>
          </a:bodyPr>
          <a:lstStyle/>
          <a:p>
            <a:r>
              <a:rPr lang="en-US" b="1" dirty="0"/>
              <a:t>Facts:</a:t>
            </a:r>
            <a:r>
              <a:rPr lang="en-US" dirty="0"/>
              <a:t> Simple statements about the world.</a:t>
            </a:r>
          </a:p>
          <a:p>
            <a:r>
              <a:rPr lang="en-US" b="1" dirty="0"/>
              <a:t>Rules:</a:t>
            </a:r>
            <a:r>
              <a:rPr lang="en-US" dirty="0"/>
              <a:t> Statements that specify relationships or conditions.</a:t>
            </a:r>
          </a:p>
          <a:p>
            <a:r>
              <a:rPr lang="en-US" b="1" dirty="0"/>
              <a:t>Frames:</a:t>
            </a:r>
            <a:r>
              <a:rPr lang="en-US" dirty="0"/>
              <a:t> Structures that organize knowledge about objects or concepts.</a:t>
            </a:r>
          </a:p>
          <a:p>
            <a:r>
              <a:rPr lang="en-US" b="1" dirty="0"/>
              <a:t>Semantic Networks:</a:t>
            </a:r>
            <a:r>
              <a:rPr lang="en-US" dirty="0"/>
              <a:t> Graph structures representing relationships between entities.</a:t>
            </a:r>
          </a:p>
          <a:p>
            <a:r>
              <a:rPr lang="en-US" b="1" dirty="0"/>
              <a:t>Ontologies:</a:t>
            </a:r>
            <a:r>
              <a:rPr lang="en-US" dirty="0"/>
              <a:t> Hierarchical structures defining concepts and their relationships.</a:t>
            </a:r>
          </a:p>
          <a:p>
            <a:r>
              <a:rPr lang="en-US" b="1" dirty="0"/>
              <a:t>Knowledge Graphs:</a:t>
            </a:r>
            <a:r>
              <a:rPr lang="en-US" dirty="0"/>
              <a:t> Graph databases that connect entities and their relationships.</a:t>
            </a:r>
          </a:p>
        </p:txBody>
      </p:sp>
    </p:spTree>
    <p:extLst>
      <p:ext uri="{BB962C8B-B14F-4D97-AF65-F5344CB8AC3E}">
        <p14:creationId xmlns:p14="http://schemas.microsoft.com/office/powerpoint/2010/main" val="3250879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0686" y="108675"/>
            <a:ext cx="9601196" cy="1303867"/>
          </a:xfrm>
        </p:spPr>
        <p:txBody>
          <a:bodyPr/>
          <a:lstStyle/>
          <a:p>
            <a:r>
              <a:rPr lang="en-US" dirty="0" smtClean="0"/>
              <a:t>Logic Representation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96838257"/>
              </p:ext>
            </p:extLst>
          </p:nvPr>
        </p:nvGraphicFramePr>
        <p:xfrm>
          <a:off x="7902054" y="1327242"/>
          <a:ext cx="3841292" cy="2424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245660" y="2178474"/>
            <a:ext cx="8789158" cy="3170099"/>
          </a:xfrm>
          <a:prstGeom prst="rect">
            <a:avLst/>
          </a:prstGeom>
          <a:noFill/>
        </p:spPr>
        <p:txBody>
          <a:bodyPr wrap="square" rtlCol="0">
            <a:spAutoFit/>
          </a:bodyPr>
          <a:lstStyle/>
          <a:p>
            <a:r>
              <a:rPr lang="en-US" sz="2000" dirty="0" smtClean="0"/>
              <a:t>Advantages of Logical Representation</a:t>
            </a:r>
          </a:p>
          <a:p>
            <a:pPr marL="285750" indent="-285750">
              <a:buFont typeface="Arial" panose="020B0604020202020204" pitchFamily="34" charset="0"/>
              <a:buChar char="•"/>
            </a:pPr>
            <a:r>
              <a:rPr lang="en-US" sz="2000" dirty="0"/>
              <a:t>Logical representation enables us to do logical reasoning.</a:t>
            </a:r>
          </a:p>
          <a:p>
            <a:pPr marL="285750" indent="-285750">
              <a:buFont typeface="Arial" panose="020B0604020202020204" pitchFamily="34" charset="0"/>
              <a:buChar char="•"/>
            </a:pPr>
            <a:r>
              <a:rPr lang="en-US" sz="2000" dirty="0"/>
              <a:t>Logical representation is the basis for the programming languages</a:t>
            </a:r>
            <a:r>
              <a:rPr lang="en-US" sz="2000" dirty="0" smtClean="0"/>
              <a:t>.</a:t>
            </a:r>
          </a:p>
          <a:p>
            <a:pPr marL="285750" indent="-285750">
              <a:buFont typeface="Arial" panose="020B0604020202020204" pitchFamily="34" charset="0"/>
              <a:buChar char="•"/>
            </a:pPr>
            <a:endParaRPr lang="en-US" sz="2000" dirty="0"/>
          </a:p>
          <a:p>
            <a:r>
              <a:rPr lang="en-US" sz="2000" dirty="0" smtClean="0"/>
              <a:t>Disadvantages</a:t>
            </a:r>
          </a:p>
          <a:p>
            <a:pPr marL="285750" indent="-285750">
              <a:buFont typeface="Arial" panose="020B0604020202020204" pitchFamily="34" charset="0"/>
              <a:buChar char="•"/>
            </a:pPr>
            <a:r>
              <a:rPr lang="en-US" sz="2000" dirty="0"/>
              <a:t>Logical representations have some restrictions and are challenging to work with.</a:t>
            </a:r>
          </a:p>
          <a:p>
            <a:pPr marL="285750" indent="-285750">
              <a:buFont typeface="Arial" panose="020B0604020202020204" pitchFamily="34" charset="0"/>
              <a:buChar char="•"/>
            </a:pPr>
            <a:r>
              <a:rPr lang="en-US" sz="2000" dirty="0"/>
              <a:t>Logical representation technique may not be very natural, and inference may not be so efficient.</a:t>
            </a:r>
          </a:p>
          <a:p>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37607166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Propositional Logic</a:t>
            </a:r>
            <a:endParaRPr lang="en-US" dirty="0"/>
          </a:p>
        </p:txBody>
      </p:sp>
      <p:sp>
        <p:nvSpPr>
          <p:cNvPr id="3" name="Content Placeholder 2"/>
          <p:cNvSpPr>
            <a:spLocks noGrp="1"/>
          </p:cNvSpPr>
          <p:nvPr>
            <p:ph idx="1"/>
          </p:nvPr>
        </p:nvSpPr>
        <p:spPr/>
        <p:txBody>
          <a:bodyPr>
            <a:normAutofit fontScale="92500"/>
          </a:bodyPr>
          <a:lstStyle/>
          <a:p>
            <a:r>
              <a:rPr lang="en-US" dirty="0" smtClean="0"/>
              <a:t>A proposition is a declarative statement which is either true or false.</a:t>
            </a:r>
          </a:p>
          <a:p>
            <a:r>
              <a:rPr lang="en-US" dirty="0" smtClean="0"/>
              <a:t>It’s a technique of knowledge representation in logical </a:t>
            </a:r>
            <a:r>
              <a:rPr lang="en-US" dirty="0" err="1" smtClean="0"/>
              <a:t>nad</a:t>
            </a:r>
            <a:r>
              <a:rPr lang="en-US" dirty="0" smtClean="0"/>
              <a:t> mathematical form</a:t>
            </a:r>
          </a:p>
          <a:p>
            <a:r>
              <a:rPr lang="en-US" dirty="0" smtClean="0"/>
              <a:t>Example:</a:t>
            </a:r>
          </a:p>
          <a:p>
            <a:pPr marL="457200" indent="-457200">
              <a:buFont typeface="+mj-lt"/>
              <a:buAutoNum type="alphaLcParenR"/>
            </a:pPr>
            <a:r>
              <a:rPr lang="en-US" dirty="0" smtClean="0"/>
              <a:t>It is Monday</a:t>
            </a:r>
          </a:p>
          <a:p>
            <a:pPr marL="457200" indent="-457200">
              <a:buFont typeface="+mj-lt"/>
              <a:buAutoNum type="alphaLcParenR"/>
            </a:pPr>
            <a:r>
              <a:rPr lang="en-US" dirty="0" smtClean="0"/>
              <a:t>The Sun rises from North</a:t>
            </a:r>
          </a:p>
          <a:p>
            <a:pPr marL="457200" indent="-457200">
              <a:buFont typeface="+mj-lt"/>
              <a:buAutoNum type="alphaLcParenR"/>
            </a:pPr>
            <a:r>
              <a:rPr lang="en-US" dirty="0" smtClean="0"/>
              <a:t>2+4 &lt;5 </a:t>
            </a:r>
          </a:p>
          <a:p>
            <a:pPr marL="457200" indent="-457200">
              <a:buFont typeface="+mj-lt"/>
              <a:buAutoNum type="alphaLcParenR"/>
            </a:pPr>
            <a:r>
              <a:rPr lang="en-US" dirty="0" smtClean="0"/>
              <a:t>3 is a prime number.</a:t>
            </a:r>
          </a:p>
        </p:txBody>
      </p:sp>
    </p:spTree>
    <p:extLst>
      <p:ext uri="{BB962C8B-B14F-4D97-AF65-F5344CB8AC3E}">
        <p14:creationId xmlns:p14="http://schemas.microsoft.com/office/powerpoint/2010/main" val="1166509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8831" y="0"/>
            <a:ext cx="9601196" cy="1303867"/>
          </a:xfrm>
        </p:spPr>
        <p:txBody>
          <a:bodyPr/>
          <a:lstStyle/>
          <a:p>
            <a:r>
              <a:rPr lang="en-US" dirty="0" smtClean="0"/>
              <a:t>Propositional Logic</a:t>
            </a:r>
            <a:endParaRPr lang="en-US" dirty="0"/>
          </a:p>
        </p:txBody>
      </p:sp>
      <p:sp>
        <p:nvSpPr>
          <p:cNvPr id="3" name="Content Placeholder 2"/>
          <p:cNvSpPr>
            <a:spLocks noGrp="1"/>
          </p:cNvSpPr>
          <p:nvPr>
            <p:ph idx="1"/>
          </p:nvPr>
        </p:nvSpPr>
        <p:spPr>
          <a:xfrm>
            <a:off x="326572" y="1538999"/>
            <a:ext cx="11586754" cy="4572001"/>
          </a:xfrm>
        </p:spPr>
        <p:txBody>
          <a:bodyPr>
            <a:normAutofit fontScale="92500" lnSpcReduction="10000"/>
          </a:bodyPr>
          <a:lstStyle/>
          <a:p>
            <a:r>
              <a:rPr lang="en-US" dirty="0"/>
              <a:t>Propositional logic is also called Boolean logic as it works on 0 and 1.</a:t>
            </a:r>
          </a:p>
          <a:p>
            <a:r>
              <a:rPr lang="en-US" dirty="0"/>
              <a:t>In propositional logic, we use symbolic variables to represent the logic, and we can use any symbol for a representing a proposition, such A, B, C, P, Q, R, etc.</a:t>
            </a:r>
          </a:p>
          <a:p>
            <a:r>
              <a:rPr lang="en-US" dirty="0"/>
              <a:t>Propositions can be either true or false, but it cannot be both.</a:t>
            </a:r>
          </a:p>
          <a:p>
            <a:r>
              <a:rPr lang="en-US" dirty="0"/>
              <a:t>Propositional logic consists of an object, relations or function, and </a:t>
            </a:r>
            <a:r>
              <a:rPr lang="en-US" b="1" dirty="0"/>
              <a:t>logical connectives</a:t>
            </a:r>
            <a:r>
              <a:rPr lang="en-US" dirty="0"/>
              <a:t>.</a:t>
            </a:r>
          </a:p>
          <a:p>
            <a:r>
              <a:rPr lang="en-US" dirty="0"/>
              <a:t>These connectives are also called logical operators.</a:t>
            </a:r>
          </a:p>
          <a:p>
            <a:r>
              <a:rPr lang="en-US" dirty="0"/>
              <a:t>The propositions and connectives are the basic elements of the propositional logic.</a:t>
            </a:r>
          </a:p>
          <a:p>
            <a:r>
              <a:rPr lang="en-US" dirty="0"/>
              <a:t>Connectives can be said as a logical operator which connects two sentences.</a:t>
            </a:r>
          </a:p>
          <a:p>
            <a:r>
              <a:rPr lang="en-US" dirty="0"/>
              <a:t>A proposition formula which is always true is called </a:t>
            </a:r>
            <a:r>
              <a:rPr lang="en-US" b="1" dirty="0"/>
              <a:t>tautology</a:t>
            </a:r>
            <a:r>
              <a:rPr lang="en-US" dirty="0"/>
              <a:t>, and it is also called a valid sentence.</a:t>
            </a:r>
          </a:p>
          <a:p>
            <a:r>
              <a:rPr lang="en-US" dirty="0"/>
              <a:t>A proposition formula which is always false is called </a:t>
            </a:r>
            <a:r>
              <a:rPr lang="en-US" b="1" dirty="0"/>
              <a:t>Contradiction</a:t>
            </a:r>
            <a:r>
              <a:rPr lang="en-US" dirty="0"/>
              <a:t>.</a:t>
            </a:r>
          </a:p>
        </p:txBody>
      </p:sp>
    </p:spTree>
    <p:extLst>
      <p:ext uri="{BB962C8B-B14F-4D97-AF65-F5344CB8AC3E}">
        <p14:creationId xmlns:p14="http://schemas.microsoft.com/office/powerpoint/2010/main" val="56264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dirty="0" smtClean="0"/>
              <a:t>A: It is hot</a:t>
            </a:r>
          </a:p>
          <a:p>
            <a:r>
              <a:rPr lang="en-US" dirty="0" smtClean="0"/>
              <a:t>B: It is humid</a:t>
            </a:r>
          </a:p>
          <a:p>
            <a:r>
              <a:rPr lang="en-US" dirty="0" smtClean="0"/>
              <a:t>C: It is raining</a:t>
            </a:r>
          </a:p>
          <a:p>
            <a:pPr marL="0" indent="0">
              <a:buNone/>
            </a:pPr>
            <a:r>
              <a:rPr lang="en-US" dirty="0" smtClean="0"/>
              <a:t>Condition: </a:t>
            </a:r>
          </a:p>
          <a:p>
            <a:pPr lvl="1"/>
            <a:r>
              <a:rPr lang="en-US" dirty="0" smtClean="0"/>
              <a:t>If it is humid, then it is hot  [Preposition :B</a:t>
            </a:r>
            <a:r>
              <a:rPr lang="en-US" dirty="0"/>
              <a:t> </a:t>
            </a:r>
            <a:r>
              <a:rPr lang="en-US" dirty="0" smtClean="0"/>
              <a:t>‐‐&gt;A ]</a:t>
            </a:r>
          </a:p>
          <a:p>
            <a:pPr lvl="1"/>
            <a:r>
              <a:rPr lang="en-US" dirty="0" smtClean="0"/>
              <a:t>If it is hot and humid then it is not raining  [Preposition: A ∩ </a:t>
            </a:r>
            <a:r>
              <a:rPr lang="en-US" smtClean="0"/>
              <a:t>B ‐‐&gt;C</a:t>
            </a:r>
            <a:endParaRPr lang="en-US" dirty="0"/>
          </a:p>
        </p:txBody>
      </p:sp>
    </p:spTree>
    <p:extLst>
      <p:ext uri="{BB962C8B-B14F-4D97-AF65-F5344CB8AC3E}">
        <p14:creationId xmlns:p14="http://schemas.microsoft.com/office/powerpoint/2010/main" val="23526292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Propositional Logic</a:t>
            </a:r>
            <a:endParaRPr lang="en-US" dirty="0"/>
          </a:p>
        </p:txBody>
      </p:sp>
      <p:sp>
        <p:nvSpPr>
          <p:cNvPr id="3" name="Content Placeholder 2"/>
          <p:cNvSpPr>
            <a:spLocks noGrp="1"/>
          </p:cNvSpPr>
          <p:nvPr>
            <p:ph idx="1"/>
          </p:nvPr>
        </p:nvSpPr>
        <p:spPr>
          <a:xfrm>
            <a:off x="818866" y="2556932"/>
            <a:ext cx="10658901" cy="3318936"/>
          </a:xfrm>
        </p:spPr>
        <p:txBody>
          <a:bodyPr/>
          <a:lstStyle/>
          <a:p>
            <a:r>
              <a:rPr lang="en-US" dirty="0"/>
              <a:t>We cannot represent relations like ALL, some, or none with propositional logic. Example:</a:t>
            </a:r>
          </a:p>
          <a:p>
            <a:pPr lvl="1"/>
            <a:r>
              <a:rPr lang="en-US" b="1" dirty="0"/>
              <a:t>All the girls are intelligent.</a:t>
            </a:r>
            <a:endParaRPr lang="en-US" dirty="0"/>
          </a:p>
          <a:p>
            <a:pPr lvl="1"/>
            <a:r>
              <a:rPr lang="en-US" b="1" dirty="0"/>
              <a:t>Some apples are sweet.</a:t>
            </a:r>
            <a:endParaRPr lang="en-US" dirty="0"/>
          </a:p>
          <a:p>
            <a:r>
              <a:rPr lang="en-US" dirty="0"/>
              <a:t>Propositional logic has limited expressive power.</a:t>
            </a:r>
          </a:p>
          <a:p>
            <a:r>
              <a:rPr lang="en-US" dirty="0"/>
              <a:t>In propositional logic, we cannot describe statements in terms of their properties or logical relationships.</a:t>
            </a:r>
          </a:p>
          <a:p>
            <a:endParaRPr lang="en-US" dirty="0"/>
          </a:p>
        </p:txBody>
      </p:sp>
    </p:spTree>
    <p:extLst>
      <p:ext uri="{BB962C8B-B14F-4D97-AF65-F5344CB8AC3E}">
        <p14:creationId xmlns:p14="http://schemas.microsoft.com/office/powerpoint/2010/main" val="14120403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0685" y="0"/>
            <a:ext cx="9601196" cy="1303867"/>
          </a:xfrm>
        </p:spPr>
        <p:txBody>
          <a:bodyPr/>
          <a:lstStyle/>
          <a:p>
            <a:r>
              <a:rPr lang="en-US" dirty="0" smtClean="0"/>
              <a:t>Semantic Network </a:t>
            </a:r>
            <a:endParaRPr lang="en-US" dirty="0"/>
          </a:p>
        </p:txBody>
      </p:sp>
      <p:sp>
        <p:nvSpPr>
          <p:cNvPr id="3" name="Content Placeholder 2"/>
          <p:cNvSpPr>
            <a:spLocks noGrp="1"/>
          </p:cNvSpPr>
          <p:nvPr>
            <p:ph idx="1"/>
          </p:nvPr>
        </p:nvSpPr>
        <p:spPr>
          <a:xfrm>
            <a:off x="150126" y="1303867"/>
            <a:ext cx="10896597" cy="3318936"/>
          </a:xfrm>
        </p:spPr>
        <p:txBody>
          <a:bodyPr/>
          <a:lstStyle/>
          <a:p>
            <a:r>
              <a:rPr lang="en-US" dirty="0" smtClean="0"/>
              <a:t>A visual and intuitive </a:t>
            </a:r>
            <a:r>
              <a:rPr lang="en-US" dirty="0"/>
              <a:t>knowledge representation technique </a:t>
            </a:r>
            <a:r>
              <a:rPr lang="en-US" dirty="0" smtClean="0"/>
              <a:t>consisting of </a:t>
            </a:r>
            <a:r>
              <a:rPr lang="en-US" dirty="0"/>
              <a:t>a network of nodes (representing </a:t>
            </a:r>
            <a:r>
              <a:rPr lang="en-US" dirty="0" smtClean="0"/>
              <a:t>concepts, objects </a:t>
            </a:r>
            <a:r>
              <a:rPr lang="en-US" dirty="0"/>
              <a:t>or entities) connected by edges (representing relationships or links</a:t>
            </a:r>
            <a:r>
              <a:rPr lang="en-US" dirty="0" smtClean="0"/>
              <a:t>).</a:t>
            </a:r>
          </a:p>
          <a:p>
            <a:r>
              <a:rPr lang="en-US" b="1" dirty="0"/>
              <a:t>Example:</a:t>
            </a:r>
            <a:r>
              <a:rPr lang="en-US" dirty="0"/>
              <a:t> Following are some statements which we need to represent in the form of nodes and arcs.</a:t>
            </a:r>
          </a:p>
        </p:txBody>
      </p:sp>
      <p:pic>
        <p:nvPicPr>
          <p:cNvPr id="4" name="Picture 3"/>
          <p:cNvPicPr>
            <a:picLocks noChangeAspect="1"/>
          </p:cNvPicPr>
          <p:nvPr/>
        </p:nvPicPr>
        <p:blipFill>
          <a:blip r:embed="rId3"/>
          <a:stretch>
            <a:fillRect/>
          </a:stretch>
        </p:blipFill>
        <p:spPr>
          <a:xfrm>
            <a:off x="4900783" y="2947917"/>
            <a:ext cx="7291218" cy="3910084"/>
          </a:xfrm>
          <a:prstGeom prst="rect">
            <a:avLst/>
          </a:prstGeom>
        </p:spPr>
      </p:pic>
      <p:pic>
        <p:nvPicPr>
          <p:cNvPr id="5" name="Picture 4"/>
          <p:cNvPicPr>
            <a:picLocks noChangeAspect="1"/>
          </p:cNvPicPr>
          <p:nvPr/>
        </p:nvPicPr>
        <p:blipFill>
          <a:blip r:embed="rId4"/>
          <a:stretch>
            <a:fillRect/>
          </a:stretch>
        </p:blipFill>
        <p:spPr>
          <a:xfrm>
            <a:off x="2177759" y="3751072"/>
            <a:ext cx="2708775" cy="2499603"/>
          </a:xfrm>
          <a:prstGeom prst="rect">
            <a:avLst/>
          </a:prstGeom>
        </p:spPr>
      </p:pic>
    </p:spTree>
    <p:extLst>
      <p:ext uri="{BB962C8B-B14F-4D97-AF65-F5344CB8AC3E}">
        <p14:creationId xmlns:p14="http://schemas.microsoft.com/office/powerpoint/2010/main" val="766648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67604" y="633270"/>
            <a:ext cx="4886325" cy="5549166"/>
          </a:xfrm>
          <a:prstGeom prst="rect">
            <a:avLst/>
          </a:prstGeom>
        </p:spPr>
      </p:pic>
      <p:pic>
        <p:nvPicPr>
          <p:cNvPr id="5" name="Picture 4"/>
          <p:cNvPicPr>
            <a:picLocks noChangeAspect="1"/>
          </p:cNvPicPr>
          <p:nvPr/>
        </p:nvPicPr>
        <p:blipFill>
          <a:blip r:embed="rId3"/>
          <a:stretch>
            <a:fillRect/>
          </a:stretch>
        </p:blipFill>
        <p:spPr>
          <a:xfrm>
            <a:off x="5553929" y="656168"/>
            <a:ext cx="5553075" cy="5219700"/>
          </a:xfrm>
          <a:prstGeom prst="rect">
            <a:avLst/>
          </a:prstGeom>
        </p:spPr>
      </p:pic>
    </p:spTree>
    <p:extLst>
      <p:ext uri="{BB962C8B-B14F-4D97-AF65-F5344CB8AC3E}">
        <p14:creationId xmlns:p14="http://schemas.microsoft.com/office/powerpoint/2010/main" val="138900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09934" y="466725"/>
            <a:ext cx="9990162" cy="5924550"/>
          </a:xfrm>
          <a:prstGeom prst="rect">
            <a:avLst/>
          </a:prstGeom>
        </p:spPr>
      </p:pic>
    </p:spTree>
    <p:extLst>
      <p:ext uri="{BB962C8B-B14F-4D97-AF65-F5344CB8AC3E}">
        <p14:creationId xmlns:p14="http://schemas.microsoft.com/office/powerpoint/2010/main" val="15175027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32914" y="556811"/>
            <a:ext cx="8926171" cy="5744377"/>
          </a:xfrm>
          <a:prstGeom prst="rect">
            <a:avLst/>
          </a:prstGeom>
        </p:spPr>
      </p:pic>
    </p:spTree>
    <p:extLst>
      <p:ext uri="{BB962C8B-B14F-4D97-AF65-F5344CB8AC3E}">
        <p14:creationId xmlns:p14="http://schemas.microsoft.com/office/powerpoint/2010/main" val="1297189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56863" y="247206"/>
            <a:ext cx="7878274" cy="6363588"/>
          </a:xfrm>
          <a:prstGeom prst="rect">
            <a:avLst/>
          </a:prstGeom>
        </p:spPr>
      </p:pic>
    </p:spTree>
    <p:extLst>
      <p:ext uri="{BB962C8B-B14F-4D97-AF65-F5344CB8AC3E}">
        <p14:creationId xmlns:p14="http://schemas.microsoft.com/office/powerpoint/2010/main" val="1509111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798" cy="1303867"/>
          </a:xfrm>
        </p:spPr>
        <p:txBody>
          <a:bodyPr>
            <a:normAutofit fontScale="90000"/>
          </a:bodyPr>
          <a:lstStyle/>
          <a:p>
            <a:r>
              <a:rPr lang="en-US" dirty="0" smtClean="0"/>
              <a:t>Visualizing Semantic Networks</a:t>
            </a:r>
            <a:br>
              <a:rPr lang="en-US" dirty="0" smtClean="0"/>
            </a:br>
            <a:endParaRPr lang="en-US" dirty="0"/>
          </a:p>
        </p:txBody>
      </p:sp>
      <p:sp>
        <p:nvSpPr>
          <p:cNvPr id="3" name="Content Placeholder 2"/>
          <p:cNvSpPr>
            <a:spLocks noGrp="1"/>
          </p:cNvSpPr>
          <p:nvPr>
            <p:ph idx="1"/>
          </p:nvPr>
        </p:nvSpPr>
        <p:spPr>
          <a:xfrm>
            <a:off x="223346" y="1453346"/>
            <a:ext cx="9601196" cy="3318936"/>
          </a:xfrm>
        </p:spPr>
        <p:txBody>
          <a:bodyPr/>
          <a:lstStyle/>
          <a:p>
            <a:r>
              <a:rPr lang="en-US" dirty="0" smtClean="0">
                <a:hlinkClick r:id="rId2"/>
              </a:rPr>
              <a:t>https://www.visuwords.com</a:t>
            </a:r>
            <a:endParaRPr lang="en-US" dirty="0" smtClean="0"/>
          </a:p>
          <a:p>
            <a:endParaRPr lang="en-US" dirty="0"/>
          </a:p>
        </p:txBody>
      </p:sp>
      <p:pic>
        <p:nvPicPr>
          <p:cNvPr id="5" name="Picture 4"/>
          <p:cNvPicPr>
            <a:picLocks noChangeAspect="1"/>
          </p:cNvPicPr>
          <p:nvPr/>
        </p:nvPicPr>
        <p:blipFill>
          <a:blip r:embed="rId3"/>
          <a:stretch>
            <a:fillRect/>
          </a:stretch>
        </p:blipFill>
        <p:spPr>
          <a:xfrm>
            <a:off x="4934608" y="808712"/>
            <a:ext cx="6826468" cy="6075226"/>
          </a:xfrm>
          <a:prstGeom prst="rect">
            <a:avLst/>
          </a:prstGeom>
        </p:spPr>
      </p:pic>
    </p:spTree>
    <p:extLst>
      <p:ext uri="{BB962C8B-B14F-4D97-AF65-F5344CB8AC3E}">
        <p14:creationId xmlns:p14="http://schemas.microsoft.com/office/powerpoint/2010/main" val="27391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Advantages and Disadvantages</a:t>
            </a:r>
            <a:endParaRPr lang="en-US" dirty="0"/>
          </a:p>
        </p:txBody>
      </p:sp>
      <p:sp>
        <p:nvSpPr>
          <p:cNvPr id="5" name="Text Placeholder 4"/>
          <p:cNvSpPr>
            <a:spLocks noGrp="1"/>
          </p:cNvSpPr>
          <p:nvPr>
            <p:ph type="body" idx="1"/>
          </p:nvPr>
        </p:nvSpPr>
        <p:spPr/>
        <p:txBody>
          <a:bodyPr/>
          <a:lstStyle/>
          <a:p>
            <a:r>
              <a:rPr lang="en-US" dirty="0" smtClean="0"/>
              <a:t>Advantages</a:t>
            </a:r>
            <a:endParaRPr lang="en-US" dirty="0"/>
          </a:p>
        </p:txBody>
      </p:sp>
      <p:sp>
        <p:nvSpPr>
          <p:cNvPr id="6" name="Content Placeholder 5"/>
          <p:cNvSpPr>
            <a:spLocks noGrp="1"/>
          </p:cNvSpPr>
          <p:nvPr>
            <p:ph sz="half" idx="2"/>
          </p:nvPr>
        </p:nvSpPr>
        <p:spPr/>
        <p:txBody>
          <a:bodyPr/>
          <a:lstStyle/>
          <a:p>
            <a:r>
              <a:rPr lang="en-US" dirty="0">
                <a:solidFill>
                  <a:schemeClr val="tx1"/>
                </a:solidFill>
              </a:rPr>
              <a:t>Semantic networks are a natural representation of knowledge.</a:t>
            </a:r>
          </a:p>
          <a:p>
            <a:r>
              <a:rPr lang="en-US" dirty="0">
                <a:solidFill>
                  <a:schemeClr val="tx1"/>
                </a:solidFill>
              </a:rPr>
              <a:t>Semantic networks convey meaning in a transparent manner.</a:t>
            </a:r>
          </a:p>
          <a:p>
            <a:r>
              <a:rPr lang="en-US" dirty="0">
                <a:solidFill>
                  <a:schemeClr val="tx1"/>
                </a:solidFill>
              </a:rPr>
              <a:t>These networks are simple and easily understandable</a:t>
            </a:r>
            <a:endParaRPr lang="en-US" dirty="0"/>
          </a:p>
        </p:txBody>
      </p:sp>
      <p:sp>
        <p:nvSpPr>
          <p:cNvPr id="7" name="Text Placeholder 6"/>
          <p:cNvSpPr>
            <a:spLocks noGrp="1"/>
          </p:cNvSpPr>
          <p:nvPr>
            <p:ph type="body" sz="quarter" idx="3"/>
          </p:nvPr>
        </p:nvSpPr>
        <p:spPr/>
        <p:txBody>
          <a:bodyPr/>
          <a:lstStyle/>
          <a:p>
            <a:r>
              <a:rPr lang="en-US" dirty="0" smtClean="0"/>
              <a:t>Disadvantages</a:t>
            </a:r>
            <a:endParaRPr lang="en-US" dirty="0"/>
          </a:p>
        </p:txBody>
      </p:sp>
      <p:sp>
        <p:nvSpPr>
          <p:cNvPr id="8" name="Content Placeholder 7"/>
          <p:cNvSpPr>
            <a:spLocks noGrp="1"/>
          </p:cNvSpPr>
          <p:nvPr>
            <p:ph sz="quarter" idx="4"/>
          </p:nvPr>
        </p:nvSpPr>
        <p:spPr/>
        <p:txBody>
          <a:bodyPr>
            <a:normAutofit fontScale="70000" lnSpcReduction="20000"/>
          </a:bodyPr>
          <a:lstStyle/>
          <a:p>
            <a:r>
              <a:rPr lang="en-US" dirty="0">
                <a:solidFill>
                  <a:schemeClr val="tx1"/>
                </a:solidFill>
              </a:rPr>
              <a:t>take more computational time at runtime </a:t>
            </a:r>
            <a:endParaRPr lang="en-US" dirty="0" smtClean="0">
              <a:solidFill>
                <a:schemeClr val="tx1"/>
              </a:solidFill>
            </a:endParaRPr>
          </a:p>
          <a:p>
            <a:r>
              <a:rPr lang="en-US" dirty="0">
                <a:solidFill>
                  <a:schemeClr val="tx1"/>
                </a:solidFill>
              </a:rPr>
              <a:t>it is not possible to build </a:t>
            </a:r>
            <a:r>
              <a:rPr lang="en-US" dirty="0" smtClean="0">
                <a:solidFill>
                  <a:schemeClr val="tx1"/>
                </a:solidFill>
              </a:rPr>
              <a:t>a </a:t>
            </a:r>
            <a:r>
              <a:rPr lang="en-US" dirty="0">
                <a:solidFill>
                  <a:schemeClr val="tx1"/>
                </a:solidFill>
              </a:rPr>
              <a:t>vast semantic </a:t>
            </a:r>
            <a:r>
              <a:rPr lang="en-US" dirty="0" smtClean="0">
                <a:solidFill>
                  <a:schemeClr val="tx1"/>
                </a:solidFill>
              </a:rPr>
              <a:t>network to model human like memory</a:t>
            </a:r>
          </a:p>
          <a:p>
            <a:r>
              <a:rPr lang="en-US" dirty="0">
                <a:solidFill>
                  <a:schemeClr val="tx1"/>
                </a:solidFill>
              </a:rPr>
              <a:t>they do not have any equivalent quantifier, e.g., for all, for some, none, </a:t>
            </a:r>
            <a:r>
              <a:rPr lang="en-US" dirty="0" err="1" smtClean="0">
                <a:solidFill>
                  <a:schemeClr val="tx1"/>
                </a:solidFill>
              </a:rPr>
              <a:t>etc</a:t>
            </a:r>
            <a:endParaRPr lang="en-US" dirty="0" smtClean="0">
              <a:solidFill>
                <a:schemeClr val="tx1"/>
              </a:solidFill>
            </a:endParaRPr>
          </a:p>
          <a:p>
            <a:r>
              <a:rPr lang="en-US" dirty="0">
                <a:solidFill>
                  <a:schemeClr val="tx1"/>
                </a:solidFill>
              </a:rPr>
              <a:t>do not have any standard definition for the link </a:t>
            </a:r>
            <a:r>
              <a:rPr lang="en-US" dirty="0" smtClean="0">
                <a:solidFill>
                  <a:schemeClr val="tx1"/>
                </a:solidFill>
              </a:rPr>
              <a:t>names</a:t>
            </a:r>
          </a:p>
          <a:p>
            <a:r>
              <a:rPr lang="en-US" dirty="0" smtClean="0">
                <a:solidFill>
                  <a:schemeClr val="tx1"/>
                </a:solidFill>
              </a:rPr>
              <a:t>Are </a:t>
            </a:r>
            <a:r>
              <a:rPr lang="en-US" dirty="0">
                <a:solidFill>
                  <a:schemeClr val="tx1"/>
                </a:solidFill>
              </a:rPr>
              <a:t>not intelligent and depend on the creator of the system</a:t>
            </a:r>
            <a:endParaRPr lang="en-US" dirty="0" smtClean="0">
              <a:solidFill>
                <a:schemeClr val="tx1"/>
              </a:solidFill>
            </a:endParaRPr>
          </a:p>
          <a:p>
            <a:endParaRPr lang="en-US" dirty="0" smtClean="0">
              <a:solidFill>
                <a:schemeClr val="tx1"/>
              </a:solidFill>
            </a:endParaRPr>
          </a:p>
          <a:p>
            <a:endParaRPr lang="en-US" dirty="0"/>
          </a:p>
        </p:txBody>
      </p:sp>
    </p:spTree>
    <p:extLst>
      <p:ext uri="{BB962C8B-B14F-4D97-AF65-F5344CB8AC3E}">
        <p14:creationId xmlns:p14="http://schemas.microsoft.com/office/powerpoint/2010/main" val="41599067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Problem:</a:t>
            </a:r>
            <a:r>
              <a:rPr lang="en-US" dirty="0"/>
              <a:t> </a:t>
            </a:r>
            <a:r>
              <a:rPr lang="en-US" dirty="0" smtClean="0"/>
              <a:t>Using a </a:t>
            </a:r>
            <a:r>
              <a:rPr lang="en-US" dirty="0"/>
              <a:t>group </a:t>
            </a:r>
            <a:r>
              <a:rPr lang="en-US" dirty="0" smtClean="0"/>
              <a:t>of 5 to 7 </a:t>
            </a:r>
            <a:r>
              <a:rPr lang="en-US" dirty="0"/>
              <a:t>friends </a:t>
            </a:r>
            <a:r>
              <a:rPr lang="en-US" dirty="0" smtClean="0"/>
              <a:t>who </a:t>
            </a:r>
            <a:r>
              <a:rPr lang="en-US" dirty="0"/>
              <a:t>have different hobbies and </a:t>
            </a:r>
            <a:r>
              <a:rPr lang="en-US" dirty="0" smtClean="0"/>
              <a:t>interests, create </a:t>
            </a:r>
            <a:r>
              <a:rPr lang="en-US" dirty="0"/>
              <a:t>a semantic network to represent the relationships between your </a:t>
            </a:r>
            <a:r>
              <a:rPr lang="en-US" dirty="0" smtClean="0"/>
              <a:t>friends </a:t>
            </a:r>
            <a:r>
              <a:rPr lang="en-US" dirty="0"/>
              <a:t>and their hobbies</a:t>
            </a:r>
            <a:r>
              <a:rPr lang="en-US" dirty="0" smtClean="0"/>
              <a:t>.</a:t>
            </a:r>
          </a:p>
          <a:p>
            <a:r>
              <a:rPr lang="en-US" dirty="0" smtClean="0"/>
              <a:t>Use Nodes to represent each friend, while their hobbies will be connected to them as linked nodes. </a:t>
            </a:r>
          </a:p>
          <a:p>
            <a:r>
              <a:rPr lang="en-US" dirty="0" smtClean="0"/>
              <a:t>Each link will represent the relationship between the person and their hobbies.</a:t>
            </a:r>
            <a:endParaRPr lang="en-US" dirty="0"/>
          </a:p>
          <a:p>
            <a:r>
              <a:rPr lang="en-US" b="1" dirty="0" smtClean="0"/>
              <a:t>Example Information</a:t>
            </a:r>
            <a:r>
              <a:rPr lang="en-US" b="1" dirty="0"/>
              <a:t>:</a:t>
            </a:r>
            <a:endParaRPr lang="en-US" dirty="0"/>
          </a:p>
          <a:p>
            <a:r>
              <a:rPr lang="en-US" dirty="0"/>
              <a:t>John likes playing soccer and basketball.</a:t>
            </a:r>
          </a:p>
          <a:p>
            <a:r>
              <a:rPr lang="en-US" dirty="0"/>
              <a:t>Sarah enjoys reading books and painting.</a:t>
            </a:r>
          </a:p>
          <a:p>
            <a:r>
              <a:rPr lang="en-US" dirty="0"/>
              <a:t>Michael is interested in photography and hiking.</a:t>
            </a:r>
          </a:p>
          <a:p>
            <a:r>
              <a:rPr lang="en-US" dirty="0"/>
              <a:t>Emily's hobbies include playing the guitar and cooking.</a:t>
            </a:r>
          </a:p>
          <a:p>
            <a:r>
              <a:rPr lang="en-US" dirty="0"/>
              <a:t>David likes swimming and playing video games.</a:t>
            </a:r>
          </a:p>
          <a:p>
            <a:endParaRPr lang="en-US" dirty="0"/>
          </a:p>
        </p:txBody>
      </p:sp>
    </p:spTree>
    <p:extLst>
      <p:ext uri="{BB962C8B-B14F-4D97-AF65-F5344CB8AC3E}">
        <p14:creationId xmlns:p14="http://schemas.microsoft.com/office/powerpoint/2010/main" val="965042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4208" y="0"/>
            <a:ext cx="9601196" cy="1303867"/>
          </a:xfrm>
        </p:spPr>
        <p:txBody>
          <a:bodyPr/>
          <a:lstStyle/>
          <a:p>
            <a:r>
              <a:rPr lang="en-US" b="1" dirty="0" smtClean="0"/>
              <a:t>Frames</a:t>
            </a:r>
            <a:endParaRPr lang="en-US" b="1" dirty="0"/>
          </a:p>
        </p:txBody>
      </p:sp>
      <p:sp>
        <p:nvSpPr>
          <p:cNvPr id="3" name="Content Placeholder 2"/>
          <p:cNvSpPr>
            <a:spLocks noGrp="1"/>
          </p:cNvSpPr>
          <p:nvPr>
            <p:ph idx="1"/>
          </p:nvPr>
        </p:nvSpPr>
        <p:spPr>
          <a:xfrm>
            <a:off x="0" y="1451463"/>
            <a:ext cx="7254055" cy="5699964"/>
          </a:xfrm>
        </p:spPr>
        <p:txBody>
          <a:bodyPr>
            <a:normAutofit fontScale="92500" lnSpcReduction="20000"/>
          </a:bodyPr>
          <a:lstStyle/>
          <a:p>
            <a:r>
              <a:rPr lang="en-US" dirty="0"/>
              <a:t>A</a:t>
            </a:r>
            <a:r>
              <a:rPr lang="en-US" dirty="0" smtClean="0"/>
              <a:t> </a:t>
            </a:r>
            <a:r>
              <a:rPr lang="en-US" dirty="0"/>
              <a:t>frame is a data structure used to represent objects, concepts, or entities in a structured and organized manner. </a:t>
            </a:r>
            <a:endParaRPr lang="en-US" dirty="0" smtClean="0"/>
          </a:p>
          <a:p>
            <a:r>
              <a:rPr lang="en-US" dirty="0"/>
              <a:t>Frames are derived from semantic networks and later evolved into our modern-day classes and objects.</a:t>
            </a:r>
          </a:p>
          <a:p>
            <a:r>
              <a:rPr lang="en-US" dirty="0"/>
              <a:t>A frame consists of slots (also known as attributes or properties) and fillers (also known as values) associated with those slots. </a:t>
            </a:r>
            <a:endParaRPr lang="en-US" dirty="0" smtClean="0"/>
          </a:p>
          <a:p>
            <a:r>
              <a:rPr lang="en-US" dirty="0" smtClean="0"/>
              <a:t>Each </a:t>
            </a:r>
            <a:r>
              <a:rPr lang="en-US" dirty="0"/>
              <a:t>slot represents a specific aspect or characteristic of the object or concept being represented, and the fillers are the values associated with those characteristics</a:t>
            </a:r>
            <a:r>
              <a:rPr lang="en-US" dirty="0" smtClean="0"/>
              <a:t>.</a:t>
            </a:r>
          </a:p>
          <a:p>
            <a:r>
              <a:rPr lang="en-US" dirty="0"/>
              <a:t>Facets are features of frames which enable us to put constraints on the frames</a:t>
            </a:r>
            <a:r>
              <a:rPr lang="en-US" dirty="0" smtClean="0"/>
              <a:t>.</a:t>
            </a:r>
          </a:p>
          <a:p>
            <a:r>
              <a:rPr lang="en-US" dirty="0"/>
              <a:t>A frame is also known as </a:t>
            </a:r>
            <a:r>
              <a:rPr lang="en-US" b="1" dirty="0"/>
              <a:t>slot-filter knowledge representation</a:t>
            </a:r>
            <a:r>
              <a:rPr lang="en-US" dirty="0"/>
              <a:t> in artificial intelligence</a:t>
            </a:r>
            <a:r>
              <a:rPr lang="en-US" dirty="0" smtClean="0"/>
              <a:t>.</a:t>
            </a:r>
          </a:p>
          <a:p>
            <a:r>
              <a:rPr lang="en-US" dirty="0" smtClean="0"/>
              <a:t>Application: expert </a:t>
            </a:r>
            <a:r>
              <a:rPr lang="en-US" dirty="0"/>
              <a:t>systems, natural language understanding, and automated reasoning.</a:t>
            </a:r>
            <a:endParaRPr lang="en-US" dirty="0" smtClean="0"/>
          </a:p>
        </p:txBody>
      </p:sp>
      <p:pic>
        <p:nvPicPr>
          <p:cNvPr id="4" name="Picture 3"/>
          <p:cNvPicPr>
            <a:picLocks noChangeAspect="1"/>
          </p:cNvPicPr>
          <p:nvPr/>
        </p:nvPicPr>
        <p:blipFill>
          <a:blip r:embed="rId3"/>
          <a:stretch>
            <a:fillRect/>
          </a:stretch>
        </p:blipFill>
        <p:spPr>
          <a:xfrm>
            <a:off x="7137680" y="2124982"/>
            <a:ext cx="5054320" cy="4352925"/>
          </a:xfrm>
          <a:prstGeom prst="rect">
            <a:avLst/>
          </a:prstGeom>
        </p:spPr>
      </p:pic>
    </p:spTree>
    <p:extLst>
      <p:ext uri="{BB962C8B-B14F-4D97-AF65-F5344CB8AC3E}">
        <p14:creationId xmlns:p14="http://schemas.microsoft.com/office/powerpoint/2010/main" val="1129706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95401" y="986933"/>
            <a:ext cx="9601196" cy="4171921"/>
          </a:xfrm>
          <a:prstGeom prst="rect">
            <a:avLst/>
          </a:prstGeom>
        </p:spPr>
      </p:pic>
    </p:spTree>
    <p:extLst>
      <p:ext uri="{BB962C8B-B14F-4D97-AF65-F5344CB8AC3E}">
        <p14:creationId xmlns:p14="http://schemas.microsoft.com/office/powerpoint/2010/main" val="21965795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80811" y="266258"/>
            <a:ext cx="6830378" cy="6325483"/>
          </a:xfrm>
          <a:prstGeom prst="rect">
            <a:avLst/>
          </a:prstGeom>
        </p:spPr>
      </p:pic>
    </p:spTree>
    <p:extLst>
      <p:ext uri="{BB962C8B-B14F-4D97-AF65-F5344CB8AC3E}">
        <p14:creationId xmlns:p14="http://schemas.microsoft.com/office/powerpoint/2010/main" val="124969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and Disadvantages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Advantages</a:t>
            </a:r>
          </a:p>
          <a:p>
            <a:pPr lvl="1"/>
            <a:r>
              <a:rPr lang="en-US" dirty="0"/>
              <a:t>The frame knowledge representation makes the programming easier by grouping the related </a:t>
            </a:r>
            <a:r>
              <a:rPr lang="en-US" dirty="0" smtClean="0"/>
              <a:t>data or knowledge (OOP)</a:t>
            </a:r>
            <a:endParaRPr lang="en-US" dirty="0"/>
          </a:p>
          <a:p>
            <a:pPr lvl="1"/>
            <a:r>
              <a:rPr lang="en-US" dirty="0"/>
              <a:t>The frame representation is comparably flexible and used by many applications in AI.</a:t>
            </a:r>
          </a:p>
          <a:p>
            <a:pPr lvl="1"/>
            <a:r>
              <a:rPr lang="en-US" dirty="0"/>
              <a:t>It is very easy to add slots for new attribute and relations</a:t>
            </a:r>
            <a:r>
              <a:rPr lang="en-US" dirty="0" smtClean="0"/>
              <a:t>. [Flexibility]</a:t>
            </a:r>
            <a:endParaRPr lang="en-US" dirty="0"/>
          </a:p>
          <a:p>
            <a:pPr lvl="1"/>
            <a:r>
              <a:rPr lang="en-US" dirty="0"/>
              <a:t>It is easy to include default data and to search for missing values.</a:t>
            </a:r>
          </a:p>
          <a:p>
            <a:pPr lvl="1"/>
            <a:r>
              <a:rPr lang="en-US" dirty="0"/>
              <a:t>Frame representation is </a:t>
            </a:r>
            <a:r>
              <a:rPr lang="en-US" dirty="0" smtClean="0"/>
              <a:t>easier </a:t>
            </a:r>
            <a:r>
              <a:rPr lang="en-US" dirty="0"/>
              <a:t>to understand and </a:t>
            </a:r>
            <a:r>
              <a:rPr lang="en-US" dirty="0" smtClean="0"/>
              <a:t>visualize than logic or rules</a:t>
            </a:r>
            <a:endParaRPr lang="en-US" dirty="0"/>
          </a:p>
          <a:p>
            <a:r>
              <a:rPr lang="en-US" dirty="0" smtClean="0"/>
              <a:t>Disadvantages</a:t>
            </a:r>
          </a:p>
          <a:p>
            <a:pPr lvl="1"/>
            <a:r>
              <a:rPr lang="en-US" dirty="0"/>
              <a:t>In frame system inference mechanism is not be easily processed.</a:t>
            </a:r>
          </a:p>
          <a:p>
            <a:pPr lvl="1"/>
            <a:r>
              <a:rPr lang="en-US" dirty="0"/>
              <a:t>Inference mechanism cannot be smoothly proceeded by frame representation.</a:t>
            </a:r>
          </a:p>
          <a:p>
            <a:pPr lvl="1"/>
            <a:r>
              <a:rPr lang="en-US" dirty="0"/>
              <a:t>Frame representation has a much generalized approach.</a:t>
            </a:r>
          </a:p>
          <a:p>
            <a:endParaRPr lang="en-US" dirty="0"/>
          </a:p>
        </p:txBody>
      </p:sp>
    </p:spTree>
    <p:extLst>
      <p:ext uri="{BB962C8B-B14F-4D97-AF65-F5344CB8AC3E}">
        <p14:creationId xmlns:p14="http://schemas.microsoft.com/office/powerpoint/2010/main" val="41721979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smtClean="0"/>
              <a:t>Generate a frame representation for Paul</a:t>
            </a:r>
          </a:p>
          <a:p>
            <a:r>
              <a:rPr lang="en-US" dirty="0" smtClean="0"/>
              <a:t>Paul </a:t>
            </a:r>
            <a:r>
              <a:rPr lang="en-US" dirty="0"/>
              <a:t>is </a:t>
            </a:r>
            <a:r>
              <a:rPr lang="en-US" dirty="0" smtClean="0"/>
              <a:t>a Student at USIU university doing Software engineering </a:t>
            </a:r>
            <a:r>
              <a:rPr lang="en-US" dirty="0"/>
              <a:t>as a </a:t>
            </a:r>
            <a:r>
              <a:rPr lang="en-US" dirty="0" smtClean="0"/>
              <a:t>major. His age is 23, </a:t>
            </a:r>
            <a:r>
              <a:rPr lang="en-US" dirty="0"/>
              <a:t>he </a:t>
            </a:r>
            <a:r>
              <a:rPr lang="en-US" dirty="0" smtClean="0"/>
              <a:t>is from the city of Goma, in the </a:t>
            </a:r>
            <a:r>
              <a:rPr lang="en-US" dirty="0"/>
              <a:t>country </a:t>
            </a:r>
            <a:r>
              <a:rPr lang="en-US" dirty="0" smtClean="0"/>
              <a:t>of DRC. </a:t>
            </a:r>
            <a:endParaRPr lang="en-US" dirty="0"/>
          </a:p>
        </p:txBody>
      </p:sp>
    </p:spTree>
    <p:extLst>
      <p:ext uri="{BB962C8B-B14F-4D97-AF65-F5344CB8AC3E}">
        <p14:creationId xmlns:p14="http://schemas.microsoft.com/office/powerpoint/2010/main" val="1013479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Other Semantic Network Related Representations</a:t>
            </a:r>
            <a:endParaRPr lang="en-US" dirty="0"/>
          </a:p>
        </p:txBody>
      </p:sp>
      <p:sp>
        <p:nvSpPr>
          <p:cNvPr id="3" name="Content Placeholder 2"/>
          <p:cNvSpPr>
            <a:spLocks noGrp="1"/>
          </p:cNvSpPr>
          <p:nvPr>
            <p:ph idx="1"/>
          </p:nvPr>
        </p:nvSpPr>
        <p:spPr/>
        <p:txBody>
          <a:bodyPr/>
          <a:lstStyle/>
          <a:p>
            <a:r>
              <a:rPr lang="en-US" dirty="0" smtClean="0"/>
              <a:t>Concept Map</a:t>
            </a:r>
          </a:p>
          <a:p>
            <a:r>
              <a:rPr lang="en-US" dirty="0" smtClean="0"/>
              <a:t>Topic Maps</a:t>
            </a:r>
            <a:endParaRPr lang="en-US" dirty="0"/>
          </a:p>
        </p:txBody>
      </p:sp>
    </p:spTree>
    <p:extLst>
      <p:ext uri="{BB962C8B-B14F-4D97-AF65-F5344CB8AC3E}">
        <p14:creationId xmlns:p14="http://schemas.microsoft.com/office/powerpoint/2010/main" val="2523086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61599" y="447259"/>
            <a:ext cx="8068801" cy="5963482"/>
          </a:xfrm>
          <a:prstGeom prst="rect">
            <a:avLst/>
          </a:prstGeom>
        </p:spPr>
      </p:pic>
    </p:spTree>
    <p:extLst>
      <p:ext uri="{BB962C8B-B14F-4D97-AF65-F5344CB8AC3E}">
        <p14:creationId xmlns:p14="http://schemas.microsoft.com/office/powerpoint/2010/main" val="2081067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60331" y="0"/>
            <a:ext cx="8637205" cy="6763814"/>
          </a:xfrm>
          <a:prstGeom prst="rect">
            <a:avLst/>
          </a:prstGeom>
        </p:spPr>
      </p:pic>
    </p:spTree>
    <p:extLst>
      <p:ext uri="{BB962C8B-B14F-4D97-AF65-F5344CB8AC3E}">
        <p14:creationId xmlns:p14="http://schemas.microsoft.com/office/powerpoint/2010/main" val="1171385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264" y="0"/>
            <a:ext cx="9601196" cy="1303867"/>
          </a:xfrm>
        </p:spPr>
        <p:txBody>
          <a:bodyPr/>
          <a:lstStyle/>
          <a:p>
            <a:r>
              <a:rPr lang="en-US" dirty="0" smtClean="0"/>
              <a:t>Production Rules</a:t>
            </a:r>
            <a:endParaRPr lang="en-US" dirty="0"/>
          </a:p>
        </p:txBody>
      </p:sp>
      <p:sp>
        <p:nvSpPr>
          <p:cNvPr id="3" name="Content Placeholder 2"/>
          <p:cNvSpPr>
            <a:spLocks noGrp="1"/>
          </p:cNvSpPr>
          <p:nvPr>
            <p:ph idx="1"/>
          </p:nvPr>
        </p:nvSpPr>
        <p:spPr>
          <a:xfrm>
            <a:off x="-1" y="1303867"/>
            <a:ext cx="11604567" cy="3318936"/>
          </a:xfrm>
        </p:spPr>
        <p:txBody>
          <a:bodyPr>
            <a:normAutofit/>
          </a:bodyPr>
          <a:lstStyle/>
          <a:p>
            <a:r>
              <a:rPr lang="en-US" dirty="0"/>
              <a:t>Production rules system consist of (</a:t>
            </a:r>
            <a:r>
              <a:rPr lang="en-US" b="1" dirty="0"/>
              <a:t>condition, action</a:t>
            </a:r>
            <a:r>
              <a:rPr lang="en-US" dirty="0"/>
              <a:t>) pairs which mean, "If condition then action". It has mainly three parts:</a:t>
            </a:r>
          </a:p>
          <a:p>
            <a:pPr lvl="1"/>
            <a:r>
              <a:rPr lang="en-US" dirty="0"/>
              <a:t>The set of production rules</a:t>
            </a:r>
          </a:p>
          <a:p>
            <a:pPr lvl="1"/>
            <a:r>
              <a:rPr lang="en-US" dirty="0"/>
              <a:t>Working Memory</a:t>
            </a:r>
          </a:p>
          <a:p>
            <a:pPr lvl="1"/>
            <a:r>
              <a:rPr lang="en-US" dirty="0"/>
              <a:t>The recognize-act-cycle</a:t>
            </a:r>
          </a:p>
          <a:p>
            <a:r>
              <a:rPr lang="en-US" dirty="0"/>
              <a:t>In production rules agent checks for the condition and if the condition exists then production rule fires and corresponding action is carried out.</a:t>
            </a:r>
          </a:p>
          <a:p>
            <a:endParaRPr lang="en-US" dirty="0"/>
          </a:p>
        </p:txBody>
      </p:sp>
      <p:pic>
        <p:nvPicPr>
          <p:cNvPr id="4" name="Picture 3"/>
          <p:cNvPicPr>
            <a:picLocks noChangeAspect="1"/>
          </p:cNvPicPr>
          <p:nvPr/>
        </p:nvPicPr>
        <p:blipFill>
          <a:blip r:embed="rId2"/>
          <a:stretch>
            <a:fillRect/>
          </a:stretch>
        </p:blipFill>
        <p:spPr>
          <a:xfrm>
            <a:off x="4911956" y="4622803"/>
            <a:ext cx="6457950" cy="2019300"/>
          </a:xfrm>
          <a:prstGeom prst="rect">
            <a:avLst/>
          </a:prstGeom>
        </p:spPr>
      </p:pic>
    </p:spTree>
    <p:extLst>
      <p:ext uri="{BB962C8B-B14F-4D97-AF65-F5344CB8AC3E}">
        <p14:creationId xmlns:p14="http://schemas.microsoft.com/office/powerpoint/2010/main" val="2368824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29147" y="0"/>
            <a:ext cx="9601196" cy="1303867"/>
          </a:xfrm>
        </p:spPr>
        <p:txBody>
          <a:bodyPr/>
          <a:lstStyle/>
          <a:p>
            <a:r>
              <a:rPr lang="en-US" dirty="0" smtClean="0"/>
              <a:t>Reasoning </a:t>
            </a:r>
            <a:endParaRPr lang="en-US" dirty="0"/>
          </a:p>
        </p:txBody>
      </p:sp>
      <p:sp>
        <p:nvSpPr>
          <p:cNvPr id="3" name="Content Placeholder 2"/>
          <p:cNvSpPr>
            <a:spLocks noGrp="1"/>
          </p:cNvSpPr>
          <p:nvPr>
            <p:ph idx="1"/>
          </p:nvPr>
        </p:nvSpPr>
        <p:spPr>
          <a:xfrm>
            <a:off x="565265" y="1562793"/>
            <a:ext cx="11222182" cy="5137265"/>
          </a:xfrm>
        </p:spPr>
        <p:txBody>
          <a:bodyPr>
            <a:normAutofit lnSpcReduction="10000"/>
          </a:bodyPr>
          <a:lstStyle/>
          <a:p>
            <a:r>
              <a:rPr lang="en-US" dirty="0" smtClean="0"/>
              <a:t>A </a:t>
            </a:r>
            <a:r>
              <a:rPr lang="en-US" dirty="0"/>
              <a:t>mental process of deriving logical conclusion and making predictions from available knowledge, facts, and beliefs. </a:t>
            </a:r>
            <a:endParaRPr lang="en-US" dirty="0" smtClean="0"/>
          </a:p>
          <a:p>
            <a:r>
              <a:rPr lang="en-US" dirty="0" smtClean="0"/>
              <a:t>"</a:t>
            </a:r>
            <a:r>
              <a:rPr lang="en-US" b="1" dirty="0"/>
              <a:t>Reasoning is a way to infer facts from existing data</a:t>
            </a:r>
            <a:r>
              <a:rPr lang="en-US" dirty="0"/>
              <a:t>." It is a general </a:t>
            </a:r>
            <a:r>
              <a:rPr lang="en-US" dirty="0" smtClean="0"/>
              <a:t>process </a:t>
            </a:r>
            <a:r>
              <a:rPr lang="en-US" dirty="0"/>
              <a:t>of thinking rationally, to find valid conclusions</a:t>
            </a:r>
            <a:r>
              <a:rPr lang="en-US" dirty="0" smtClean="0"/>
              <a:t>.</a:t>
            </a:r>
            <a:endParaRPr lang="en-US" dirty="0"/>
          </a:p>
          <a:p>
            <a:r>
              <a:rPr lang="en-US" dirty="0" smtClean="0"/>
              <a:t>Types of reasoning</a:t>
            </a:r>
          </a:p>
          <a:p>
            <a:pPr lvl="1"/>
            <a:r>
              <a:rPr lang="en-US" dirty="0"/>
              <a:t>Deductive reasoning</a:t>
            </a:r>
          </a:p>
          <a:p>
            <a:pPr lvl="1"/>
            <a:r>
              <a:rPr lang="en-US" dirty="0"/>
              <a:t>Inductive reasoning</a:t>
            </a:r>
          </a:p>
          <a:p>
            <a:pPr lvl="1"/>
            <a:r>
              <a:rPr lang="en-US" dirty="0" err="1"/>
              <a:t>Abductive</a:t>
            </a:r>
            <a:r>
              <a:rPr lang="en-US" dirty="0"/>
              <a:t> </a:t>
            </a:r>
            <a:r>
              <a:rPr lang="en-US" dirty="0" smtClean="0"/>
              <a:t>reasoning</a:t>
            </a:r>
          </a:p>
          <a:p>
            <a:pPr lvl="1"/>
            <a:r>
              <a:rPr lang="en-US" dirty="0"/>
              <a:t>Causal </a:t>
            </a:r>
            <a:r>
              <a:rPr lang="en-US" dirty="0" smtClean="0"/>
              <a:t>Reasoning</a:t>
            </a:r>
            <a:endParaRPr lang="en-US" dirty="0"/>
          </a:p>
          <a:p>
            <a:pPr lvl="1"/>
            <a:r>
              <a:rPr lang="en-US" dirty="0"/>
              <a:t>Common Sense Reasoning</a:t>
            </a:r>
          </a:p>
          <a:p>
            <a:pPr lvl="1"/>
            <a:r>
              <a:rPr lang="en-US" dirty="0"/>
              <a:t>Monotonic Reasoning</a:t>
            </a:r>
          </a:p>
          <a:p>
            <a:pPr lvl="1"/>
            <a:r>
              <a:rPr lang="en-US" dirty="0"/>
              <a:t>Non-monotonic Reasoning</a:t>
            </a:r>
          </a:p>
          <a:p>
            <a:endParaRPr lang="en-US" dirty="0"/>
          </a:p>
        </p:txBody>
      </p:sp>
    </p:spTree>
    <p:extLst>
      <p:ext uri="{BB962C8B-B14F-4D97-AF65-F5344CB8AC3E}">
        <p14:creationId xmlns:p14="http://schemas.microsoft.com/office/powerpoint/2010/main" val="8840910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Reasoning</a:t>
            </a:r>
            <a:endParaRPr lang="en-US" dirty="0"/>
          </a:p>
        </p:txBody>
      </p:sp>
      <p:pic>
        <p:nvPicPr>
          <p:cNvPr id="4" name="Content Placeholder 3"/>
          <p:cNvPicPr>
            <a:picLocks noGrp="1" noChangeAspect="1"/>
          </p:cNvPicPr>
          <p:nvPr>
            <p:ph idx="1"/>
          </p:nvPr>
        </p:nvPicPr>
        <p:blipFill>
          <a:blip r:embed="rId3"/>
          <a:stretch>
            <a:fillRect/>
          </a:stretch>
        </p:blipFill>
        <p:spPr>
          <a:xfrm>
            <a:off x="1295402" y="2557463"/>
            <a:ext cx="8796249" cy="3317875"/>
          </a:xfrm>
          <a:prstGeom prst="rect">
            <a:avLst/>
          </a:prstGeom>
        </p:spPr>
      </p:pic>
    </p:spTree>
    <p:extLst>
      <p:ext uri="{BB962C8B-B14F-4D97-AF65-F5344CB8AC3E}">
        <p14:creationId xmlns:p14="http://schemas.microsoft.com/office/powerpoint/2010/main" val="22260996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a:bodyPr>
          <a:lstStyle/>
          <a:p>
            <a:r>
              <a:rPr lang="en-US" dirty="0">
                <a:hlinkClick r:id="rId2"/>
              </a:rPr>
              <a:t>https://</a:t>
            </a:r>
            <a:r>
              <a:rPr lang="en-US" dirty="0" smtClean="0">
                <a:hlinkClick r:id="rId2"/>
              </a:rPr>
              <a:t>www.javatpoint.com/knowledge-representation-in-ai</a:t>
            </a:r>
            <a:endParaRPr lang="en-US" dirty="0" smtClean="0"/>
          </a:p>
          <a:p>
            <a:r>
              <a:rPr lang="en-US" dirty="0">
                <a:hlinkClick r:id="rId3"/>
              </a:rPr>
              <a:t>https://</a:t>
            </a:r>
            <a:r>
              <a:rPr lang="en-US" dirty="0" smtClean="0">
                <a:hlinkClick r:id="rId3"/>
              </a:rPr>
              <a:t>www.tutorialspoint.com/prolog/prolog_relations.htm</a:t>
            </a:r>
            <a:endParaRPr lang="en-US" dirty="0" smtClean="0"/>
          </a:p>
          <a:p>
            <a:endParaRPr lang="en-US" dirty="0"/>
          </a:p>
        </p:txBody>
      </p:sp>
    </p:spTree>
    <p:extLst>
      <p:ext uri="{BB962C8B-B14F-4D97-AF65-F5344CB8AC3E}">
        <p14:creationId xmlns:p14="http://schemas.microsoft.com/office/powerpoint/2010/main" val="391128455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4686</TotalTime>
  <Words>1926</Words>
  <Application>Microsoft Office PowerPoint</Application>
  <PresentationFormat>Widescreen</PresentationFormat>
  <Paragraphs>215</Paragraphs>
  <Slides>32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Garamond</vt:lpstr>
      <vt:lpstr>Organic</vt:lpstr>
      <vt:lpstr>Knowledge Representation &amp; Reasoning in AI</vt:lpstr>
      <vt:lpstr>PowerPoint Presentation</vt:lpstr>
      <vt:lpstr>Lesson objective</vt:lpstr>
      <vt:lpstr>Lesson Learning Outcomes</vt:lpstr>
      <vt:lpstr>Knowledge Representation and Reasoning (KRR)</vt:lpstr>
      <vt:lpstr>PowerPoint Presentation</vt:lpstr>
      <vt:lpstr>Knowledge Representation Structures</vt:lpstr>
      <vt:lpstr>Logic Representation</vt:lpstr>
      <vt:lpstr>Propositional Logic</vt:lpstr>
      <vt:lpstr>Propositional Logic</vt:lpstr>
      <vt:lpstr>Example</vt:lpstr>
      <vt:lpstr>Limitations of Propositional Logic</vt:lpstr>
      <vt:lpstr>Semantic Network </vt:lpstr>
      <vt:lpstr>PowerPoint Presentation</vt:lpstr>
      <vt:lpstr>PowerPoint Presentation</vt:lpstr>
      <vt:lpstr>PowerPoint Presentation</vt:lpstr>
      <vt:lpstr>PowerPoint Presentation</vt:lpstr>
      <vt:lpstr>Visualizing Semantic Networks </vt:lpstr>
      <vt:lpstr>Advantages and Disadvantages</vt:lpstr>
      <vt:lpstr>Exercise</vt:lpstr>
      <vt:lpstr>Frames</vt:lpstr>
      <vt:lpstr>PowerPoint Presentation</vt:lpstr>
      <vt:lpstr>PowerPoint Presentation</vt:lpstr>
      <vt:lpstr>Advantages and Disadvantages</vt:lpstr>
      <vt:lpstr>Exercise</vt:lpstr>
      <vt:lpstr>Other Semantic Network Related Representations</vt:lpstr>
      <vt:lpstr>PowerPoint Presentation</vt:lpstr>
      <vt:lpstr>PowerPoint Presentation</vt:lpstr>
      <vt:lpstr>Production Rules</vt:lpstr>
      <vt:lpstr>Reasoning </vt:lpstr>
      <vt:lpstr>Types of Reasoning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Algorithms</dc:title>
  <dc:creator>Edward Ombui</dc:creator>
  <cp:lastModifiedBy>Edward Ombui</cp:lastModifiedBy>
  <cp:revision>107</cp:revision>
  <dcterms:created xsi:type="dcterms:W3CDTF">2024-01-27T08:55:54Z</dcterms:created>
  <dcterms:modified xsi:type="dcterms:W3CDTF">2024-06-12T09:38:36Z</dcterms:modified>
</cp:coreProperties>
</file>