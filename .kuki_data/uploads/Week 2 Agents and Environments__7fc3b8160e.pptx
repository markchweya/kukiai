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1"/>
  </p:notesMasterIdLst>
  <p:sldIdLst>
    <p:sldId id="256" r:id="rId2"/>
    <p:sldId id="282" r:id="rId3"/>
    <p:sldId id="283" r:id="rId4"/>
    <p:sldId id="301" r:id="rId5"/>
    <p:sldId id="300" r:id="rId6"/>
    <p:sldId id="284" r:id="rId7"/>
    <p:sldId id="285" r:id="rId8"/>
    <p:sldId id="258" r:id="rId9"/>
    <p:sldId id="281" r:id="rId10"/>
    <p:sldId id="279" r:id="rId11"/>
    <p:sldId id="259" r:id="rId12"/>
    <p:sldId id="290" r:id="rId13"/>
    <p:sldId id="299" r:id="rId14"/>
    <p:sldId id="261" r:id="rId15"/>
    <p:sldId id="262" r:id="rId16"/>
    <p:sldId id="263" r:id="rId17"/>
    <p:sldId id="264" r:id="rId18"/>
    <p:sldId id="265" r:id="rId19"/>
    <p:sldId id="266" r:id="rId20"/>
    <p:sldId id="267" r:id="rId21"/>
    <p:sldId id="268" r:id="rId22"/>
    <p:sldId id="292" r:id="rId23"/>
    <p:sldId id="289" r:id="rId24"/>
    <p:sldId id="269" r:id="rId25"/>
    <p:sldId id="270" r:id="rId26"/>
    <p:sldId id="271" r:id="rId27"/>
    <p:sldId id="272" r:id="rId28"/>
    <p:sldId id="273" r:id="rId29"/>
    <p:sldId id="274" r:id="rId30"/>
    <p:sldId id="275" r:id="rId31"/>
    <p:sldId id="309" r:id="rId32"/>
    <p:sldId id="308" r:id="rId33"/>
    <p:sldId id="307" r:id="rId34"/>
    <p:sldId id="303" r:id="rId35"/>
    <p:sldId id="310" r:id="rId36"/>
    <p:sldId id="305" r:id="rId37"/>
    <p:sldId id="306" r:id="rId38"/>
    <p:sldId id="291" r:id="rId39"/>
    <p:sldId id="276" r:id="rId40"/>
    <p:sldId id="277" r:id="rId41"/>
    <p:sldId id="302" r:id="rId42"/>
    <p:sldId id="288" r:id="rId43"/>
    <p:sldId id="293" r:id="rId44"/>
    <p:sldId id="298" r:id="rId45"/>
    <p:sldId id="297" r:id="rId46"/>
    <p:sldId id="295" r:id="rId47"/>
    <p:sldId id="296" r:id="rId48"/>
    <p:sldId id="287" r:id="rId49"/>
    <p:sldId id="278"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E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7143" autoAdjust="0"/>
  </p:normalViewPr>
  <p:slideViewPr>
    <p:cSldViewPr snapToGrid="0">
      <p:cViewPr>
        <p:scale>
          <a:sx n="47" d="100"/>
          <a:sy n="47" d="100"/>
        </p:scale>
        <p:origin x="688"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5.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9F6266-78C1-454D-BA66-DC9FC97DF5C9}" type="datetimeFigureOut">
              <a:rPr lang="en-US" smtClean="0"/>
              <a:t>9/16/2025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51FE0D-9A63-4BEF-9A5E-F585AEDC5F2D}" type="slidenum">
              <a:rPr lang="en-US" smtClean="0"/>
              <a:t>‹#›</a:t>
            </a:fld>
            <a:endParaRPr lang="en-US"/>
          </a:p>
        </p:txBody>
      </p:sp>
    </p:spTree>
    <p:extLst>
      <p:ext uri="{BB962C8B-B14F-4D97-AF65-F5344CB8AC3E}">
        <p14:creationId xmlns:p14="http://schemas.microsoft.com/office/powerpoint/2010/main" val="3733066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sendbird.com/blog/what-is-agentic-ai" TargetMode="External"/><Relationship Id="rId3" Type="http://schemas.openxmlformats.org/officeDocument/2006/relationships/hyperlink" Target="https://sendbird.com/" TargetMode="External"/><Relationship Id="rId7" Type="http://schemas.openxmlformats.org/officeDocument/2006/relationships/hyperlink" Target="https://sendbird.com/blog/what-is-natural-language-processing" TargetMode="External"/><Relationship Id="rId2" Type="http://schemas.openxmlformats.org/officeDocument/2006/relationships/slide" Target="../slides/slide32.xml"/><Relationship Id="rId1" Type="http://schemas.openxmlformats.org/officeDocument/2006/relationships/notesMaster" Target="../notesMasters/notesMaster1.xml"/><Relationship Id="rId6" Type="http://schemas.openxmlformats.org/officeDocument/2006/relationships/hyperlink" Target="https://sendbird.com/blog/ai-machine-learning" TargetMode="External"/><Relationship Id="rId5" Type="http://schemas.openxmlformats.org/officeDocument/2006/relationships/hyperlink" Target="https://sendbird.com/ai-agent" TargetMode="External"/><Relationship Id="rId4" Type="http://schemas.openxmlformats.org/officeDocument/2006/relationships/hyperlink" Target="https://sendbird.com/blog/ai-use-cases-ecommerce" TargetMode="Externa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ai.pydantic.dev/agents/" TargetMode="External"/><Relationship Id="rId3" Type="http://schemas.openxmlformats.org/officeDocument/2006/relationships/hyperlink" Target="https://www.langchain.com/" TargetMode="External"/><Relationship Id="rId7" Type="http://schemas.openxmlformats.org/officeDocument/2006/relationships/hyperlink" Target="https://tools.thetoolnerd.com/tool/phidata" TargetMode="External"/><Relationship Id="rId12" Type="http://schemas.openxmlformats.org/officeDocument/2006/relationships/hyperlink" Target="https://github.com/openai/swarm" TargetMode="External"/><Relationship Id="rId2" Type="http://schemas.openxmlformats.org/officeDocument/2006/relationships/slide" Target="../slides/slide37.xml"/><Relationship Id="rId1" Type="http://schemas.openxmlformats.org/officeDocument/2006/relationships/notesMaster" Target="../notesMasters/notesMaster1.xml"/><Relationship Id="rId6" Type="http://schemas.openxmlformats.org/officeDocument/2006/relationships/hyperlink" Target="https://tools.thetoolnerd.com/tool/crewai" TargetMode="External"/><Relationship Id="rId11" Type="http://schemas.openxmlformats.org/officeDocument/2006/relationships/hyperlink" Target="https://platform.openai.com/docs/assistants/overview/agents" TargetMode="External"/><Relationship Id="rId5" Type="http://schemas.openxmlformats.org/officeDocument/2006/relationships/hyperlink" Target="https://autogen-studio.com/?ref=thetoolnerd&amp;utm_source=thetoolnerd&amp;utm_medium=referral" TargetMode="External"/><Relationship Id="rId10" Type="http://schemas.openxmlformats.org/officeDocument/2006/relationships/hyperlink" Target="https://vrsen.github.io/agency-swarm/" TargetMode="External"/><Relationship Id="rId4" Type="http://schemas.openxmlformats.org/officeDocument/2006/relationships/hyperlink" Target="https://tools.thetoolnerd.com/tool/llamaindex" TargetMode="External"/><Relationship Id="rId9" Type="http://schemas.openxmlformats.org/officeDocument/2006/relationships/hyperlink" Target="https://www.camel-ai.org/"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Students will demonstrate an understanding of the fundamental concepts of intelligent agents, including their characteristics and various types such as simple reflex agents, model-based reflex agents, goal-based agents, and utility-based agents. They will be able to distinguish between different types of intelligent agents and identify examples of intelligent agents in everyday life.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Students will be able to categorize and analyze environments in the context of AI, including fully observable, partially observable, deterministic, stochastic, episodic, and sequential environments. They will understand the implications of different environment types on the design and performance of intelligent agents, and apply this knowledge to classify given environments based on their characteristics.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Students will comprehend the concept of percepts and actions in intelligent agents, and how agents adapt to their environments through learning and decision-making. They will analyze case studies illustrating how intelligent agents modify their behavior in response to changing environments. Through group discussions, students will recognize the significance of adaptability in intelligent agents and its relevance to real-world applications.</a:t>
            </a:r>
            <a:endParaRPr lang="en-US" dirty="0"/>
          </a:p>
        </p:txBody>
      </p:sp>
      <p:sp>
        <p:nvSpPr>
          <p:cNvPr id="4" name="Slide Number Placeholder 3"/>
          <p:cNvSpPr>
            <a:spLocks noGrp="1"/>
          </p:cNvSpPr>
          <p:nvPr>
            <p:ph type="sldNum" sz="quarter" idx="10"/>
          </p:nvPr>
        </p:nvSpPr>
        <p:spPr/>
        <p:txBody>
          <a:bodyPr/>
          <a:lstStyle/>
          <a:p>
            <a:fld id="{F551FE0D-9A63-4BEF-9A5E-F585AEDC5F2D}" type="slidenum">
              <a:rPr lang="en-US" smtClean="0"/>
              <a:t>3</a:t>
            </a:fld>
            <a:endParaRPr lang="en-US"/>
          </a:p>
        </p:txBody>
      </p:sp>
    </p:spTree>
    <p:extLst>
      <p:ext uri="{BB962C8B-B14F-4D97-AF65-F5344CB8AC3E}">
        <p14:creationId xmlns:p14="http://schemas.microsoft.com/office/powerpoint/2010/main" val="423793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FE17FA-238F-4DC8-8DE8-EDACC1DB975E}" type="slidenum">
              <a:rPr lang="en-US" altLang="en-US"/>
              <a:pPr/>
              <a:t>16</a:t>
            </a:fld>
            <a:endParaRPr lang="en-US" altLang="en-US"/>
          </a:p>
        </p:txBody>
      </p:sp>
      <p:sp>
        <p:nvSpPr>
          <p:cNvPr id="43010" name="Rectangle 2"/>
          <p:cNvSpPr>
            <a:spLocks noGrp="1" noRot="1" noChangeAspect="1" noChangeArrowheads="1" noTextEdit="1"/>
          </p:cNvSpPr>
          <p:nvPr>
            <p:ph type="sldImg"/>
          </p:nvPr>
        </p:nvSpPr>
        <p:spPr bwMode="auto">
          <a:xfrm>
            <a:off x="393700" y="692150"/>
            <a:ext cx="6070600"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3011" name="Rectangle 3"/>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en-US" altLang="en-US"/>
          </a:p>
        </p:txBody>
      </p:sp>
    </p:spTree>
    <p:extLst>
      <p:ext uri="{BB962C8B-B14F-4D97-AF65-F5344CB8AC3E}">
        <p14:creationId xmlns:p14="http://schemas.microsoft.com/office/powerpoint/2010/main" val="2859222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E1CF1C-C22A-4F98-B618-7CE92FEDF381}" type="slidenum">
              <a:rPr lang="en-US" altLang="en-US"/>
              <a:pPr/>
              <a:t>17</a:t>
            </a:fld>
            <a:endParaRPr lang="en-US" altLang="en-US"/>
          </a:p>
        </p:txBody>
      </p:sp>
      <p:sp>
        <p:nvSpPr>
          <p:cNvPr id="45058" name="Rectangle 2"/>
          <p:cNvSpPr>
            <a:spLocks noGrp="1" noRot="1" noChangeAspect="1" noChangeArrowheads="1" noTextEdit="1"/>
          </p:cNvSpPr>
          <p:nvPr>
            <p:ph type="sldImg"/>
          </p:nvPr>
        </p:nvSpPr>
        <p:spPr bwMode="auto">
          <a:xfrm>
            <a:off x="393700" y="692150"/>
            <a:ext cx="6070600"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5059" name="Rectangle 3"/>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endParaRPr lang="en-US" altLang="en-US"/>
          </a:p>
        </p:txBody>
      </p:sp>
    </p:spTree>
    <p:extLst>
      <p:ext uri="{BB962C8B-B14F-4D97-AF65-F5344CB8AC3E}">
        <p14:creationId xmlns:p14="http://schemas.microsoft.com/office/powerpoint/2010/main" val="4068709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designing an agent, the first step must always be to specify the task environment as fully as possible.</a:t>
            </a:r>
          </a:p>
          <a:p>
            <a:r>
              <a:rPr lang="en-US" dirty="0"/>
              <a:t>The Task environment is a combination of 4 things : PEAS</a:t>
            </a:r>
          </a:p>
        </p:txBody>
      </p:sp>
      <p:sp>
        <p:nvSpPr>
          <p:cNvPr id="4" name="Slide Number Placeholder 3"/>
          <p:cNvSpPr>
            <a:spLocks noGrp="1"/>
          </p:cNvSpPr>
          <p:nvPr>
            <p:ph type="sldNum" sz="quarter" idx="10"/>
          </p:nvPr>
        </p:nvSpPr>
        <p:spPr/>
        <p:txBody>
          <a:bodyPr/>
          <a:lstStyle/>
          <a:p>
            <a:fld id="{F551FE0D-9A63-4BEF-9A5E-F585AEDC5F2D}" type="slidenum">
              <a:rPr lang="en-US" smtClean="0"/>
              <a:t>21</a:t>
            </a:fld>
            <a:endParaRPr lang="en-US"/>
          </a:p>
        </p:txBody>
      </p:sp>
    </p:spTree>
    <p:extLst>
      <p:ext uri="{BB962C8B-B14F-4D97-AF65-F5344CB8AC3E}">
        <p14:creationId xmlns:p14="http://schemas.microsoft.com/office/powerpoint/2010/main" val="273931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D0D0D"/>
                </a:solidFill>
                <a:effectLst/>
                <a:latin typeface="Gellix"/>
              </a:rPr>
              <a:t>Step 1: Define the agent’s purpose and environment</a:t>
            </a:r>
          </a:p>
          <a:p>
            <a:pPr algn="l"/>
            <a:r>
              <a:rPr lang="en-US" b="0" i="0" dirty="0">
                <a:solidFill>
                  <a:srgbClr val="424242"/>
                </a:solidFill>
                <a:effectLst/>
                <a:latin typeface="Helvetica Now Text"/>
              </a:rPr>
              <a:t>The first step is to decide what you want your AI agent to do. </a:t>
            </a:r>
            <a:r>
              <a:rPr lang="en-US" b="0" i="0" dirty="0">
                <a:solidFill>
                  <a:srgbClr val="424242"/>
                </a:solidFill>
                <a:effectLst/>
                <a:latin typeface="system-ui"/>
              </a:rPr>
              <a:t>For example, an </a:t>
            </a:r>
            <a:r>
              <a:rPr lang="en-US" b="0" i="0" u="sng" dirty="0">
                <a:solidFill>
                  <a:srgbClr val="6210CC"/>
                </a:solidFill>
                <a:effectLst/>
                <a:latin typeface="system-ui"/>
                <a:hlinkClick r:id="rId3"/>
              </a:rPr>
              <a:t>AI for a customer service </a:t>
            </a:r>
            <a:r>
              <a:rPr lang="en-US" b="0" i="0" dirty="0">
                <a:solidFill>
                  <a:srgbClr val="424242"/>
                </a:solidFill>
                <a:effectLst/>
                <a:latin typeface="system-ui"/>
              </a:rPr>
              <a:t>agent could handle customer inquiries and troubleshoot issues, while an </a:t>
            </a:r>
            <a:r>
              <a:rPr lang="en-US" b="0" i="0" u="sng" dirty="0">
                <a:solidFill>
                  <a:srgbClr val="6210CC"/>
                </a:solidFill>
                <a:effectLst/>
                <a:latin typeface="system-ui"/>
                <a:hlinkClick r:id="rId4"/>
              </a:rPr>
              <a:t>ecommerce AI agent</a:t>
            </a:r>
            <a:r>
              <a:rPr lang="en-US" b="0" i="0" dirty="0">
                <a:solidFill>
                  <a:srgbClr val="424242"/>
                </a:solidFill>
                <a:effectLst/>
                <a:latin typeface="system-ui"/>
              </a:rPr>
              <a:t> could make personalized product recommendations.</a:t>
            </a:r>
            <a:endParaRPr lang="en-US" b="0" i="0" dirty="0">
              <a:solidFill>
                <a:srgbClr val="424242"/>
              </a:solidFill>
              <a:effectLst/>
              <a:latin typeface="Helvetica Now Text"/>
            </a:endParaRPr>
          </a:p>
          <a:p>
            <a:pPr algn="l"/>
            <a:r>
              <a:rPr lang="en-US" b="0" i="0" dirty="0">
                <a:solidFill>
                  <a:srgbClr val="424242"/>
                </a:solidFill>
                <a:effectLst/>
                <a:latin typeface="Helvetica Now Text"/>
              </a:rPr>
              <a:t>After you’ve determined the agent’s tasks and functions, you can identify the environment it will operate within. The environment is made up of all the software systems, databases, context, and spaces the agent has been programmed to perceive and interact with in pursuit of a defined objective.</a:t>
            </a:r>
          </a:p>
          <a:p>
            <a:pPr algn="l"/>
            <a:r>
              <a:rPr lang="en-US" b="0" i="0" dirty="0">
                <a:solidFill>
                  <a:srgbClr val="424242"/>
                </a:solidFill>
                <a:effectLst/>
                <a:latin typeface="Helvetica Now Text"/>
              </a:rPr>
              <a:t>Once integrated with these various systems and components, the AI agent can use any of the available tools and knowledge sources at its disposal to autonomously achieve its objective.</a:t>
            </a:r>
          </a:p>
          <a:p>
            <a:pPr algn="l"/>
            <a:r>
              <a:rPr lang="en-US" b="0" i="0" dirty="0">
                <a:solidFill>
                  <a:srgbClr val="0D0D0D"/>
                </a:solidFill>
                <a:effectLst/>
                <a:latin typeface="Gellix"/>
              </a:rPr>
              <a:t>Step 2: Assemble a development team</a:t>
            </a:r>
          </a:p>
          <a:p>
            <a:pPr algn="l"/>
            <a:r>
              <a:rPr lang="en-US" b="0" i="0" dirty="0">
                <a:solidFill>
                  <a:srgbClr val="424242"/>
                </a:solidFill>
                <a:effectLst/>
                <a:latin typeface="Helvetica Now Text"/>
              </a:rPr>
              <a:t>Even though </a:t>
            </a:r>
            <a:r>
              <a:rPr lang="en-US" b="0" i="0" u="sng" dirty="0">
                <a:solidFill>
                  <a:srgbClr val="6210CC"/>
                </a:solidFill>
                <a:effectLst/>
                <a:latin typeface="Helvetica Now Text"/>
                <a:hlinkClick r:id="rId5"/>
              </a:rPr>
              <a:t>AI agents</a:t>
            </a:r>
            <a:r>
              <a:rPr lang="en-US" b="0" i="0" dirty="0">
                <a:solidFill>
                  <a:srgbClr val="424242"/>
                </a:solidFill>
                <a:effectLst/>
                <a:latin typeface="Helvetica Now Text"/>
              </a:rPr>
              <a:t> are autonomous in their decision-making, they still require humans to define their goals and environment, as well as train, deploy, and maintain them. You’ll want to enlist the help of an expert team that’s responsible for managing your AI agent project at every stage.</a:t>
            </a:r>
          </a:p>
          <a:p>
            <a:pPr algn="l"/>
            <a:r>
              <a:rPr lang="en-US" b="0" i="0" dirty="0">
                <a:solidFill>
                  <a:srgbClr val="424242"/>
                </a:solidFill>
                <a:effectLst/>
                <a:latin typeface="Helvetica Now Text"/>
              </a:rPr>
              <a:t>Here’s a list of roles you’ll likely need on your team:</a:t>
            </a:r>
            <a:br>
              <a:rPr lang="en-US" b="0" i="0" dirty="0">
                <a:solidFill>
                  <a:srgbClr val="424242"/>
                </a:solidFill>
                <a:effectLst/>
                <a:latin typeface="Helvetica Now Text"/>
              </a:rPr>
            </a:br>
            <a:endParaRPr lang="en-US" b="0" i="0" dirty="0">
              <a:solidFill>
                <a:srgbClr val="424242"/>
              </a:solidFill>
              <a:effectLst/>
              <a:latin typeface="Helvetica Now Text"/>
            </a:endParaRPr>
          </a:p>
          <a:p>
            <a:pPr algn="l">
              <a:buFont typeface="Arial" panose="020B0604020202020204" pitchFamily="34" charset="0"/>
              <a:buChar char="•"/>
            </a:pPr>
            <a:r>
              <a:rPr lang="en-US" b="0" i="0" u="sng" dirty="0">
                <a:solidFill>
                  <a:srgbClr val="6210CC"/>
                </a:solidFill>
                <a:effectLst/>
                <a:latin typeface="Helvetica Now Text"/>
                <a:hlinkClick r:id="rId6"/>
              </a:rPr>
              <a:t>Machine learning</a:t>
            </a:r>
            <a:r>
              <a:rPr lang="en-US" b="0" i="0" dirty="0">
                <a:solidFill>
                  <a:srgbClr val="424242"/>
                </a:solidFill>
                <a:effectLst/>
                <a:latin typeface="Helvetica Now Text"/>
              </a:rPr>
              <a:t> engineer</a:t>
            </a:r>
          </a:p>
          <a:p>
            <a:pPr algn="l">
              <a:buFont typeface="Arial" panose="020B0604020202020204" pitchFamily="34" charset="0"/>
              <a:buChar char="•"/>
            </a:pPr>
            <a:r>
              <a:rPr lang="en-US" b="0" i="0" dirty="0">
                <a:solidFill>
                  <a:srgbClr val="424242"/>
                </a:solidFill>
                <a:effectLst/>
                <a:latin typeface="Helvetica Now Text"/>
              </a:rPr>
              <a:t>Data scientist</a:t>
            </a:r>
          </a:p>
          <a:p>
            <a:pPr algn="l">
              <a:buFont typeface="Arial" panose="020B0604020202020204" pitchFamily="34" charset="0"/>
              <a:buChar char="•"/>
            </a:pPr>
            <a:r>
              <a:rPr lang="en-US" b="0" i="0" dirty="0">
                <a:solidFill>
                  <a:srgbClr val="424242"/>
                </a:solidFill>
                <a:effectLst/>
                <a:latin typeface="Helvetica Now Text"/>
              </a:rPr>
              <a:t>Software engineer</a:t>
            </a:r>
          </a:p>
          <a:p>
            <a:pPr algn="l">
              <a:buFont typeface="Arial" panose="020B0604020202020204" pitchFamily="34" charset="0"/>
              <a:buChar char="•"/>
            </a:pPr>
            <a:r>
              <a:rPr lang="en-US" b="0" i="0" dirty="0">
                <a:solidFill>
                  <a:srgbClr val="424242"/>
                </a:solidFill>
                <a:effectLst/>
                <a:latin typeface="Helvetica Now Text"/>
              </a:rPr>
              <a:t>UI/UX engineer</a:t>
            </a:r>
          </a:p>
          <a:p>
            <a:pPr algn="l">
              <a:buFont typeface="Arial" panose="020B0604020202020204" pitchFamily="34" charset="0"/>
              <a:buChar char="•"/>
            </a:pPr>
            <a:r>
              <a:rPr lang="en-US" b="0" i="0" dirty="0">
                <a:solidFill>
                  <a:srgbClr val="424242"/>
                </a:solidFill>
                <a:effectLst/>
                <a:latin typeface="Helvetica Now Text"/>
              </a:rPr>
              <a:t>DevOps engineer</a:t>
            </a:r>
          </a:p>
          <a:p>
            <a:pPr algn="l"/>
            <a:r>
              <a:rPr lang="en-US" b="0" i="0" dirty="0">
                <a:solidFill>
                  <a:srgbClr val="0D0D0D"/>
                </a:solidFill>
                <a:effectLst/>
                <a:latin typeface="Gellix"/>
              </a:rPr>
              <a:t>Step 3: Gather and preprocess training data</a:t>
            </a:r>
          </a:p>
          <a:p>
            <a:pPr algn="l"/>
            <a:r>
              <a:rPr lang="en-US" b="0" i="0" dirty="0">
                <a:solidFill>
                  <a:srgbClr val="424242"/>
                </a:solidFill>
                <a:effectLst/>
                <a:latin typeface="Helvetica Now Text"/>
              </a:rPr>
              <a:t>AI agents must be trained on large quantities of high-quality data to accurately understand and process user inputs. If the data is inaccurate or low quality, the agent will learn the wrong things and perform poorly. Basically, the agent’s decision-making depends on the quality of its training data.</a:t>
            </a:r>
          </a:p>
          <a:p>
            <a:pPr algn="l"/>
            <a:r>
              <a:rPr lang="en-US" b="0" i="0" dirty="0">
                <a:solidFill>
                  <a:srgbClr val="424242"/>
                </a:solidFill>
                <a:effectLst/>
                <a:latin typeface="Helvetica Now Text"/>
              </a:rPr>
              <a:t>The key is to gather any and all data that’s accurate and relevant to the agent’s specific use case(s). This data can come from several sources:</a:t>
            </a:r>
            <a:br>
              <a:rPr lang="en-US" b="0" i="0" dirty="0">
                <a:solidFill>
                  <a:srgbClr val="424242"/>
                </a:solidFill>
                <a:effectLst/>
                <a:latin typeface="Helvetica Now Text"/>
              </a:rPr>
            </a:br>
            <a:endParaRPr lang="en-US" b="0" i="0" dirty="0">
              <a:solidFill>
                <a:srgbClr val="424242"/>
              </a:solidFill>
              <a:effectLst/>
              <a:latin typeface="Helvetica Now Text"/>
            </a:endParaRPr>
          </a:p>
          <a:p>
            <a:pPr algn="l">
              <a:buFont typeface="Arial" panose="020B0604020202020204" pitchFamily="34" charset="0"/>
              <a:buChar char="•"/>
            </a:pPr>
            <a:r>
              <a:rPr lang="en-US" b="0" i="0" dirty="0">
                <a:solidFill>
                  <a:srgbClr val="000000"/>
                </a:solidFill>
                <a:effectLst/>
                <a:latin typeface="Helvetica Now Text Medium"/>
              </a:rPr>
              <a:t>Internal business data: </a:t>
            </a:r>
            <a:r>
              <a:rPr lang="en-US" b="0" i="0" dirty="0">
                <a:solidFill>
                  <a:srgbClr val="424242"/>
                </a:solidFill>
                <a:effectLst/>
                <a:latin typeface="Helvetica Now Text"/>
              </a:rPr>
              <a:t>This can include sales records, financial reports, product documentation, and customer information, such as text transcripts of chat logs or support tickets.</a:t>
            </a:r>
          </a:p>
          <a:p>
            <a:pPr algn="l">
              <a:buFont typeface="Arial" panose="020B0604020202020204" pitchFamily="34" charset="0"/>
              <a:buChar char="•"/>
            </a:pPr>
            <a:r>
              <a:rPr lang="en-US" b="0" i="0" dirty="0">
                <a:solidFill>
                  <a:srgbClr val="000000"/>
                </a:solidFill>
                <a:effectLst/>
                <a:latin typeface="Helvetica Now Text Medium"/>
              </a:rPr>
              <a:t>External data: </a:t>
            </a:r>
            <a:r>
              <a:rPr lang="en-US" b="0" i="0" dirty="0">
                <a:solidFill>
                  <a:srgbClr val="424242"/>
                </a:solidFill>
                <a:effectLst/>
                <a:latin typeface="Helvetica Now Text"/>
              </a:rPr>
              <a:t>This is data that you can obtain by purchasing datasets, partnering with data providers, or using publicly available data.</a:t>
            </a:r>
          </a:p>
          <a:p>
            <a:pPr algn="l">
              <a:buFont typeface="Arial" panose="020B0604020202020204" pitchFamily="34" charset="0"/>
              <a:buChar char="•"/>
            </a:pPr>
            <a:r>
              <a:rPr lang="en-US" b="0" i="0" dirty="0">
                <a:solidFill>
                  <a:srgbClr val="000000"/>
                </a:solidFill>
                <a:effectLst/>
                <a:latin typeface="Helvetica Now Text Medium"/>
              </a:rPr>
              <a:t>User-generated data: </a:t>
            </a:r>
            <a:r>
              <a:rPr lang="en-US" b="0" i="0" dirty="0">
                <a:solidFill>
                  <a:srgbClr val="424242"/>
                </a:solidFill>
                <a:effectLst/>
                <a:latin typeface="Helvetica Now Text"/>
              </a:rPr>
              <a:t>This includes social media posts, product reviews, website interactions, and other data directly from customers or users.</a:t>
            </a:r>
          </a:p>
          <a:p>
            <a:pPr algn="l"/>
            <a:r>
              <a:rPr lang="en-US" b="0" i="0" dirty="0">
                <a:solidFill>
                  <a:srgbClr val="424242"/>
                </a:solidFill>
                <a:effectLst/>
                <a:latin typeface="Helvetica Now Text"/>
              </a:rPr>
              <a:t>After collecting your data, it will need to be cleaned and prepared before it’s used for training. This involves removing any irrelevant, incomplete, or incorrect data to ensure accuracy and consistency across the dataset.</a:t>
            </a:r>
          </a:p>
          <a:p>
            <a:pPr algn="l"/>
            <a:r>
              <a:rPr lang="en-US" b="0" i="0" dirty="0">
                <a:solidFill>
                  <a:srgbClr val="424242"/>
                </a:solidFill>
                <a:effectLst/>
                <a:latin typeface="Helvetica Now Text"/>
              </a:rPr>
              <a:t>For example, cleaning data can include tasks like:</a:t>
            </a:r>
            <a:br>
              <a:rPr lang="en-US" b="0" i="0" dirty="0">
                <a:solidFill>
                  <a:srgbClr val="424242"/>
                </a:solidFill>
                <a:effectLst/>
                <a:latin typeface="Helvetica Now Text"/>
              </a:rPr>
            </a:br>
            <a:endParaRPr lang="en-US" b="0" i="0" dirty="0">
              <a:solidFill>
                <a:srgbClr val="424242"/>
              </a:solidFill>
              <a:effectLst/>
              <a:latin typeface="Helvetica Now Text"/>
            </a:endParaRPr>
          </a:p>
          <a:p>
            <a:pPr algn="l">
              <a:buFont typeface="Arial" panose="020B0604020202020204" pitchFamily="34" charset="0"/>
              <a:buChar char="•"/>
            </a:pPr>
            <a:r>
              <a:rPr lang="en-US" b="0" i="0" dirty="0">
                <a:solidFill>
                  <a:srgbClr val="424242"/>
                </a:solidFill>
                <a:effectLst/>
                <a:latin typeface="Helvetica Now Text"/>
              </a:rPr>
              <a:t>Dealing with missing values</a:t>
            </a:r>
          </a:p>
          <a:p>
            <a:pPr algn="l">
              <a:buFont typeface="Arial" panose="020B0604020202020204" pitchFamily="34" charset="0"/>
              <a:buChar char="•"/>
            </a:pPr>
            <a:r>
              <a:rPr lang="en-US" b="0" i="0" dirty="0">
                <a:solidFill>
                  <a:srgbClr val="424242"/>
                </a:solidFill>
                <a:effectLst/>
                <a:latin typeface="Helvetica Now Text"/>
              </a:rPr>
              <a:t>Detecting outliers</a:t>
            </a:r>
          </a:p>
          <a:p>
            <a:pPr algn="l">
              <a:buFont typeface="Arial" panose="020B0604020202020204" pitchFamily="34" charset="0"/>
              <a:buChar char="•"/>
            </a:pPr>
            <a:r>
              <a:rPr lang="en-US" b="0" i="0" dirty="0">
                <a:solidFill>
                  <a:srgbClr val="424242"/>
                </a:solidFill>
                <a:effectLst/>
                <a:latin typeface="Helvetica Now Text"/>
              </a:rPr>
              <a:t>Fixing typos in text transcripts</a:t>
            </a:r>
          </a:p>
          <a:p>
            <a:pPr algn="l">
              <a:buFont typeface="Arial" panose="020B0604020202020204" pitchFamily="34" charset="0"/>
              <a:buChar char="•"/>
            </a:pPr>
            <a:r>
              <a:rPr lang="en-US" b="0" i="0" dirty="0">
                <a:solidFill>
                  <a:srgbClr val="424242"/>
                </a:solidFill>
                <a:effectLst/>
                <a:latin typeface="Helvetica Now Text"/>
              </a:rPr>
              <a:t>Labeling data with tags or metadata so the AI understands its context and purpose</a:t>
            </a:r>
          </a:p>
          <a:p>
            <a:pPr algn="l"/>
            <a:r>
              <a:rPr lang="en-US" b="0" i="0" dirty="0">
                <a:solidFill>
                  <a:srgbClr val="0D0D0D"/>
                </a:solidFill>
                <a:effectLst/>
                <a:latin typeface="Gellix"/>
              </a:rPr>
              <a:t>Step 4: Choose your tech stack</a:t>
            </a:r>
          </a:p>
          <a:p>
            <a:pPr algn="l"/>
            <a:r>
              <a:rPr lang="en-US" b="0" i="0" dirty="0">
                <a:solidFill>
                  <a:srgbClr val="424242"/>
                </a:solidFill>
                <a:effectLst/>
                <a:latin typeface="Helvetica Now Text"/>
              </a:rPr>
              <a:t>Every AI agent is unique, so there’s no one-size-fits-all tech stack. Depending on the agent’s use case and operating environment, you’ll select from various AI components that can include:</a:t>
            </a:r>
            <a:br>
              <a:rPr lang="en-US" b="0" i="0" dirty="0">
                <a:solidFill>
                  <a:srgbClr val="424242"/>
                </a:solidFill>
                <a:effectLst/>
                <a:latin typeface="Helvetica Now Text"/>
              </a:rPr>
            </a:br>
            <a:endParaRPr lang="en-US" b="0" i="0" dirty="0">
              <a:solidFill>
                <a:srgbClr val="424242"/>
              </a:solidFill>
              <a:effectLst/>
              <a:latin typeface="Helvetica Now Text"/>
            </a:endParaRPr>
          </a:p>
          <a:p>
            <a:pPr algn="l">
              <a:buFont typeface="Arial" panose="020B0604020202020204" pitchFamily="34" charset="0"/>
              <a:buChar char="•"/>
            </a:pPr>
            <a:r>
              <a:rPr lang="en-US" b="0" i="0" dirty="0">
                <a:solidFill>
                  <a:srgbClr val="000000"/>
                </a:solidFill>
                <a:effectLst/>
                <a:latin typeface="Helvetica Now Text Medium"/>
              </a:rPr>
              <a:t>Machine learning model: </a:t>
            </a:r>
            <a:r>
              <a:rPr lang="en-US" b="0" i="0" dirty="0">
                <a:solidFill>
                  <a:srgbClr val="424242"/>
                </a:solidFill>
                <a:effectLst/>
                <a:latin typeface="Helvetica Now Text"/>
              </a:rPr>
              <a:t>The core component of an AI agent. </a:t>
            </a:r>
            <a:r>
              <a:rPr lang="en-US" b="0" i="0" u="sng" dirty="0">
                <a:solidFill>
                  <a:srgbClr val="6210CC"/>
                </a:solidFill>
                <a:effectLst/>
                <a:latin typeface="Helvetica Now Text"/>
                <a:hlinkClick r:id="rId6"/>
              </a:rPr>
              <a:t>Machine learning</a:t>
            </a:r>
            <a:r>
              <a:rPr lang="en-US" b="0" i="0" dirty="0">
                <a:solidFill>
                  <a:srgbClr val="424242"/>
                </a:solidFill>
                <a:effectLst/>
                <a:latin typeface="Helvetica Now Text"/>
              </a:rPr>
              <a:t> determines the extent to which it can learn from data and interactions and perform tasks.</a:t>
            </a:r>
          </a:p>
          <a:p>
            <a:pPr algn="l">
              <a:buFont typeface="Arial" panose="020B0604020202020204" pitchFamily="34" charset="0"/>
              <a:buChar char="•"/>
            </a:pPr>
            <a:r>
              <a:rPr lang="en-US" b="0" i="0" u="sng" dirty="0">
                <a:solidFill>
                  <a:srgbClr val="6210CC"/>
                </a:solidFill>
                <a:effectLst/>
                <a:latin typeface="Helvetica Now Text Medium"/>
                <a:hlinkClick r:id="rId7"/>
              </a:rPr>
              <a:t>Natural language processing</a:t>
            </a:r>
            <a:r>
              <a:rPr lang="en-US" b="0" i="0" dirty="0">
                <a:solidFill>
                  <a:srgbClr val="000000"/>
                </a:solidFill>
                <a:effectLst/>
                <a:latin typeface="Helvetica Now Text Medium"/>
              </a:rPr>
              <a:t>: </a:t>
            </a:r>
            <a:r>
              <a:rPr lang="en-US" b="0" i="0" dirty="0">
                <a:solidFill>
                  <a:srgbClr val="424242"/>
                </a:solidFill>
                <a:effectLst/>
                <a:latin typeface="Helvetica Now Text"/>
              </a:rPr>
              <a:t>Enables the agent to understand and respond using human language.</a:t>
            </a:r>
          </a:p>
          <a:p>
            <a:pPr algn="l">
              <a:buFont typeface="Arial" panose="020B0604020202020204" pitchFamily="34" charset="0"/>
              <a:buChar char="•"/>
            </a:pPr>
            <a:r>
              <a:rPr lang="en-US" b="0" i="0" dirty="0">
                <a:solidFill>
                  <a:srgbClr val="000000"/>
                </a:solidFill>
                <a:effectLst/>
                <a:latin typeface="Helvetica Now Text Medium"/>
              </a:rPr>
              <a:t>Computer vision: </a:t>
            </a:r>
            <a:r>
              <a:rPr lang="en-US" b="0" i="0" dirty="0">
                <a:solidFill>
                  <a:srgbClr val="424242"/>
                </a:solidFill>
                <a:effectLst/>
                <a:latin typeface="Helvetica Now Text"/>
              </a:rPr>
              <a:t>Enables the AI agent to perceive and understand the world in a visual way, such as identifying and locating objects or tracking motion.</a:t>
            </a:r>
          </a:p>
          <a:p>
            <a:pPr algn="l">
              <a:buFont typeface="Arial" panose="020B0604020202020204" pitchFamily="34" charset="0"/>
              <a:buChar char="•"/>
            </a:pPr>
            <a:r>
              <a:rPr lang="en-US" b="0" i="0" dirty="0">
                <a:solidFill>
                  <a:srgbClr val="000000"/>
                </a:solidFill>
                <a:effectLst/>
                <a:latin typeface="Helvetica Now Text Medium"/>
              </a:rPr>
              <a:t>Robotic process automation: </a:t>
            </a:r>
            <a:r>
              <a:rPr lang="en-US" b="0" i="0" dirty="0">
                <a:solidFill>
                  <a:srgbClr val="424242"/>
                </a:solidFill>
                <a:effectLst/>
                <a:latin typeface="Helvetica Now Text"/>
              </a:rPr>
              <a:t>This component lets the agent automate repetitive processes in a digital or physical environment.</a:t>
            </a:r>
          </a:p>
          <a:p>
            <a:pPr algn="l"/>
            <a:r>
              <a:rPr lang="en-US" b="0" i="0" dirty="0">
                <a:solidFill>
                  <a:srgbClr val="000000"/>
                </a:solidFill>
                <a:effectLst/>
                <a:latin typeface="Helvetica Now Text Medium"/>
              </a:rPr>
              <a:t>AI agent architecture</a:t>
            </a:r>
            <a:endParaRPr lang="en-US" b="0" i="0" dirty="0">
              <a:solidFill>
                <a:srgbClr val="424242"/>
              </a:solidFill>
              <a:effectLst/>
              <a:latin typeface="Helvetica Now Text"/>
            </a:endParaRPr>
          </a:p>
          <a:p>
            <a:pPr algn="l"/>
            <a:r>
              <a:rPr lang="en-US" b="0" i="0" u="sng" dirty="0">
                <a:solidFill>
                  <a:srgbClr val="6210CC"/>
                </a:solidFill>
                <a:effectLst/>
                <a:latin typeface="Helvetica Now Text"/>
                <a:hlinkClick r:id="rId8"/>
              </a:rPr>
              <a:t>Agentic AI systems</a:t>
            </a:r>
            <a:r>
              <a:rPr lang="en-US" b="0" i="0" dirty="0">
                <a:solidFill>
                  <a:srgbClr val="424242"/>
                </a:solidFill>
                <a:effectLst/>
                <a:latin typeface="Helvetica Now Text"/>
              </a:rPr>
              <a:t> are made up of multiple interconnected components that work together to enable the autonomous decision-making processes of AI agents. This modular architecture allows for separate specialized components to be created, combined, and adapted to different tasks that function together.</a:t>
            </a:r>
          </a:p>
          <a:p>
            <a:pPr algn="l"/>
            <a:r>
              <a:rPr lang="en-US" b="0" i="0" dirty="0">
                <a:solidFill>
                  <a:srgbClr val="424242"/>
                </a:solidFill>
                <a:effectLst/>
                <a:latin typeface="Helvetica Now Text"/>
              </a:rPr>
              <a:t>The key components of AI agent architecture include:</a:t>
            </a:r>
          </a:p>
          <a:p>
            <a:pPr algn="l">
              <a:buFont typeface="Arial" panose="020B0604020202020204" pitchFamily="34" charset="0"/>
              <a:buChar char="•"/>
            </a:pPr>
            <a:r>
              <a:rPr lang="en-US" b="0" i="0" dirty="0">
                <a:solidFill>
                  <a:srgbClr val="000000"/>
                </a:solidFill>
                <a:effectLst/>
                <a:latin typeface="Helvetica Now Text Medium"/>
              </a:rPr>
              <a:t>Profiling module: </a:t>
            </a:r>
            <a:r>
              <a:rPr lang="en-US" b="0" i="0" dirty="0">
                <a:solidFill>
                  <a:srgbClr val="424242"/>
                </a:solidFill>
                <a:effectLst/>
                <a:latin typeface="Helvetica Now Text"/>
              </a:rPr>
              <a:t>This helps define the AI agent’s role and function within a specific context, and influences how the agent stores information and strategizes.</a:t>
            </a:r>
          </a:p>
          <a:p>
            <a:pPr algn="l">
              <a:buFont typeface="Arial" panose="020B0604020202020204" pitchFamily="34" charset="0"/>
              <a:buChar char="•"/>
            </a:pPr>
            <a:r>
              <a:rPr lang="en-US" b="0" i="0" dirty="0">
                <a:solidFill>
                  <a:srgbClr val="000000"/>
                </a:solidFill>
                <a:effectLst/>
                <a:latin typeface="Helvetica Now Text Medium"/>
              </a:rPr>
              <a:t>Memory module: </a:t>
            </a:r>
            <a:r>
              <a:rPr lang="en-US" b="0" i="0" dirty="0">
                <a:solidFill>
                  <a:srgbClr val="424242"/>
                </a:solidFill>
                <a:effectLst/>
                <a:latin typeface="Helvetica Now Text"/>
              </a:rPr>
              <a:t>AI agents can store and recall past interactions using short-term memory for immediate tasks, and long-term memory for storing learned experiences. Memory can be stored in databases, natural language, and other formats.</a:t>
            </a:r>
          </a:p>
          <a:p>
            <a:pPr algn="l">
              <a:buFont typeface="Arial" panose="020B0604020202020204" pitchFamily="34" charset="0"/>
              <a:buChar char="•"/>
            </a:pPr>
            <a:r>
              <a:rPr lang="en-US" b="0" i="0" dirty="0">
                <a:solidFill>
                  <a:srgbClr val="000000"/>
                </a:solidFill>
                <a:effectLst/>
                <a:latin typeface="Helvetica Now Text Medium"/>
              </a:rPr>
              <a:t>Planning module: </a:t>
            </a:r>
            <a:r>
              <a:rPr lang="en-US" b="0" i="0" dirty="0">
                <a:solidFill>
                  <a:srgbClr val="424242"/>
                </a:solidFill>
                <a:effectLst/>
                <a:latin typeface="Helvetica Now Text"/>
              </a:rPr>
              <a:t>This module enables the AI agent to plan actions and tackle complex tasks. The agent can plan using feedback, which adjusts its strategy based on signals from the environment, humans, or its models. It can also plan without feedback, which involves breaking complex tasks into smaller, manageable steps to achieve a goal.</a:t>
            </a:r>
          </a:p>
          <a:p>
            <a:pPr algn="l">
              <a:buFont typeface="Arial" panose="020B0604020202020204" pitchFamily="34" charset="0"/>
              <a:buChar char="•"/>
            </a:pPr>
            <a:r>
              <a:rPr lang="en-US" b="0" i="0" dirty="0">
                <a:solidFill>
                  <a:srgbClr val="000000"/>
                </a:solidFill>
                <a:effectLst/>
                <a:latin typeface="Helvetica Now Text Medium"/>
              </a:rPr>
              <a:t>Action module: </a:t>
            </a:r>
            <a:r>
              <a:rPr lang="en-US" b="0" i="0" dirty="0">
                <a:solidFill>
                  <a:srgbClr val="424242"/>
                </a:solidFill>
                <a:effectLst/>
                <a:latin typeface="Helvetica Now Text"/>
              </a:rPr>
              <a:t>This translates the agent’s decisions into actions. These can be simple action targets like completing tasks, making API calls, or engaging users in conversation, or action strategies that involve memory, multi-round interactions, and adjustments based on feedback.</a:t>
            </a:r>
          </a:p>
          <a:p>
            <a:endParaRPr lang="en-KE" dirty="0"/>
          </a:p>
        </p:txBody>
      </p:sp>
      <p:sp>
        <p:nvSpPr>
          <p:cNvPr id="4" name="Slide Number Placeholder 3"/>
          <p:cNvSpPr>
            <a:spLocks noGrp="1"/>
          </p:cNvSpPr>
          <p:nvPr>
            <p:ph type="sldNum" sz="quarter" idx="5"/>
          </p:nvPr>
        </p:nvSpPr>
        <p:spPr/>
        <p:txBody>
          <a:bodyPr/>
          <a:lstStyle/>
          <a:p>
            <a:fld id="{F551FE0D-9A63-4BEF-9A5E-F585AEDC5F2D}" type="slidenum">
              <a:rPr lang="en-US" smtClean="0"/>
              <a:t>32</a:t>
            </a:fld>
            <a:endParaRPr lang="en-US"/>
          </a:p>
        </p:txBody>
      </p:sp>
    </p:spTree>
    <p:extLst>
      <p:ext uri="{BB962C8B-B14F-4D97-AF65-F5344CB8AC3E}">
        <p14:creationId xmlns:p14="http://schemas.microsoft.com/office/powerpoint/2010/main" val="1345684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363737"/>
                </a:solidFill>
                <a:effectLst/>
                <a:latin typeface="SF Pro Display"/>
              </a:rPr>
              <a:t>Open Source Frameworks</a:t>
            </a:r>
          </a:p>
          <a:p>
            <a:pPr algn="l"/>
            <a:r>
              <a:rPr lang="en-US" b="1" i="0" u="sng" dirty="0" err="1">
                <a:solidFill>
                  <a:srgbClr val="363737"/>
                </a:solidFill>
                <a:effectLst/>
                <a:latin typeface="Spectral"/>
                <a:hlinkClick r:id="rId3"/>
              </a:rPr>
              <a:t>LangChain</a:t>
            </a:r>
            <a:r>
              <a:rPr lang="en-US" b="1" i="0" dirty="0">
                <a:solidFill>
                  <a:srgbClr val="363737"/>
                </a:solidFill>
                <a:effectLst/>
                <a:latin typeface="Spectral"/>
              </a:rPr>
              <a:t> : </a:t>
            </a:r>
            <a:r>
              <a:rPr lang="en-US" b="0" i="0" dirty="0" err="1">
                <a:solidFill>
                  <a:srgbClr val="363737"/>
                </a:solidFill>
                <a:effectLst/>
                <a:latin typeface="Spectral"/>
              </a:rPr>
              <a:t>LangChain</a:t>
            </a:r>
            <a:r>
              <a:rPr lang="en-US" b="0" i="0" dirty="0">
                <a:solidFill>
                  <a:srgbClr val="363737"/>
                </a:solidFill>
                <a:effectLst/>
                <a:latin typeface="Spectral"/>
              </a:rPr>
              <a:t> is a composable framework to build with LLMs.</a:t>
            </a:r>
          </a:p>
          <a:p>
            <a:pPr algn="l"/>
            <a:r>
              <a:rPr lang="en-US" b="1" i="0" u="sng" dirty="0" err="1">
                <a:solidFill>
                  <a:srgbClr val="363737"/>
                </a:solidFill>
                <a:effectLst/>
                <a:latin typeface="Spectral"/>
                <a:hlinkClick r:id="rId4"/>
              </a:rPr>
              <a:t>LlamaIndex</a:t>
            </a:r>
            <a:r>
              <a:rPr lang="en-US" b="1" i="0" dirty="0">
                <a:solidFill>
                  <a:srgbClr val="363737"/>
                </a:solidFill>
                <a:effectLst/>
                <a:latin typeface="Spectral"/>
              </a:rPr>
              <a:t>:</a:t>
            </a:r>
            <a:r>
              <a:rPr lang="en-US" b="0" i="0" dirty="0">
                <a:solidFill>
                  <a:srgbClr val="363737"/>
                </a:solidFill>
                <a:effectLst/>
                <a:latin typeface="Spectral"/>
              </a:rPr>
              <a:t> </a:t>
            </a:r>
            <a:r>
              <a:rPr lang="en-US" b="0" i="0" dirty="0" err="1">
                <a:solidFill>
                  <a:srgbClr val="363737"/>
                </a:solidFill>
                <a:effectLst/>
                <a:latin typeface="Spectral"/>
              </a:rPr>
              <a:t>LlamaIndex</a:t>
            </a:r>
            <a:r>
              <a:rPr lang="en-US" b="0" i="0" dirty="0">
                <a:solidFill>
                  <a:srgbClr val="363737"/>
                </a:solidFill>
                <a:effectLst/>
                <a:latin typeface="Spectral"/>
              </a:rPr>
              <a:t> is a simple, flexible data framework for connecting custom data sources to large language models (LLMs).</a:t>
            </a:r>
          </a:p>
          <a:p>
            <a:pPr algn="l"/>
            <a:r>
              <a:rPr lang="en-US" b="1" i="0" u="sng" dirty="0" err="1">
                <a:solidFill>
                  <a:srgbClr val="363737"/>
                </a:solidFill>
                <a:effectLst/>
                <a:latin typeface="Spectral"/>
                <a:hlinkClick r:id="rId5"/>
              </a:rPr>
              <a:t>AutoGen</a:t>
            </a:r>
            <a:r>
              <a:rPr lang="en-US" b="1" i="0" u="sng" dirty="0">
                <a:solidFill>
                  <a:srgbClr val="363737"/>
                </a:solidFill>
                <a:effectLst/>
                <a:latin typeface="Spectral"/>
                <a:hlinkClick r:id="rId5"/>
              </a:rPr>
              <a:t> by Microsoft </a:t>
            </a:r>
            <a:r>
              <a:rPr lang="en-US" b="1" i="0" dirty="0">
                <a:solidFill>
                  <a:srgbClr val="363737"/>
                </a:solidFill>
                <a:effectLst/>
                <a:latin typeface="Spectral"/>
              </a:rPr>
              <a:t>: </a:t>
            </a:r>
            <a:r>
              <a:rPr lang="en-US" b="0" i="0" dirty="0" err="1">
                <a:solidFill>
                  <a:srgbClr val="363737"/>
                </a:solidFill>
                <a:effectLst/>
                <a:latin typeface="Spectral"/>
              </a:rPr>
              <a:t>AutoGen</a:t>
            </a:r>
            <a:r>
              <a:rPr lang="en-US" b="0" i="0" dirty="0">
                <a:solidFill>
                  <a:srgbClr val="363737"/>
                </a:solidFill>
                <a:effectLst/>
                <a:latin typeface="Spectral"/>
              </a:rPr>
              <a:t> Studio 2.0 is an advanced AI development tool from Microsoft, designed for developers of all skill levels to create and control AI agents and workflows.</a:t>
            </a:r>
          </a:p>
          <a:p>
            <a:pPr algn="l"/>
            <a:r>
              <a:rPr lang="en-US" b="1" i="0" u="sng" dirty="0" err="1">
                <a:solidFill>
                  <a:srgbClr val="363737"/>
                </a:solidFill>
                <a:effectLst/>
                <a:latin typeface="Spectral"/>
                <a:hlinkClick r:id="rId6"/>
              </a:rPr>
              <a:t>CrewAI</a:t>
            </a:r>
            <a:r>
              <a:rPr lang="en-US" b="1" i="0" dirty="0">
                <a:solidFill>
                  <a:srgbClr val="363737"/>
                </a:solidFill>
                <a:effectLst/>
                <a:latin typeface="Spectral"/>
              </a:rPr>
              <a:t> : </a:t>
            </a:r>
            <a:r>
              <a:rPr lang="en-US" b="0" i="0" dirty="0" err="1">
                <a:solidFill>
                  <a:srgbClr val="363737"/>
                </a:solidFill>
                <a:effectLst/>
                <a:latin typeface="Spectral"/>
              </a:rPr>
              <a:t>CrewAI</a:t>
            </a:r>
            <a:r>
              <a:rPr lang="en-US" b="0" i="0" dirty="0">
                <a:solidFill>
                  <a:srgbClr val="363737"/>
                </a:solidFill>
                <a:effectLst/>
                <a:latin typeface="Spectral"/>
              </a:rPr>
              <a:t> is a multi-agent platform that streamlines workflows across industries using powerful AI agents. It allows users to build and deploy automated workflows with ease, enhancing business efficiency and growth.</a:t>
            </a:r>
          </a:p>
          <a:p>
            <a:pPr algn="l"/>
            <a:r>
              <a:rPr lang="en-US" b="1" i="0" u="sng" dirty="0" err="1">
                <a:solidFill>
                  <a:srgbClr val="363737"/>
                </a:solidFill>
                <a:effectLst/>
                <a:latin typeface="Spectral"/>
                <a:hlinkClick r:id="rId7"/>
              </a:rPr>
              <a:t>Phidata</a:t>
            </a:r>
            <a:r>
              <a:rPr lang="en-US" b="1" i="0" dirty="0">
                <a:solidFill>
                  <a:srgbClr val="363737"/>
                </a:solidFill>
                <a:effectLst/>
                <a:latin typeface="Spectral"/>
              </a:rPr>
              <a:t>:</a:t>
            </a:r>
            <a:r>
              <a:rPr lang="en-US" b="0" i="0" dirty="0">
                <a:solidFill>
                  <a:srgbClr val="363737"/>
                </a:solidFill>
                <a:effectLst/>
                <a:latin typeface="Spectral"/>
              </a:rPr>
              <a:t> An open-source platform to build, ship and monitor agentic systems.</a:t>
            </a:r>
          </a:p>
          <a:p>
            <a:pPr algn="l"/>
            <a:r>
              <a:rPr lang="en-US" b="1" i="0" u="sng" dirty="0" err="1">
                <a:solidFill>
                  <a:srgbClr val="363737"/>
                </a:solidFill>
                <a:effectLst/>
                <a:latin typeface="Spectral"/>
                <a:hlinkClick r:id="rId8"/>
              </a:rPr>
              <a:t>Pydantic</a:t>
            </a:r>
            <a:r>
              <a:rPr lang="en-US" b="1" i="0" u="sng" dirty="0">
                <a:solidFill>
                  <a:srgbClr val="363737"/>
                </a:solidFill>
                <a:effectLst/>
                <a:latin typeface="Spectral"/>
                <a:hlinkClick r:id="rId8"/>
              </a:rPr>
              <a:t> Agents</a:t>
            </a:r>
            <a:r>
              <a:rPr lang="en-US" b="0" i="0" dirty="0">
                <a:solidFill>
                  <a:srgbClr val="363737"/>
                </a:solidFill>
                <a:effectLst/>
                <a:latin typeface="Spectral"/>
              </a:rPr>
              <a:t>: </a:t>
            </a:r>
            <a:r>
              <a:rPr lang="en-US" b="0" i="0" dirty="0" err="1">
                <a:solidFill>
                  <a:srgbClr val="363737"/>
                </a:solidFill>
                <a:effectLst/>
                <a:latin typeface="Spectral"/>
              </a:rPr>
              <a:t>PydanticAI</a:t>
            </a:r>
            <a:r>
              <a:rPr lang="en-US" b="0" i="0" dirty="0">
                <a:solidFill>
                  <a:srgbClr val="363737"/>
                </a:solidFill>
                <a:effectLst/>
                <a:latin typeface="Spectral"/>
              </a:rPr>
              <a:t> is a Python agent framework designed to make it less painful to build production grade applications with Generative AI.</a:t>
            </a:r>
          </a:p>
          <a:p>
            <a:pPr algn="l"/>
            <a:r>
              <a:rPr lang="en-US" b="1" i="0" u="sng" dirty="0" err="1">
                <a:solidFill>
                  <a:srgbClr val="363737"/>
                </a:solidFill>
                <a:effectLst/>
                <a:latin typeface="Spectral"/>
                <a:hlinkClick r:id="rId9"/>
              </a:rPr>
              <a:t>CamelAI</a:t>
            </a:r>
            <a:r>
              <a:rPr lang="en-US" b="1" i="0" u="sng" dirty="0">
                <a:solidFill>
                  <a:srgbClr val="363737"/>
                </a:solidFill>
                <a:effectLst/>
                <a:latin typeface="Spectral"/>
                <a:hlinkClick r:id="rId9"/>
              </a:rPr>
              <a:t> :</a:t>
            </a:r>
            <a:r>
              <a:rPr lang="en-US" b="0" i="0" dirty="0">
                <a:solidFill>
                  <a:srgbClr val="363737"/>
                </a:solidFill>
                <a:effectLst/>
                <a:latin typeface="Spectral"/>
              </a:rPr>
              <a:t> CAMEL-AI.org is the 1st LLM multi-agent framework and an open-source community dedicated to finding the scaling law of agents.</a:t>
            </a:r>
          </a:p>
          <a:p>
            <a:pPr algn="l"/>
            <a:r>
              <a:rPr lang="en-US" b="1" i="0" u="sng" dirty="0">
                <a:solidFill>
                  <a:srgbClr val="363737"/>
                </a:solidFill>
                <a:effectLst/>
                <a:latin typeface="Spectral"/>
                <a:hlinkClick r:id="rId10"/>
              </a:rPr>
              <a:t>Agency Swarm</a:t>
            </a:r>
            <a:r>
              <a:rPr lang="en-US" b="0" i="0" dirty="0">
                <a:solidFill>
                  <a:srgbClr val="363737"/>
                </a:solidFill>
                <a:effectLst/>
                <a:latin typeface="Spectral"/>
              </a:rPr>
              <a:t> : An open source agent orchestration framework built on top of the latest </a:t>
            </a:r>
            <a:r>
              <a:rPr lang="en-US" b="0" i="0" u="sng" dirty="0" err="1">
                <a:solidFill>
                  <a:srgbClr val="363737"/>
                </a:solidFill>
                <a:effectLst/>
                <a:latin typeface="Spectral"/>
                <a:hlinkClick r:id="rId11"/>
              </a:rPr>
              <a:t>OpenAI</a:t>
            </a:r>
            <a:r>
              <a:rPr lang="en-US" b="0" i="0" u="sng" dirty="0">
                <a:solidFill>
                  <a:srgbClr val="363737"/>
                </a:solidFill>
                <a:effectLst/>
                <a:latin typeface="Spectral"/>
                <a:hlinkClick r:id="rId11"/>
              </a:rPr>
              <a:t> Assistants API</a:t>
            </a:r>
            <a:r>
              <a:rPr lang="en-US" b="0" i="0" dirty="0">
                <a:solidFill>
                  <a:srgbClr val="363737"/>
                </a:solidFill>
                <a:effectLst/>
                <a:latin typeface="Spectral"/>
              </a:rPr>
              <a:t>.</a:t>
            </a:r>
          </a:p>
          <a:p>
            <a:pPr algn="l"/>
            <a:r>
              <a:rPr lang="en-US" b="1" i="0" u="sng" dirty="0">
                <a:solidFill>
                  <a:srgbClr val="363737"/>
                </a:solidFill>
                <a:effectLst/>
                <a:latin typeface="Spectral"/>
                <a:hlinkClick r:id="rId12"/>
              </a:rPr>
              <a:t>Open AI Swarm</a:t>
            </a:r>
            <a:r>
              <a:rPr lang="en-US" b="0" i="0" dirty="0">
                <a:solidFill>
                  <a:srgbClr val="363737"/>
                </a:solidFill>
                <a:effectLst/>
                <a:latin typeface="Spectral"/>
              </a:rPr>
              <a:t> : Swarm is currently an experimental sample framework intended to explore ergonomic interfaces for multi-agent systems.</a:t>
            </a:r>
          </a:p>
          <a:p>
            <a:endParaRPr lang="en-KE" dirty="0"/>
          </a:p>
        </p:txBody>
      </p:sp>
      <p:sp>
        <p:nvSpPr>
          <p:cNvPr id="4" name="Slide Number Placeholder 3"/>
          <p:cNvSpPr>
            <a:spLocks noGrp="1"/>
          </p:cNvSpPr>
          <p:nvPr>
            <p:ph type="sldNum" sz="quarter" idx="5"/>
          </p:nvPr>
        </p:nvSpPr>
        <p:spPr/>
        <p:txBody>
          <a:bodyPr/>
          <a:lstStyle/>
          <a:p>
            <a:fld id="{F551FE0D-9A63-4BEF-9A5E-F585AEDC5F2D}" type="slidenum">
              <a:rPr lang="en-US" smtClean="0"/>
              <a:t>37</a:t>
            </a:fld>
            <a:endParaRPr lang="en-US"/>
          </a:p>
        </p:txBody>
      </p:sp>
    </p:spTree>
    <p:extLst>
      <p:ext uri="{BB962C8B-B14F-4D97-AF65-F5344CB8AC3E}">
        <p14:creationId xmlns:p14="http://schemas.microsoft.com/office/powerpoint/2010/main" val="3656888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Agents: learns from its past experience. Used in gaming. </a:t>
            </a:r>
          </a:p>
        </p:txBody>
      </p:sp>
      <p:sp>
        <p:nvSpPr>
          <p:cNvPr id="4" name="Slide Number Placeholder 3"/>
          <p:cNvSpPr>
            <a:spLocks noGrp="1"/>
          </p:cNvSpPr>
          <p:nvPr>
            <p:ph type="sldNum" sz="quarter" idx="10"/>
          </p:nvPr>
        </p:nvSpPr>
        <p:spPr/>
        <p:txBody>
          <a:bodyPr/>
          <a:lstStyle/>
          <a:p>
            <a:fld id="{F551FE0D-9A63-4BEF-9A5E-F585AEDC5F2D}" type="slidenum">
              <a:rPr lang="en-US" smtClean="0"/>
              <a:t>38</a:t>
            </a:fld>
            <a:endParaRPr lang="en-US"/>
          </a:p>
        </p:txBody>
      </p:sp>
    </p:spTree>
    <p:extLst>
      <p:ext uri="{BB962C8B-B14F-4D97-AF65-F5344CB8AC3E}">
        <p14:creationId xmlns:p14="http://schemas.microsoft.com/office/powerpoint/2010/main" val="1006854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97D8EA-9027-43A8-A72A-310D7880B2CB}" type="slidenum">
              <a:rPr lang="en-US" altLang="en-US"/>
              <a:pPr/>
              <a:t>40</a:t>
            </a:fld>
            <a:endParaRPr lang="en-US" altLang="en-US"/>
          </a:p>
        </p:txBody>
      </p:sp>
      <p:sp>
        <p:nvSpPr>
          <p:cNvPr id="132098" name="Rectangle 2"/>
          <p:cNvSpPr>
            <a:spLocks noGrp="1" noRot="1" noChangeAspect="1" noChangeArrowheads="1" noTextEdit="1"/>
          </p:cNvSpPr>
          <p:nvPr>
            <p:ph type="sldImg"/>
          </p:nvPr>
        </p:nvSpPr>
        <p:spPr>
          <a:xfrm>
            <a:off x="393700" y="692150"/>
            <a:ext cx="6070600" cy="3416300"/>
          </a:xfrm>
          <a:ln w="12700" cap="flat">
            <a:solidFill>
              <a:schemeClr val="tx1"/>
            </a:solidFill>
          </a:ln>
          <a:extLst>
            <a:ext uri="{909E8E84-426E-40DD-AFC4-6F175D3DCCD1}">
              <a14:hiddenFill xmlns:a14="http://schemas.microsoft.com/office/drawing/2010/main">
                <a:noFill/>
              </a14:hiddenFill>
            </a:ext>
          </a:extLst>
        </p:spPr>
      </p:sp>
      <p:sp>
        <p:nvSpPr>
          <p:cNvPr id="132099" name="Rectangle 3"/>
          <p:cNvSpPr>
            <a:spLocks noGrp="1" noChangeArrowheads="1"/>
          </p:cNvSpPr>
          <p:nvPr>
            <p:ph type="body" idx="1"/>
          </p:nvPr>
        </p:nvSpPr>
        <p:spPr>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endParaRPr lang="en-US" altLang="en-US"/>
          </a:p>
        </p:txBody>
      </p:sp>
    </p:spTree>
    <p:extLst>
      <p:ext uri="{BB962C8B-B14F-4D97-AF65-F5344CB8AC3E}">
        <p14:creationId xmlns:p14="http://schemas.microsoft.com/office/powerpoint/2010/main" val="3808265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4D50F7-24AE-46E5-A7A8-CEBA2EE792B6}" type="slidenum">
              <a:rPr lang="en-US" altLang="en-US"/>
              <a:pPr/>
              <a:t>49</a:t>
            </a:fld>
            <a:endParaRPr lang="en-US" altLang="en-US"/>
          </a:p>
        </p:txBody>
      </p:sp>
      <p:sp>
        <p:nvSpPr>
          <p:cNvPr id="122882" name="Rectangle 2"/>
          <p:cNvSpPr>
            <a:spLocks noGrp="1" noRot="1" noChangeAspect="1" noChangeArrowheads="1" noTextEdit="1"/>
          </p:cNvSpPr>
          <p:nvPr>
            <p:ph type="sldImg"/>
          </p:nvPr>
        </p:nvSpPr>
        <p:spPr>
          <a:xfrm>
            <a:off x="393700" y="692150"/>
            <a:ext cx="6070600" cy="3416300"/>
          </a:xfrm>
          <a:ln w="12700" cap="flat">
            <a:solidFill>
              <a:schemeClr val="tx1"/>
            </a:solidFill>
          </a:ln>
          <a:extLst>
            <a:ext uri="{909E8E84-426E-40DD-AFC4-6F175D3DCCD1}">
              <a14:hiddenFill xmlns:a14="http://schemas.microsoft.com/office/drawing/2010/main">
                <a:noFill/>
              </a14:hiddenFill>
            </a:ext>
          </a:extLst>
        </p:spPr>
      </p:sp>
      <p:sp>
        <p:nvSpPr>
          <p:cNvPr id="122883" name="Rectangle 3"/>
          <p:cNvSpPr>
            <a:spLocks noGrp="1" noChangeArrowheads="1"/>
          </p:cNvSpPr>
          <p:nvPr>
            <p:ph type="body" idx="1"/>
          </p:nvPr>
        </p:nvSpPr>
        <p:spPr>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endParaRPr lang="en-US" altLang="en-US"/>
          </a:p>
        </p:txBody>
      </p:sp>
    </p:spTree>
    <p:extLst>
      <p:ext uri="{BB962C8B-B14F-4D97-AF65-F5344CB8AC3E}">
        <p14:creationId xmlns:p14="http://schemas.microsoft.com/office/powerpoint/2010/main" val="29312817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9/16/2025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9/16/2025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2032000" y="190500"/>
            <a:ext cx="9347200" cy="5829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839200" y="6248400"/>
            <a:ext cx="2540000" cy="457200"/>
          </a:xfrm>
          <a:prstGeom prst="rect">
            <a:avLst/>
          </a:prstGeom>
        </p:spPr>
        <p:txBody>
          <a:bodyPr/>
          <a:lstStyle>
            <a:lvl1pPr>
              <a:defRPr/>
            </a:lvl1pPr>
          </a:lstStyle>
          <a:p>
            <a:r>
              <a:rPr lang="en-US" altLang="en-US"/>
              <a:t>271- Fall 2006</a:t>
            </a:r>
          </a:p>
        </p:txBody>
      </p:sp>
      <p:sp>
        <p:nvSpPr>
          <p:cNvPr id="4" name="Footer Placeholder 3"/>
          <p:cNvSpPr>
            <a:spLocks noGrp="1"/>
          </p:cNvSpPr>
          <p:nvPr>
            <p:ph type="ftr" sz="quarter" idx="11"/>
          </p:nvPr>
        </p:nvSpPr>
        <p:spPr>
          <a:xfrm>
            <a:off x="4368800" y="6248400"/>
            <a:ext cx="3860800" cy="457200"/>
          </a:xfrm>
          <a:prstGeom prst="rect">
            <a:avLst/>
          </a:prstGeom>
        </p:spPr>
        <p:txBody>
          <a:bodyPr/>
          <a:lstStyle>
            <a:lvl1pPr>
              <a:defRPr/>
            </a:lvl1pPr>
          </a:lstStyle>
          <a:p>
            <a:r>
              <a:rPr lang="en-US" altLang="en-US"/>
              <a:t>ICS-270a-03:Lecture:1</a:t>
            </a:r>
          </a:p>
        </p:txBody>
      </p:sp>
      <p:sp>
        <p:nvSpPr>
          <p:cNvPr id="5" name="Slide Number Placeholder 4"/>
          <p:cNvSpPr>
            <a:spLocks noGrp="1"/>
          </p:cNvSpPr>
          <p:nvPr>
            <p:ph type="sldNum" sz="quarter" idx="12"/>
          </p:nvPr>
        </p:nvSpPr>
        <p:spPr>
          <a:xfrm>
            <a:off x="2032000" y="6248400"/>
            <a:ext cx="1727200" cy="457200"/>
          </a:xfrm>
          <a:prstGeom prst="rect">
            <a:avLst/>
          </a:prstGeom>
        </p:spPr>
        <p:txBody>
          <a:bodyPr/>
          <a:lstStyle>
            <a:lvl1pPr>
              <a:defRPr/>
            </a:lvl1pPr>
          </a:lstStyle>
          <a:p>
            <a:fld id="{19753EBB-9C08-46CE-8866-6B65658147FF}" type="slidenum">
              <a:rPr lang="en-US" altLang="en-US"/>
              <a:pPr/>
              <a:t>‹#›</a:t>
            </a:fld>
            <a:endParaRPr lang="en-US" altLang="en-US"/>
          </a:p>
        </p:txBody>
      </p:sp>
    </p:spTree>
    <p:extLst>
      <p:ext uri="{BB962C8B-B14F-4D97-AF65-F5344CB8AC3E}">
        <p14:creationId xmlns:p14="http://schemas.microsoft.com/office/powerpoint/2010/main" val="4015973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9/16/2025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 id="2147483670"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8.xml"/><Relationship Id="rId1" Type="http://schemas.openxmlformats.org/officeDocument/2006/relationships/vmlDrawing" Target="../drawings/vmlDrawing7.v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8.xml"/><Relationship Id="rId1" Type="http://schemas.openxmlformats.org/officeDocument/2006/relationships/vmlDrawing" Target="../drawings/vmlDrawing8.v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36.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8.xml.rels><?xml version="1.0" encoding="UTF-8" standalone="yes"?>
<Relationships xmlns="http://schemas.openxmlformats.org/package/2006/relationships"><Relationship Id="rId2" Type="http://schemas.openxmlformats.org/officeDocument/2006/relationships/hyperlink" Target="https://www.youtube.com/watch?v=_b8o2DvMdis"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45.wmf"/><Relationship Id="rId4" Type="http://schemas.openxmlformats.org/officeDocument/2006/relationships/oleObject" Target="../embeddings/oleObject13.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Agents &amp; Environment</a:t>
            </a:r>
          </a:p>
        </p:txBody>
      </p:sp>
      <p:sp>
        <p:nvSpPr>
          <p:cNvPr id="3" name="Subtitle 2"/>
          <p:cNvSpPr>
            <a:spLocks noGrp="1"/>
          </p:cNvSpPr>
          <p:nvPr>
            <p:ph type="subTitle" idx="1"/>
          </p:nvPr>
        </p:nvSpPr>
        <p:spPr/>
        <p:txBody>
          <a:bodyPr/>
          <a:lstStyle/>
          <a:p>
            <a:r>
              <a:rPr lang="en-US" dirty="0"/>
              <a:t>Week2</a:t>
            </a:r>
          </a:p>
        </p:txBody>
      </p:sp>
    </p:spTree>
    <p:extLst>
      <p:ext uri="{BB962C8B-B14F-4D97-AF65-F5344CB8AC3E}">
        <p14:creationId xmlns:p14="http://schemas.microsoft.com/office/powerpoint/2010/main" val="3168771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a:t>
            </a:r>
          </a:p>
        </p:txBody>
      </p:sp>
      <p:sp>
        <p:nvSpPr>
          <p:cNvPr id="3" name="Content Placeholder 2"/>
          <p:cNvSpPr>
            <a:spLocks noGrp="1"/>
          </p:cNvSpPr>
          <p:nvPr>
            <p:ph idx="1"/>
          </p:nvPr>
        </p:nvSpPr>
        <p:spPr/>
        <p:txBody>
          <a:bodyPr/>
          <a:lstStyle/>
          <a:p>
            <a:r>
              <a:rPr lang="en-US" dirty="0"/>
              <a:t>By the end of this lesson, the learner should be able to understand the concept of intelligent agents, the role of environments in AI systems, and how intelligent agents interact with and adapt to their environments.</a:t>
            </a:r>
          </a:p>
        </p:txBody>
      </p:sp>
    </p:spTree>
    <p:extLst>
      <p:ext uri="{BB962C8B-B14F-4D97-AF65-F5344CB8AC3E}">
        <p14:creationId xmlns:p14="http://schemas.microsoft.com/office/powerpoint/2010/main" val="2114079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Outcomes</a:t>
            </a:r>
          </a:p>
        </p:txBody>
      </p:sp>
      <p:sp>
        <p:nvSpPr>
          <p:cNvPr id="3" name="Content Placeholder 2"/>
          <p:cNvSpPr>
            <a:spLocks noGrp="1"/>
          </p:cNvSpPr>
          <p:nvPr>
            <p:ph idx="1"/>
          </p:nvPr>
        </p:nvSpPr>
        <p:spPr/>
        <p:txBody>
          <a:bodyPr/>
          <a:lstStyle/>
          <a:p>
            <a:pPr marL="457200" indent="-457200">
              <a:buFont typeface="+mj-lt"/>
              <a:buAutoNum type="arabicPeriod"/>
            </a:pPr>
            <a:r>
              <a:rPr lang="en-US" dirty="0"/>
              <a:t>Demonstrate an understanding of the fundamental concepts of intelligent agents including their characteristics and types</a:t>
            </a:r>
          </a:p>
          <a:p>
            <a:pPr marL="457200" indent="-457200">
              <a:buFont typeface="+mj-lt"/>
              <a:buAutoNum type="arabicPeriod"/>
            </a:pPr>
            <a:r>
              <a:rPr lang="en-US" dirty="0"/>
              <a:t>Categorize and analyze environments in the context of AI systems</a:t>
            </a:r>
          </a:p>
          <a:p>
            <a:pPr marL="457200" indent="-457200">
              <a:buFont typeface="+mj-lt"/>
              <a:buAutoNum type="arabicPeriod"/>
            </a:pPr>
            <a:r>
              <a:rPr lang="en-US" dirty="0"/>
              <a:t>Analyze how intelligent agents modify their behavior in response to changing environments. </a:t>
            </a:r>
          </a:p>
          <a:p>
            <a:endParaRPr lang="en-US" dirty="0"/>
          </a:p>
        </p:txBody>
      </p:sp>
    </p:spTree>
    <p:extLst>
      <p:ext uri="{BB962C8B-B14F-4D97-AF65-F5344CB8AC3E}">
        <p14:creationId xmlns:p14="http://schemas.microsoft.com/office/powerpoint/2010/main" val="3785103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Higher Education</a:t>
            </a:r>
          </a:p>
        </p:txBody>
      </p:sp>
      <p:sp>
        <p:nvSpPr>
          <p:cNvPr id="3" name="Content Placeholder 2"/>
          <p:cNvSpPr>
            <a:spLocks noGrp="1"/>
          </p:cNvSpPr>
          <p:nvPr>
            <p:ph idx="1"/>
          </p:nvPr>
        </p:nvSpPr>
        <p:spPr/>
        <p:txBody>
          <a:bodyPr/>
          <a:lstStyle/>
          <a:p>
            <a:pPr>
              <a:tabLst>
                <a:tab pos="8050213" algn="l"/>
              </a:tabLst>
            </a:pPr>
            <a:r>
              <a:rPr lang="en-US" dirty="0"/>
              <a:t>Learn to BUILD MODELS (using differential equations, statistical probabilities, physical and computational simulations,)  that we can use to EXPLAIN the Past, PREDICT the future, UNDERSTAND the subject, and CONTROL the world</a:t>
            </a:r>
          </a:p>
          <a:p>
            <a:pPr>
              <a:tabLst>
                <a:tab pos="8050213" algn="l"/>
              </a:tabLst>
            </a:pPr>
            <a:r>
              <a:rPr lang="en-US" dirty="0"/>
              <a:t>In AI, we build models of THINKING, </a:t>
            </a:r>
          </a:p>
          <a:p>
            <a:pPr lvl="1"/>
            <a:endParaRPr lang="en-US" dirty="0"/>
          </a:p>
        </p:txBody>
      </p:sp>
    </p:spTree>
    <p:extLst>
      <p:ext uri="{BB962C8B-B14F-4D97-AF65-F5344CB8AC3E}">
        <p14:creationId xmlns:p14="http://schemas.microsoft.com/office/powerpoint/2010/main" val="2262589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a:t>
            </a:r>
          </a:p>
        </p:txBody>
      </p:sp>
      <p:sp>
        <p:nvSpPr>
          <p:cNvPr id="3" name="Content Placeholder 2"/>
          <p:cNvSpPr>
            <a:spLocks noGrp="1"/>
          </p:cNvSpPr>
          <p:nvPr>
            <p:ph idx="1"/>
          </p:nvPr>
        </p:nvSpPr>
        <p:spPr>
          <a:xfrm>
            <a:off x="860612" y="2556932"/>
            <a:ext cx="10035985" cy="3318936"/>
          </a:xfrm>
        </p:spPr>
        <p:txBody>
          <a:bodyPr>
            <a:normAutofit fontScale="92500" lnSpcReduction="20000"/>
          </a:bodyPr>
          <a:lstStyle/>
          <a:p>
            <a:pPr marL="0" indent="0">
              <a:buNone/>
            </a:pPr>
            <a:r>
              <a:rPr lang="en-US" dirty="0"/>
              <a:t>Building machine models targeted at </a:t>
            </a:r>
          </a:p>
          <a:p>
            <a:r>
              <a:rPr lang="en-US" dirty="0"/>
              <a:t>THINKING</a:t>
            </a:r>
          </a:p>
          <a:p>
            <a:r>
              <a:rPr lang="en-US" dirty="0"/>
              <a:t>PERCEPTION</a:t>
            </a:r>
          </a:p>
          <a:p>
            <a:r>
              <a:rPr lang="en-US" dirty="0"/>
              <a:t>ACTION</a:t>
            </a:r>
          </a:p>
          <a:p>
            <a:pPr marL="0" indent="0">
              <a:buNone/>
            </a:pPr>
            <a:r>
              <a:rPr lang="en-US" dirty="0"/>
              <a:t>In order to have a model, you MUST have</a:t>
            </a:r>
            <a:br>
              <a:rPr lang="en-US" dirty="0"/>
            </a:br>
            <a:r>
              <a:rPr lang="en-US" dirty="0"/>
              <a:t>a REPRESENTATION</a:t>
            </a:r>
          </a:p>
          <a:p>
            <a:pPr marL="0" indent="0">
              <a:buNone/>
            </a:pPr>
            <a:r>
              <a:rPr lang="en-US" dirty="0">
                <a:solidFill>
                  <a:srgbClr val="0070C0"/>
                </a:solidFill>
              </a:rPr>
              <a:t>AI is about building Methods, Algorithms, Representations that support the building of models that are intelligent ( i.e. facilitate an understanding of thinking, perception, and action)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1277" y="664386"/>
            <a:ext cx="3962915" cy="3785092"/>
          </a:xfrm>
          <a:prstGeom prst="rect">
            <a:avLst/>
          </a:prstGeom>
        </p:spPr>
      </p:pic>
    </p:spTree>
    <p:extLst>
      <p:ext uri="{BB962C8B-B14F-4D97-AF65-F5344CB8AC3E}">
        <p14:creationId xmlns:p14="http://schemas.microsoft.com/office/powerpoint/2010/main" val="3510624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37593" y="120741"/>
            <a:ext cx="9601196" cy="1303867"/>
          </a:xfrm>
        </p:spPr>
        <p:txBody>
          <a:bodyPr/>
          <a:lstStyle/>
          <a:p>
            <a:r>
              <a:rPr lang="en-US" dirty="0"/>
              <a:t>Overview: Fundamental AI Concepts</a:t>
            </a:r>
          </a:p>
        </p:txBody>
      </p:sp>
      <p:sp>
        <p:nvSpPr>
          <p:cNvPr id="3" name="Content Placeholder 2"/>
          <p:cNvSpPr>
            <a:spLocks noGrp="1"/>
          </p:cNvSpPr>
          <p:nvPr>
            <p:ph idx="1"/>
          </p:nvPr>
        </p:nvSpPr>
        <p:spPr>
          <a:xfrm>
            <a:off x="331304" y="1311965"/>
            <a:ext cx="11595653" cy="5546035"/>
          </a:xfrm>
        </p:spPr>
        <p:txBody>
          <a:bodyPr>
            <a:normAutofit fontScale="92500" lnSpcReduction="20000"/>
          </a:bodyPr>
          <a:lstStyle/>
          <a:p>
            <a:r>
              <a:rPr lang="en-US" b="1" dirty="0"/>
              <a:t>Intelligent Agents</a:t>
            </a:r>
            <a:r>
              <a:rPr lang="en-US" dirty="0"/>
              <a:t>: entities that perceive their environment and take actions to achieve goals. Intelligent agents make decisions based on their observations, adapting to changing situations.</a:t>
            </a:r>
          </a:p>
          <a:p>
            <a:r>
              <a:rPr lang="en-US" b="1" dirty="0"/>
              <a:t>Problem solving</a:t>
            </a:r>
            <a:r>
              <a:rPr lang="en-US" dirty="0"/>
              <a:t>: involves finding solutions to complex issues. Search algorithms, heuristics, and optimization techniques are essential components of problem-solving in AI.</a:t>
            </a:r>
          </a:p>
          <a:p>
            <a:r>
              <a:rPr lang="en-US" b="1" dirty="0"/>
              <a:t>Knowledge Representation and Reasoning</a:t>
            </a:r>
            <a:r>
              <a:rPr lang="en-US" dirty="0"/>
              <a:t>: involves organizing information in a way that AI systems can utilize. Reasoning allows AI systems to draw conclusions and make decisions based on the represented knowledge.</a:t>
            </a:r>
          </a:p>
          <a:p>
            <a:r>
              <a:rPr lang="en-US" b="1" dirty="0"/>
              <a:t>Machine Learning</a:t>
            </a:r>
            <a:r>
              <a:rPr lang="en-US" dirty="0"/>
              <a:t>: a subset of AI that focuses on creating algorithms and models that enable computers to learn from data and improve their performance over time. This includes supervised learning, unsupervised learning, and reinforcement learning.</a:t>
            </a:r>
          </a:p>
          <a:p>
            <a:r>
              <a:rPr lang="en-US" b="1" dirty="0"/>
              <a:t>Neural Networks and Deep Learning</a:t>
            </a:r>
            <a:r>
              <a:rPr lang="en-US" dirty="0"/>
              <a:t>: computational models inspired by the human brain. Deep learning, a subset of machine learning, involves training deep neural networks to perform tasks such as image recognition and natural language processing.</a:t>
            </a:r>
          </a:p>
          <a:p>
            <a:r>
              <a:rPr lang="en-US" b="1" dirty="0"/>
              <a:t>Natural Language Processing (NLP): </a:t>
            </a:r>
            <a:r>
              <a:rPr lang="en-US" dirty="0"/>
              <a:t>enables computers to understand, interpret, and generate human language. It encompasses tasks like sentiment analysis, language translation, and speech recognition.</a:t>
            </a:r>
          </a:p>
        </p:txBody>
      </p:sp>
    </p:spTree>
    <p:extLst>
      <p:ext uri="{BB962C8B-B14F-4D97-AF65-F5344CB8AC3E}">
        <p14:creationId xmlns:p14="http://schemas.microsoft.com/office/powerpoint/2010/main" val="2315016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96619" y="107489"/>
            <a:ext cx="9601196" cy="1303867"/>
          </a:xfrm>
        </p:spPr>
        <p:txBody>
          <a:bodyPr/>
          <a:lstStyle/>
          <a:p>
            <a:r>
              <a:rPr lang="en-US" dirty="0"/>
              <a:t>AI Concepts</a:t>
            </a:r>
          </a:p>
        </p:txBody>
      </p:sp>
      <p:sp>
        <p:nvSpPr>
          <p:cNvPr id="3" name="Content Placeholder 2"/>
          <p:cNvSpPr>
            <a:spLocks noGrp="1"/>
          </p:cNvSpPr>
          <p:nvPr>
            <p:ph idx="1"/>
          </p:nvPr>
        </p:nvSpPr>
        <p:spPr>
          <a:xfrm>
            <a:off x="341245" y="1761801"/>
            <a:ext cx="11135138" cy="4692007"/>
          </a:xfrm>
        </p:spPr>
        <p:txBody>
          <a:bodyPr>
            <a:normAutofit fontScale="92500"/>
          </a:bodyPr>
          <a:lstStyle/>
          <a:p>
            <a:r>
              <a:rPr lang="en-US" b="1" dirty="0"/>
              <a:t>Search Algorithms</a:t>
            </a:r>
            <a:r>
              <a:rPr lang="en-US" dirty="0"/>
              <a:t>: are used to navigate through problem spaces and find solutions efficiently. Algorithms like depth-first search, breadth-first search, and A* are commonly employed in AI</a:t>
            </a:r>
          </a:p>
          <a:p>
            <a:r>
              <a:rPr lang="en-US" b="1" dirty="0"/>
              <a:t>Expert Systems: </a:t>
            </a:r>
            <a:r>
              <a:rPr lang="en-US" dirty="0"/>
              <a:t>Expert systems mimic the decision-making capabilities of a human expert in a specific domain. They use rule-based systems and knowledge bases to provide expert-level advice.</a:t>
            </a:r>
          </a:p>
          <a:p>
            <a:r>
              <a:rPr lang="en-US" b="1" dirty="0"/>
              <a:t>Computer vision: </a:t>
            </a:r>
            <a:r>
              <a:rPr lang="en-US" dirty="0"/>
              <a:t>involves enabling machines to interpret and understand visual information from the world, such as image and video recognition</a:t>
            </a:r>
          </a:p>
          <a:p>
            <a:r>
              <a:rPr lang="en-US" b="1" dirty="0"/>
              <a:t>Robotics: </a:t>
            </a:r>
            <a:r>
              <a:rPr lang="en-US" dirty="0"/>
              <a:t>involves the design, creation, and operation of robots to perform tasks autonomously. It integrates computer vision, machine learning, and control systems.</a:t>
            </a:r>
          </a:p>
          <a:p>
            <a:r>
              <a:rPr lang="en-US" b="1" dirty="0"/>
              <a:t>Ethics in AI</a:t>
            </a:r>
            <a:r>
              <a:rPr lang="en-US" dirty="0"/>
              <a:t>: address the responsible development and use of AI technologies, including issues related to bias, transparency, accountability, and the societal impact of AI.</a:t>
            </a:r>
          </a:p>
          <a:p>
            <a:endParaRPr lang="en-US" dirty="0"/>
          </a:p>
        </p:txBody>
      </p:sp>
    </p:spTree>
    <p:extLst>
      <p:ext uri="{BB962C8B-B14F-4D97-AF65-F5344CB8AC3E}">
        <p14:creationId xmlns:p14="http://schemas.microsoft.com/office/powerpoint/2010/main" val="3231674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sp>
        <p:nvSpPr>
          <p:cNvPr id="152578" name="Rectangle 2"/>
          <p:cNvSpPr>
            <a:spLocks noGrp="1" noChangeArrowheads="1"/>
          </p:cNvSpPr>
          <p:nvPr>
            <p:ph type="title"/>
          </p:nvPr>
        </p:nvSpPr>
        <p:spPr>
          <a:xfrm>
            <a:off x="940560" y="0"/>
            <a:ext cx="9601196" cy="1303867"/>
          </a:xfrm>
        </p:spPr>
        <p:txBody>
          <a:bodyPr/>
          <a:lstStyle/>
          <a:p>
            <a:r>
              <a:rPr lang="en-US" altLang="en-US" dirty="0"/>
              <a:t>Agents</a:t>
            </a:r>
          </a:p>
        </p:txBody>
      </p:sp>
      <p:sp>
        <p:nvSpPr>
          <p:cNvPr id="152579" name="Rectangle 3"/>
          <p:cNvSpPr>
            <a:spLocks noGrp="1" noChangeArrowheads="1"/>
          </p:cNvSpPr>
          <p:nvPr>
            <p:ph type="body" idx="1"/>
          </p:nvPr>
        </p:nvSpPr>
        <p:spPr>
          <a:xfrm>
            <a:off x="-31850" y="1078173"/>
            <a:ext cx="5299881" cy="5779827"/>
          </a:xfrm>
        </p:spPr>
        <p:txBody>
          <a:bodyPr>
            <a:normAutofit/>
          </a:bodyPr>
          <a:lstStyle/>
          <a:p>
            <a:pPr>
              <a:lnSpc>
                <a:spcPct val="90000"/>
              </a:lnSpc>
            </a:pPr>
            <a:r>
              <a:rPr lang="en-US" altLang="en-US" dirty="0"/>
              <a:t>An </a:t>
            </a:r>
            <a:r>
              <a:rPr lang="en-US" altLang="en-US" dirty="0">
                <a:solidFill>
                  <a:srgbClr val="FF0000"/>
                </a:solidFill>
              </a:rPr>
              <a:t>agent</a:t>
            </a:r>
            <a:r>
              <a:rPr lang="en-US" altLang="en-US" dirty="0"/>
              <a:t> is anything that can be viewed as </a:t>
            </a:r>
            <a:r>
              <a:rPr lang="en-US" altLang="en-US" dirty="0">
                <a:solidFill>
                  <a:srgbClr val="FF0000"/>
                </a:solidFill>
              </a:rPr>
              <a:t>perceiving</a:t>
            </a:r>
            <a:r>
              <a:rPr lang="en-US" altLang="en-US" dirty="0"/>
              <a:t> its </a:t>
            </a:r>
            <a:r>
              <a:rPr lang="en-US" altLang="en-US" dirty="0">
                <a:solidFill>
                  <a:srgbClr val="FF0000"/>
                </a:solidFill>
              </a:rPr>
              <a:t>environment</a:t>
            </a:r>
            <a:r>
              <a:rPr lang="en-US" altLang="en-US" dirty="0"/>
              <a:t> through </a:t>
            </a:r>
            <a:r>
              <a:rPr lang="en-US" altLang="en-US" dirty="0">
                <a:solidFill>
                  <a:srgbClr val="FF0000"/>
                </a:solidFill>
              </a:rPr>
              <a:t>sensors</a:t>
            </a:r>
            <a:r>
              <a:rPr lang="en-US" altLang="en-US" dirty="0"/>
              <a:t> and </a:t>
            </a:r>
            <a:r>
              <a:rPr lang="en-US" altLang="en-US" dirty="0">
                <a:solidFill>
                  <a:srgbClr val="FF0000"/>
                </a:solidFill>
              </a:rPr>
              <a:t>acting</a:t>
            </a:r>
            <a:r>
              <a:rPr lang="en-US" altLang="en-US" dirty="0"/>
              <a:t> upon that environment through </a:t>
            </a:r>
            <a:r>
              <a:rPr lang="en-US" altLang="en-US" dirty="0">
                <a:solidFill>
                  <a:srgbClr val="FF0000"/>
                </a:solidFill>
              </a:rPr>
              <a:t>actuators</a:t>
            </a:r>
            <a:endParaRPr lang="en-US" altLang="en-US" dirty="0"/>
          </a:p>
          <a:p>
            <a:pPr>
              <a:lnSpc>
                <a:spcPct val="90000"/>
              </a:lnSpc>
            </a:pPr>
            <a:r>
              <a:rPr lang="en-US" altLang="en-US" b="1" dirty="0"/>
              <a:t>Human</a:t>
            </a:r>
            <a:r>
              <a:rPr lang="en-US" altLang="en-US" dirty="0"/>
              <a:t> agent: eyes, ears, and other organs for sensors; hands, legs, mouth, and other body parts for actuators</a:t>
            </a:r>
          </a:p>
          <a:p>
            <a:pPr>
              <a:lnSpc>
                <a:spcPct val="90000"/>
              </a:lnSpc>
            </a:pPr>
            <a:r>
              <a:rPr lang="en-US" altLang="en-US" b="1" dirty="0"/>
              <a:t>Hardware</a:t>
            </a:r>
            <a:r>
              <a:rPr lang="en-US" altLang="en-US" dirty="0"/>
              <a:t> Agents (autonomous Robots) : cameras and infrared range finders for </a:t>
            </a:r>
            <a:r>
              <a:rPr lang="en-US" altLang="en-US" dirty="0" err="1"/>
              <a:t>sensors;various</a:t>
            </a:r>
            <a:r>
              <a:rPr lang="en-US" altLang="en-US" dirty="0"/>
              <a:t> motors for actuators</a:t>
            </a:r>
          </a:p>
          <a:p>
            <a:pPr>
              <a:lnSpc>
                <a:spcPct val="90000"/>
              </a:lnSpc>
            </a:pPr>
            <a:r>
              <a:rPr lang="en-US" altLang="en-US" b="1" dirty="0"/>
              <a:t>Software</a:t>
            </a:r>
            <a:r>
              <a:rPr lang="en-US" altLang="en-US" dirty="0"/>
              <a:t> Agents: comprise a program that calculates a result from user input</a:t>
            </a:r>
          </a:p>
        </p:txBody>
      </p:sp>
      <p:pic>
        <p:nvPicPr>
          <p:cNvPr id="3" name="Picture 2"/>
          <p:cNvPicPr>
            <a:picLocks noChangeAspect="1"/>
          </p:cNvPicPr>
          <p:nvPr/>
        </p:nvPicPr>
        <p:blipFill>
          <a:blip r:embed="rId2"/>
          <a:stretch>
            <a:fillRect/>
          </a:stretch>
        </p:blipFill>
        <p:spPr>
          <a:xfrm>
            <a:off x="5308975" y="1079310"/>
            <a:ext cx="6806820" cy="5397690"/>
          </a:xfrm>
          <a:prstGeom prst="rect">
            <a:avLst/>
          </a:prstGeom>
        </p:spPr>
      </p:pic>
    </p:spTree>
    <p:extLst>
      <p:ext uri="{BB962C8B-B14F-4D97-AF65-F5344CB8AC3E}">
        <p14:creationId xmlns:p14="http://schemas.microsoft.com/office/powerpoint/2010/main" val="2021090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a:blip r:embed="rId2"/>
          <a:stretch>
            <a:fillRect/>
          </a:stretch>
        </p:blipFill>
        <p:spPr>
          <a:xfrm>
            <a:off x="514350" y="571500"/>
            <a:ext cx="11163300" cy="5715000"/>
          </a:xfrm>
          <a:prstGeom prst="rect">
            <a:avLst/>
          </a:prstGeom>
        </p:spPr>
      </p:pic>
    </p:spTree>
    <p:extLst>
      <p:ext uri="{BB962C8B-B14F-4D97-AF65-F5344CB8AC3E}">
        <p14:creationId xmlns:p14="http://schemas.microsoft.com/office/powerpoint/2010/main" val="1096772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066800" y="466724"/>
            <a:ext cx="9258300" cy="5886451"/>
          </a:xfrm>
          <a:prstGeom prst="rect">
            <a:avLst/>
          </a:prstGeom>
        </p:spPr>
      </p:pic>
    </p:spTree>
    <p:extLst>
      <p:ext uri="{BB962C8B-B14F-4D97-AF65-F5344CB8AC3E}">
        <p14:creationId xmlns:p14="http://schemas.microsoft.com/office/powerpoint/2010/main" val="697767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sp>
        <p:nvSpPr>
          <p:cNvPr id="153602" name="Rectangle 2"/>
          <p:cNvSpPr>
            <a:spLocks noGrp="1" noChangeArrowheads="1"/>
          </p:cNvSpPr>
          <p:nvPr>
            <p:ph type="title"/>
          </p:nvPr>
        </p:nvSpPr>
        <p:spPr>
          <a:xfrm>
            <a:off x="1181102" y="667807"/>
            <a:ext cx="9601196" cy="1303867"/>
          </a:xfrm>
        </p:spPr>
        <p:txBody>
          <a:bodyPr/>
          <a:lstStyle/>
          <a:p>
            <a:r>
              <a:rPr lang="en-US" altLang="en-US" dirty="0"/>
              <a:t>Agents and environments</a:t>
            </a:r>
          </a:p>
        </p:txBody>
      </p:sp>
      <p:sp>
        <p:nvSpPr>
          <p:cNvPr id="153603" name="Rectangle 3"/>
          <p:cNvSpPr>
            <a:spLocks noGrp="1" noChangeArrowheads="1"/>
          </p:cNvSpPr>
          <p:nvPr>
            <p:ph type="body" idx="1"/>
          </p:nvPr>
        </p:nvSpPr>
        <p:spPr/>
        <p:txBody>
          <a:bodyPr>
            <a:normAutofit fontScale="85000" lnSpcReduction="20000"/>
          </a:bodyPr>
          <a:lstStyle/>
          <a:p>
            <a:pPr>
              <a:buFont typeface="Wingdings" panose="05000000000000000000" pitchFamily="2" charset="2"/>
              <a:buNone/>
            </a:pPr>
            <a:endParaRPr lang="en-US" altLang="en-US" sz="2600" dirty="0"/>
          </a:p>
          <a:p>
            <a:r>
              <a:rPr lang="en-US" altLang="en-US" sz="2600" dirty="0"/>
              <a:t>The </a:t>
            </a:r>
            <a:r>
              <a:rPr lang="en-US" altLang="en-US" sz="2600" dirty="0">
                <a:solidFill>
                  <a:srgbClr val="FF0000"/>
                </a:solidFill>
              </a:rPr>
              <a:t>agent</a:t>
            </a:r>
            <a:r>
              <a:rPr lang="en-US" altLang="en-US" sz="2600" dirty="0"/>
              <a:t> </a:t>
            </a:r>
            <a:r>
              <a:rPr lang="en-US" altLang="en-US" sz="2600" dirty="0">
                <a:solidFill>
                  <a:srgbClr val="FF0000"/>
                </a:solidFill>
              </a:rPr>
              <a:t>function</a:t>
            </a:r>
            <a:r>
              <a:rPr lang="en-US" altLang="en-US" sz="2600" dirty="0"/>
              <a:t> maps from percept histories to actions:
[</a:t>
            </a:r>
            <a:r>
              <a:rPr lang="en-US" altLang="en-US" sz="2600" i="1" dirty="0"/>
              <a:t>f</a:t>
            </a:r>
            <a:r>
              <a:rPr lang="en-US" altLang="en-US" sz="2600" dirty="0"/>
              <a:t>: </a:t>
            </a:r>
            <a:r>
              <a:rPr lang="en-US" altLang="en-US" sz="2600" dirty="0">
                <a:latin typeface="Monotype Corsiva" panose="03010101010201010101" pitchFamily="66" charset="0"/>
              </a:rPr>
              <a:t>P*</a:t>
            </a:r>
            <a:r>
              <a:rPr lang="en-US" altLang="en-US" sz="2600" dirty="0"/>
              <a:t> </a:t>
            </a:r>
            <a:r>
              <a:rPr lang="en-US" altLang="en-US" sz="2600" dirty="0">
                <a:sym typeface="Wingdings" panose="05000000000000000000" pitchFamily="2" charset="2"/>
              </a:rPr>
              <a:t> </a:t>
            </a:r>
            <a:r>
              <a:rPr lang="en-US" altLang="en-US" sz="2600" dirty="0">
                <a:latin typeface="Monotype Corsiva" panose="03010101010201010101" pitchFamily="66" charset="0"/>
              </a:rPr>
              <a:t>A</a:t>
            </a:r>
            <a:r>
              <a:rPr lang="en-US" altLang="en-US" sz="2600" dirty="0"/>
              <a:t>]
The </a:t>
            </a:r>
            <a:r>
              <a:rPr lang="en-US" altLang="en-US" sz="2600" dirty="0">
                <a:solidFill>
                  <a:srgbClr val="FF0000"/>
                </a:solidFill>
              </a:rPr>
              <a:t>agent</a:t>
            </a:r>
            <a:r>
              <a:rPr lang="en-US" altLang="en-US" sz="2600" dirty="0"/>
              <a:t> </a:t>
            </a:r>
            <a:r>
              <a:rPr lang="en-US" altLang="en-US" sz="2600" dirty="0">
                <a:solidFill>
                  <a:srgbClr val="FF0000"/>
                </a:solidFill>
              </a:rPr>
              <a:t>program</a:t>
            </a:r>
            <a:r>
              <a:rPr lang="en-US" altLang="en-US" sz="2600" dirty="0"/>
              <a:t> runs on the physical </a:t>
            </a:r>
            <a:r>
              <a:rPr lang="en-US" altLang="en-US" sz="2600" dirty="0">
                <a:solidFill>
                  <a:srgbClr val="FF0000"/>
                </a:solidFill>
              </a:rPr>
              <a:t>architecture</a:t>
            </a:r>
            <a:r>
              <a:rPr lang="en-US" altLang="en-US" sz="2600" dirty="0"/>
              <a:t> to produce </a:t>
            </a:r>
            <a:r>
              <a:rPr lang="en-US" altLang="en-US" sz="2600" i="1" dirty="0"/>
              <a:t>f</a:t>
            </a:r>
            <a:r>
              <a:rPr lang="en-US" altLang="en-US" sz="2600" dirty="0"/>
              <a:t>
agent = architecture + program</a:t>
            </a:r>
          </a:p>
          <a:p>
            <a:r>
              <a:rPr lang="en-US" altLang="en-US" sz="2600" b="1" dirty="0"/>
              <a:t>Sensors</a:t>
            </a:r>
            <a:r>
              <a:rPr lang="en-US" altLang="en-US" sz="2600" dirty="0"/>
              <a:t>: What detects the changes and events in the environment</a:t>
            </a:r>
          </a:p>
          <a:p>
            <a:r>
              <a:rPr lang="en-US" altLang="en-US" sz="2600" b="1" dirty="0"/>
              <a:t>Actuators</a:t>
            </a:r>
            <a:r>
              <a:rPr lang="en-US" altLang="en-US" sz="2600" dirty="0"/>
              <a:t>/ Effectors: Movable parts of an Agent</a:t>
            </a:r>
          </a:p>
          <a:p>
            <a:r>
              <a:rPr lang="en-US" altLang="en-US" sz="2600" b="1" dirty="0"/>
              <a:t>Perception</a:t>
            </a:r>
            <a:r>
              <a:rPr lang="en-US" altLang="en-US" sz="2600" dirty="0"/>
              <a:t>: a way in which something is understood or interpreted.</a:t>
            </a:r>
          </a:p>
        </p:txBody>
      </p:sp>
      <p:pic>
        <p:nvPicPr>
          <p:cNvPr id="153604" name="Picture 4" descr="agent-environ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75" y="1527704"/>
            <a:ext cx="3733800" cy="1685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348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473762" y="474330"/>
            <a:ext cx="11236017" cy="5991225"/>
          </a:xfrm>
          <a:prstGeom prst="rect">
            <a:avLst/>
          </a:prstGeom>
        </p:spPr>
      </p:pic>
      <p:sp>
        <p:nvSpPr>
          <p:cNvPr id="5" name="Rectangle 2"/>
          <p:cNvSpPr txBox="1">
            <a:spLocks noChangeArrowheads="1"/>
          </p:cNvSpPr>
          <p:nvPr/>
        </p:nvSpPr>
        <p:spPr>
          <a:xfrm>
            <a:off x="7820168" y="1117598"/>
            <a:ext cx="3720150" cy="1303867"/>
          </a:xfrm>
          <a:prstGeom prst="rect">
            <a:avLst/>
          </a:prstGeom>
          <a:effectLst/>
        </p:spPr>
        <p:txBody>
          <a:bodyPr vert="horz" lIns="91440" tIns="45720" rIns="91440" bIns="45720" rtlCol="0" anchor="ctr">
            <a:normAutofit fontScale="92500" lnSpcReduction="1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en-US" dirty="0"/>
              <a:t>Vacuum-cleaner Robot</a:t>
            </a:r>
          </a:p>
        </p:txBody>
      </p:sp>
    </p:spTree>
    <p:extLst>
      <p:ext uri="{BB962C8B-B14F-4D97-AF65-F5344CB8AC3E}">
        <p14:creationId xmlns:p14="http://schemas.microsoft.com/office/powerpoint/2010/main" val="3658007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Intelligent Agents</a:t>
            </a:r>
          </a:p>
        </p:txBody>
      </p:sp>
      <p:sp>
        <p:nvSpPr>
          <p:cNvPr id="3" name="Content Placeholder 2"/>
          <p:cNvSpPr>
            <a:spLocks noGrp="1"/>
          </p:cNvSpPr>
          <p:nvPr>
            <p:ph idx="1"/>
          </p:nvPr>
        </p:nvSpPr>
        <p:spPr/>
        <p:txBody>
          <a:bodyPr>
            <a:normAutofit fontScale="92500" lnSpcReduction="10000"/>
          </a:bodyPr>
          <a:lstStyle/>
          <a:p>
            <a:r>
              <a:rPr lang="en-US" dirty="0"/>
              <a:t>An intelligent agent is an autonomous entity which act upon an environment using sensors and actuators for achieving goals. </a:t>
            </a:r>
          </a:p>
          <a:p>
            <a:r>
              <a:rPr lang="en-US" dirty="0"/>
              <a:t>An intelligent agent may learn from the environment to achieve their goals. A thermostat is an example of an intelligent agent.</a:t>
            </a:r>
            <a:endParaRPr lang="en-US" b="1" dirty="0"/>
          </a:p>
          <a:p>
            <a:r>
              <a:rPr lang="en-US" b="1" dirty="0"/>
              <a:t>Rule 1:</a:t>
            </a:r>
            <a:r>
              <a:rPr lang="en-US" dirty="0"/>
              <a:t> An AI agent must have the ability to perceive the environment.</a:t>
            </a:r>
          </a:p>
          <a:p>
            <a:r>
              <a:rPr lang="en-US" b="1" dirty="0"/>
              <a:t>Rule 2:</a:t>
            </a:r>
            <a:r>
              <a:rPr lang="en-US" dirty="0"/>
              <a:t> The observation must be used to make decisions.</a:t>
            </a:r>
          </a:p>
          <a:p>
            <a:r>
              <a:rPr lang="en-US" b="1" dirty="0"/>
              <a:t>Rule 3:</a:t>
            </a:r>
            <a:r>
              <a:rPr lang="en-US" dirty="0"/>
              <a:t> Decision should result in an action.</a:t>
            </a:r>
          </a:p>
          <a:p>
            <a:r>
              <a:rPr lang="en-US" b="1" dirty="0"/>
              <a:t>Rule 4:</a:t>
            </a:r>
            <a:r>
              <a:rPr lang="en-US" dirty="0"/>
              <a:t> The action taken by an AI agent must be a rational action.</a:t>
            </a:r>
          </a:p>
        </p:txBody>
      </p:sp>
    </p:spTree>
    <p:extLst>
      <p:ext uri="{BB962C8B-B14F-4D97-AF65-F5344CB8AC3E}">
        <p14:creationId xmlns:p14="http://schemas.microsoft.com/office/powerpoint/2010/main" val="1109307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sp>
        <p:nvSpPr>
          <p:cNvPr id="178178" name="Rectangle 2"/>
          <p:cNvSpPr>
            <a:spLocks noGrp="1" noChangeArrowheads="1"/>
          </p:cNvSpPr>
          <p:nvPr>
            <p:ph type="title"/>
          </p:nvPr>
        </p:nvSpPr>
        <p:spPr/>
        <p:txBody>
          <a:bodyPr/>
          <a:lstStyle/>
          <a:p>
            <a:r>
              <a:rPr lang="en-US" altLang="en-US"/>
              <a:t>Rational agents</a:t>
            </a:r>
          </a:p>
        </p:txBody>
      </p:sp>
      <p:sp>
        <p:nvSpPr>
          <p:cNvPr id="178179" name="Rectangle 3"/>
          <p:cNvSpPr>
            <a:spLocks noGrp="1" noChangeArrowheads="1"/>
          </p:cNvSpPr>
          <p:nvPr>
            <p:ph type="body" idx="1"/>
          </p:nvPr>
        </p:nvSpPr>
        <p:spPr>
          <a:xfrm>
            <a:off x="1295400" y="2556932"/>
            <a:ext cx="10141423" cy="3318936"/>
          </a:xfrm>
        </p:spPr>
        <p:txBody>
          <a:bodyPr>
            <a:normAutofit fontScale="77500" lnSpcReduction="20000"/>
          </a:bodyPr>
          <a:lstStyle/>
          <a:p>
            <a:pPr>
              <a:lnSpc>
                <a:spcPct val="90000"/>
              </a:lnSpc>
            </a:pPr>
            <a:r>
              <a:rPr lang="en-US" dirty="0"/>
              <a:t>A rational agent is an agent which has clear preference, models uncertainty, and acts in a way to maximize its performance measure with all possible actions.</a:t>
            </a:r>
            <a:endParaRPr lang="en-US" altLang="en-US" sz="2600" dirty="0"/>
          </a:p>
          <a:p>
            <a:pPr>
              <a:lnSpc>
                <a:spcPct val="90000"/>
              </a:lnSpc>
            </a:pPr>
            <a:r>
              <a:rPr lang="en-US" altLang="en-US" sz="2600" dirty="0"/>
              <a:t>An agent should strive to "do the right thing", based on what it can perceive and the actions it can perform. The right action is the one that will cause the agent to be most successful
</a:t>
            </a:r>
          </a:p>
          <a:p>
            <a:pPr>
              <a:lnSpc>
                <a:spcPct val="90000"/>
              </a:lnSpc>
            </a:pPr>
            <a:r>
              <a:rPr lang="en-US" altLang="en-US" sz="2600" dirty="0"/>
              <a:t>Performance measure: An objective criterion for success of an agent's behavior in the environment
</a:t>
            </a:r>
          </a:p>
          <a:p>
            <a:pPr>
              <a:lnSpc>
                <a:spcPct val="90000"/>
              </a:lnSpc>
            </a:pPr>
            <a:r>
              <a:rPr lang="en-US" altLang="en-US" sz="2600" dirty="0"/>
              <a:t>E.g., performance measure of a vacuum-cleaner agent could be amount of dirt cleaned up, amount of time taken, amount of electricity consumed, amount of noise generated, etc.
</a:t>
            </a:r>
          </a:p>
        </p:txBody>
      </p:sp>
    </p:spTree>
    <p:extLst>
      <p:ext uri="{BB962C8B-B14F-4D97-AF65-F5344CB8AC3E}">
        <p14:creationId xmlns:p14="http://schemas.microsoft.com/office/powerpoint/2010/main" val="644637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sp>
        <p:nvSpPr>
          <p:cNvPr id="179202" name="Rectangle 2"/>
          <p:cNvSpPr>
            <a:spLocks noGrp="1" noChangeArrowheads="1"/>
          </p:cNvSpPr>
          <p:nvPr>
            <p:ph type="title"/>
          </p:nvPr>
        </p:nvSpPr>
        <p:spPr/>
        <p:txBody>
          <a:bodyPr/>
          <a:lstStyle/>
          <a:p>
            <a:r>
              <a:rPr lang="en-US" altLang="en-US"/>
              <a:t>Rational agents</a:t>
            </a:r>
          </a:p>
        </p:txBody>
      </p:sp>
      <p:sp>
        <p:nvSpPr>
          <p:cNvPr id="179203" name="Rectangle 3"/>
          <p:cNvSpPr>
            <a:spLocks noGrp="1" noChangeArrowheads="1"/>
          </p:cNvSpPr>
          <p:nvPr>
            <p:ph type="body" idx="1"/>
          </p:nvPr>
        </p:nvSpPr>
        <p:spPr/>
        <p:txBody>
          <a:bodyPr/>
          <a:lstStyle/>
          <a:p>
            <a:r>
              <a:rPr lang="en-US" altLang="en-US">
                <a:solidFill>
                  <a:srgbClr val="FF0000"/>
                </a:solidFill>
              </a:rPr>
              <a:t>Rational</a:t>
            </a:r>
            <a:r>
              <a:rPr lang="en-US" altLang="en-US"/>
              <a:t> </a:t>
            </a:r>
            <a:r>
              <a:rPr lang="en-US" altLang="en-US">
                <a:solidFill>
                  <a:srgbClr val="FF0000"/>
                </a:solidFill>
              </a:rPr>
              <a:t>Agent</a:t>
            </a:r>
            <a:r>
              <a:rPr lang="en-US" altLang="en-US"/>
              <a:t>: For each possible percept sequence, a rational agent should select an action that is expected to maximize its performance measure, given the evidence provided by the percept sequence and whatever built-in knowledge the agent has.
</a:t>
            </a:r>
          </a:p>
        </p:txBody>
      </p:sp>
    </p:spTree>
    <p:extLst>
      <p:ext uri="{BB962C8B-B14F-4D97-AF65-F5344CB8AC3E}">
        <p14:creationId xmlns:p14="http://schemas.microsoft.com/office/powerpoint/2010/main" val="4274267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sp>
        <p:nvSpPr>
          <p:cNvPr id="41986" name="Rectangle 2"/>
          <p:cNvSpPr>
            <a:spLocks noGrp="1" noChangeArrowheads="1"/>
          </p:cNvSpPr>
          <p:nvPr>
            <p:ph type="title"/>
          </p:nvPr>
        </p:nvSpPr>
        <p:spPr>
          <a:xfrm>
            <a:off x="2752725" y="457200"/>
            <a:ext cx="7010400" cy="1527175"/>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ctr">
            <a:normAutofit/>
          </a:bodyPr>
          <a:lstStyle/>
          <a:p>
            <a:r>
              <a:rPr lang="en-US" altLang="en-US" sz="3400" dirty="0"/>
              <a:t>What’s involved in Intelligence?</a:t>
            </a:r>
            <a:br>
              <a:rPr lang="en-US" altLang="en-US" sz="3400" dirty="0"/>
            </a:br>
            <a:r>
              <a:rPr lang="en-US" altLang="en-US" sz="3400" dirty="0"/>
              <a:t>Intelligent agents</a:t>
            </a:r>
          </a:p>
        </p:txBody>
      </p:sp>
      <p:sp>
        <p:nvSpPr>
          <p:cNvPr id="41987" name="Rectangle 3"/>
          <p:cNvSpPr>
            <a:spLocks noGrp="1" noChangeArrowheads="1"/>
          </p:cNvSpPr>
          <p:nvPr>
            <p:ph type="body" idx="1"/>
          </p:nvPr>
        </p:nvSpPr>
        <p:spPr>
          <a:xfrm>
            <a:off x="1035050" y="2447925"/>
            <a:ext cx="8337550"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t">
            <a:normAutofit fontScale="70000" lnSpcReduction="20000"/>
          </a:bodyPr>
          <a:lstStyle/>
          <a:p>
            <a:pPr>
              <a:lnSpc>
                <a:spcPct val="90000"/>
              </a:lnSpc>
            </a:pPr>
            <a:r>
              <a:rPr lang="en-US" altLang="en-US" sz="2200" dirty="0"/>
              <a:t>Ability to interact with the real world</a:t>
            </a:r>
          </a:p>
          <a:p>
            <a:pPr lvl="1">
              <a:lnSpc>
                <a:spcPct val="90000"/>
              </a:lnSpc>
            </a:pPr>
            <a:r>
              <a:rPr lang="en-US" altLang="en-US" dirty="0"/>
              <a:t>to perceive, understand, and act</a:t>
            </a:r>
          </a:p>
          <a:p>
            <a:pPr lvl="1">
              <a:lnSpc>
                <a:spcPct val="90000"/>
              </a:lnSpc>
            </a:pPr>
            <a:r>
              <a:rPr lang="en-US" altLang="en-US" dirty="0"/>
              <a:t>e.g., speech recognition and understanding and synthesis</a:t>
            </a:r>
          </a:p>
          <a:p>
            <a:pPr lvl="1">
              <a:lnSpc>
                <a:spcPct val="90000"/>
              </a:lnSpc>
            </a:pPr>
            <a:r>
              <a:rPr lang="en-US" altLang="en-US" dirty="0"/>
              <a:t>e.g., image understanding</a:t>
            </a:r>
          </a:p>
          <a:p>
            <a:pPr lvl="1">
              <a:lnSpc>
                <a:spcPct val="90000"/>
              </a:lnSpc>
            </a:pPr>
            <a:r>
              <a:rPr lang="en-US" altLang="en-US" dirty="0"/>
              <a:t>e.g., ability to take actions, have an effect</a:t>
            </a:r>
            <a:br>
              <a:rPr lang="en-US" altLang="en-US" dirty="0"/>
            </a:br>
            <a:endParaRPr lang="en-US" altLang="en-US" dirty="0"/>
          </a:p>
          <a:p>
            <a:pPr>
              <a:lnSpc>
                <a:spcPct val="90000"/>
              </a:lnSpc>
            </a:pPr>
            <a:r>
              <a:rPr lang="en-US" altLang="en-US" sz="2200" dirty="0"/>
              <a:t>Knowledge Representation, Reasoning and Planning</a:t>
            </a:r>
          </a:p>
          <a:p>
            <a:pPr lvl="1">
              <a:lnSpc>
                <a:spcPct val="90000"/>
              </a:lnSpc>
            </a:pPr>
            <a:r>
              <a:rPr lang="en-US" altLang="en-US" dirty="0"/>
              <a:t>modeling the external world, given input</a:t>
            </a:r>
          </a:p>
          <a:p>
            <a:pPr lvl="1">
              <a:lnSpc>
                <a:spcPct val="90000"/>
              </a:lnSpc>
            </a:pPr>
            <a:r>
              <a:rPr lang="en-US" altLang="en-US" dirty="0"/>
              <a:t>solving new problems, planning and making decisions</a:t>
            </a:r>
          </a:p>
          <a:p>
            <a:pPr lvl="1">
              <a:lnSpc>
                <a:spcPct val="90000"/>
              </a:lnSpc>
            </a:pPr>
            <a:r>
              <a:rPr lang="en-US" altLang="en-US" dirty="0"/>
              <a:t>ability to deal with unexpected problems, uncertainties</a:t>
            </a:r>
            <a:br>
              <a:rPr lang="en-US" altLang="en-US" dirty="0"/>
            </a:br>
            <a:endParaRPr lang="en-US" altLang="en-US" dirty="0"/>
          </a:p>
          <a:p>
            <a:pPr>
              <a:lnSpc>
                <a:spcPct val="90000"/>
              </a:lnSpc>
            </a:pPr>
            <a:r>
              <a:rPr lang="en-US" altLang="en-US" sz="2200" dirty="0"/>
              <a:t>Learning and Adaptation</a:t>
            </a:r>
          </a:p>
          <a:p>
            <a:pPr lvl="1">
              <a:lnSpc>
                <a:spcPct val="90000"/>
              </a:lnSpc>
            </a:pPr>
            <a:r>
              <a:rPr lang="en-US" altLang="en-US" dirty="0"/>
              <a:t>we are continuously learning and adapting</a:t>
            </a:r>
          </a:p>
          <a:p>
            <a:pPr lvl="1">
              <a:lnSpc>
                <a:spcPct val="90000"/>
              </a:lnSpc>
            </a:pPr>
            <a:r>
              <a:rPr lang="en-US" altLang="en-US" dirty="0"/>
              <a:t>our internal models are always being “updated”</a:t>
            </a:r>
          </a:p>
          <a:p>
            <a:pPr lvl="2">
              <a:lnSpc>
                <a:spcPct val="90000"/>
              </a:lnSpc>
            </a:pPr>
            <a:r>
              <a:rPr lang="en-US" altLang="en-US" dirty="0"/>
              <a:t>e.g. a baby learning to categorize and recognize animals</a:t>
            </a:r>
          </a:p>
        </p:txBody>
      </p:sp>
    </p:spTree>
    <p:extLst>
      <p:ext uri="{BB962C8B-B14F-4D97-AF65-F5344CB8AC3E}">
        <p14:creationId xmlns:p14="http://schemas.microsoft.com/office/powerpoint/2010/main" val="2515755171"/>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sp>
        <p:nvSpPr>
          <p:cNvPr id="44034" name="Rectangle 2"/>
          <p:cNvSpPr>
            <a:spLocks noGrp="1" noChangeArrowheads="1"/>
          </p:cNvSpPr>
          <p:nvPr>
            <p:ph type="title"/>
          </p:nvPr>
        </p:nvSpPr>
        <p:spPr>
          <a:xfrm>
            <a:off x="2771775" y="755651"/>
            <a:ext cx="7010400" cy="1527175"/>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ctr">
            <a:normAutofit/>
          </a:bodyPr>
          <a:lstStyle/>
          <a:p>
            <a:r>
              <a:rPr lang="en-US" altLang="en-US" dirty="0"/>
              <a:t>Implementing agents</a:t>
            </a:r>
          </a:p>
        </p:txBody>
      </p:sp>
      <p:sp>
        <p:nvSpPr>
          <p:cNvPr id="44035" name="Rectangle 3"/>
          <p:cNvSpPr>
            <a:spLocks noGrp="1" noChangeArrowheads="1"/>
          </p:cNvSpPr>
          <p:nvPr>
            <p:ph type="body" idx="1"/>
          </p:nvPr>
        </p:nvSpPr>
        <p:spPr>
          <a:xfrm>
            <a:off x="1385888" y="2436813"/>
            <a:ext cx="7010400"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t">
            <a:normAutofit fontScale="77500" lnSpcReduction="20000"/>
          </a:bodyPr>
          <a:lstStyle/>
          <a:p>
            <a:pPr>
              <a:lnSpc>
                <a:spcPct val="90000"/>
              </a:lnSpc>
            </a:pPr>
            <a:r>
              <a:rPr lang="en-US" altLang="en-US" sz="2200" dirty="0"/>
              <a:t>Table look-ups</a:t>
            </a:r>
          </a:p>
          <a:p>
            <a:pPr>
              <a:lnSpc>
                <a:spcPct val="90000"/>
              </a:lnSpc>
            </a:pPr>
            <a:r>
              <a:rPr lang="en-US" altLang="en-US" sz="2200" dirty="0"/>
              <a:t>Autonomy</a:t>
            </a:r>
          </a:p>
          <a:p>
            <a:pPr lvl="1">
              <a:lnSpc>
                <a:spcPct val="90000"/>
              </a:lnSpc>
            </a:pPr>
            <a:r>
              <a:rPr lang="en-US" altLang="en-US" dirty="0"/>
              <a:t>All actions are completely specified</a:t>
            </a:r>
          </a:p>
          <a:p>
            <a:pPr lvl="1">
              <a:lnSpc>
                <a:spcPct val="90000"/>
              </a:lnSpc>
            </a:pPr>
            <a:r>
              <a:rPr lang="en-US" altLang="en-US" dirty="0"/>
              <a:t>no need in sensing, no autonomy</a:t>
            </a:r>
          </a:p>
          <a:p>
            <a:pPr lvl="1">
              <a:lnSpc>
                <a:spcPct val="90000"/>
              </a:lnSpc>
            </a:pPr>
            <a:r>
              <a:rPr lang="en-US" altLang="en-US" dirty="0"/>
              <a:t>example: Monkey and the banana</a:t>
            </a:r>
          </a:p>
          <a:p>
            <a:pPr>
              <a:lnSpc>
                <a:spcPct val="90000"/>
              </a:lnSpc>
            </a:pPr>
            <a:r>
              <a:rPr lang="en-US" altLang="en-US" sz="2200" dirty="0"/>
              <a:t>Structure of an agent</a:t>
            </a:r>
          </a:p>
          <a:p>
            <a:pPr lvl="1">
              <a:lnSpc>
                <a:spcPct val="90000"/>
              </a:lnSpc>
            </a:pPr>
            <a:r>
              <a:rPr lang="en-US" altLang="en-US" dirty="0"/>
              <a:t>agent = architecture + program</a:t>
            </a:r>
          </a:p>
          <a:p>
            <a:pPr lvl="1">
              <a:lnSpc>
                <a:spcPct val="90000"/>
              </a:lnSpc>
            </a:pPr>
            <a:r>
              <a:rPr lang="en-US" altLang="en-US" dirty="0"/>
              <a:t>Agent types</a:t>
            </a:r>
          </a:p>
          <a:p>
            <a:pPr lvl="2">
              <a:lnSpc>
                <a:spcPct val="90000"/>
              </a:lnSpc>
            </a:pPr>
            <a:r>
              <a:rPr lang="en-US" altLang="en-US" dirty="0"/>
              <a:t>medical diagnosis</a:t>
            </a:r>
          </a:p>
          <a:p>
            <a:pPr lvl="2">
              <a:lnSpc>
                <a:spcPct val="90000"/>
              </a:lnSpc>
            </a:pPr>
            <a:r>
              <a:rPr lang="en-US" altLang="en-US" dirty="0"/>
              <a:t>Satellite image analysis system</a:t>
            </a:r>
          </a:p>
          <a:p>
            <a:pPr lvl="2">
              <a:lnSpc>
                <a:spcPct val="90000"/>
              </a:lnSpc>
            </a:pPr>
            <a:r>
              <a:rPr lang="en-US" altLang="en-US" dirty="0"/>
              <a:t>part-picking robot</a:t>
            </a:r>
          </a:p>
          <a:p>
            <a:pPr lvl="2">
              <a:lnSpc>
                <a:spcPct val="90000"/>
              </a:lnSpc>
            </a:pPr>
            <a:r>
              <a:rPr lang="en-US" altLang="en-US" dirty="0"/>
              <a:t>Interactive English tutor</a:t>
            </a:r>
          </a:p>
          <a:p>
            <a:pPr lvl="2">
              <a:lnSpc>
                <a:spcPct val="90000"/>
              </a:lnSpc>
            </a:pPr>
            <a:r>
              <a:rPr lang="en-US" altLang="en-US" dirty="0"/>
              <a:t>cooking agent</a:t>
            </a:r>
          </a:p>
          <a:p>
            <a:pPr lvl="2">
              <a:lnSpc>
                <a:spcPct val="90000"/>
              </a:lnSpc>
            </a:pPr>
            <a:r>
              <a:rPr lang="en-US" altLang="en-US" dirty="0"/>
              <a:t>taxi driver</a:t>
            </a:r>
          </a:p>
        </p:txBody>
      </p:sp>
    </p:spTree>
    <p:extLst>
      <p:ext uri="{BB962C8B-B14F-4D97-AF65-F5344CB8AC3E}">
        <p14:creationId xmlns:p14="http://schemas.microsoft.com/office/powerpoint/2010/main" val="2292194228"/>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graphicFrame>
        <p:nvGraphicFramePr>
          <p:cNvPr id="101378" name="Object 2"/>
          <p:cNvGraphicFramePr>
            <a:graphicFrameLocks noChangeAspect="1"/>
          </p:cNvGraphicFramePr>
          <p:nvPr>
            <p:extLst>
              <p:ext uri="{D42A27DB-BD31-4B8C-83A1-F6EECF244321}">
                <p14:modId xmlns:p14="http://schemas.microsoft.com/office/powerpoint/2010/main" val="4034210453"/>
              </p:ext>
            </p:extLst>
          </p:nvPr>
        </p:nvGraphicFramePr>
        <p:xfrm>
          <a:off x="1513361" y="609600"/>
          <a:ext cx="9154639" cy="5638800"/>
        </p:xfrm>
        <a:graphic>
          <a:graphicData uri="http://schemas.openxmlformats.org/presentationml/2006/ole">
            <mc:AlternateContent xmlns:mc="http://schemas.openxmlformats.org/markup-compatibility/2006">
              <mc:Choice xmlns:v="urn:schemas-microsoft-com:vml" Requires="v">
                <p:oleObj spid="_x0000_s1084" name="Bitmap Image" r:id="rId3" imgW="10180952" imgH="7857143" progId="Paint.Picture">
                  <p:embed/>
                </p:oleObj>
              </mc:Choice>
              <mc:Fallback>
                <p:oleObj name="Bitmap Image" r:id="rId3" imgW="10180952" imgH="7857143" progId="Paint.Picture">
                  <p:embed/>
                  <p:pic>
                    <p:nvPicPr>
                      <p:cNvPr id="10137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3361" y="609600"/>
                        <a:ext cx="9154639" cy="56388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049526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graphicFrame>
        <p:nvGraphicFramePr>
          <p:cNvPr id="102402" name="Object 2"/>
          <p:cNvGraphicFramePr>
            <a:graphicFrameLocks noChangeAspect="1"/>
          </p:cNvGraphicFramePr>
          <p:nvPr>
            <p:extLst>
              <p:ext uri="{D42A27DB-BD31-4B8C-83A1-F6EECF244321}">
                <p14:modId xmlns:p14="http://schemas.microsoft.com/office/powerpoint/2010/main" val="1812357002"/>
              </p:ext>
            </p:extLst>
          </p:nvPr>
        </p:nvGraphicFramePr>
        <p:xfrm>
          <a:off x="1524000" y="600075"/>
          <a:ext cx="9144000" cy="5648325"/>
        </p:xfrm>
        <a:graphic>
          <a:graphicData uri="http://schemas.openxmlformats.org/presentationml/2006/ole">
            <mc:AlternateContent xmlns:mc="http://schemas.openxmlformats.org/markup-compatibility/2006">
              <mc:Choice xmlns:v="urn:schemas-microsoft-com:vml" Requires="v">
                <p:oleObj spid="_x0000_s2108" name="Bitmap Image" r:id="rId3" imgW="10174120" imgH="7571429" progId="Paint.Picture">
                  <p:embed/>
                </p:oleObj>
              </mc:Choice>
              <mc:Fallback>
                <p:oleObj name="Bitmap Image" r:id="rId3" imgW="10174120" imgH="7571429" progId="Paint.Picture">
                  <p:embed/>
                  <p:pic>
                    <p:nvPicPr>
                      <p:cNvPr id="10240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600075"/>
                        <a:ext cx="9144000" cy="564832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0250392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graphicFrame>
        <p:nvGraphicFramePr>
          <p:cNvPr id="104450" name="Object 2"/>
          <p:cNvGraphicFramePr>
            <a:graphicFrameLocks noChangeAspect="1"/>
          </p:cNvGraphicFramePr>
          <p:nvPr>
            <p:extLst>
              <p:ext uri="{D42A27DB-BD31-4B8C-83A1-F6EECF244321}">
                <p14:modId xmlns:p14="http://schemas.microsoft.com/office/powerpoint/2010/main" val="2358031367"/>
              </p:ext>
            </p:extLst>
          </p:nvPr>
        </p:nvGraphicFramePr>
        <p:xfrm>
          <a:off x="1524000" y="590550"/>
          <a:ext cx="9144000" cy="5657850"/>
        </p:xfrm>
        <a:graphic>
          <a:graphicData uri="http://schemas.openxmlformats.org/presentationml/2006/ole">
            <mc:AlternateContent xmlns:mc="http://schemas.openxmlformats.org/markup-compatibility/2006">
              <mc:Choice xmlns:v="urn:schemas-microsoft-com:vml" Requires="v">
                <p:oleObj spid="_x0000_s3132" name="Bitmap Image" r:id="rId3" imgW="10200000" imgH="7849696" progId="Paint.Picture">
                  <p:embed/>
                </p:oleObj>
              </mc:Choice>
              <mc:Fallback>
                <p:oleObj name="Bitmap Image" r:id="rId3" imgW="10200000" imgH="7849696" progId="Paint.Picture">
                  <p:embed/>
                  <p:pic>
                    <p:nvPicPr>
                      <p:cNvPr id="10445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590550"/>
                        <a:ext cx="9144000" cy="565785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258804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Date Placeholder 1"/>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graphicFrame>
        <p:nvGraphicFramePr>
          <p:cNvPr id="105474" name="Object 2"/>
          <p:cNvGraphicFramePr>
            <a:graphicFrameLocks noChangeAspect="1"/>
          </p:cNvGraphicFramePr>
          <p:nvPr>
            <p:extLst>
              <p:ext uri="{D42A27DB-BD31-4B8C-83A1-F6EECF244321}">
                <p14:modId xmlns:p14="http://schemas.microsoft.com/office/powerpoint/2010/main" val="3431329110"/>
              </p:ext>
            </p:extLst>
          </p:nvPr>
        </p:nvGraphicFramePr>
        <p:xfrm>
          <a:off x="0" y="96493"/>
          <a:ext cx="9144000" cy="5648325"/>
        </p:xfrm>
        <a:graphic>
          <a:graphicData uri="http://schemas.openxmlformats.org/presentationml/2006/ole">
            <mc:AlternateContent xmlns:mc="http://schemas.openxmlformats.org/markup-compatibility/2006">
              <mc:Choice xmlns:v="urn:schemas-microsoft-com:vml" Requires="v">
                <p:oleObj spid="_x0000_s4156" name="Bitmap Image" r:id="rId4" imgW="10190476" imgH="7849696" progId="Paint.Picture">
                  <p:embed/>
                </p:oleObj>
              </mc:Choice>
              <mc:Fallback>
                <p:oleObj name="Bitmap Image" r:id="rId4" imgW="10190476" imgH="7849696" progId="Paint.Picture">
                  <p:embed/>
                  <p:pic>
                    <p:nvPicPr>
                      <p:cNvPr id="105474"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96493"/>
                        <a:ext cx="9144000" cy="5648325"/>
                      </a:xfrm>
                      <a:prstGeom prst="rect">
                        <a:avLst/>
                      </a:prstGeom>
                      <a:noFill/>
                      <a:ln>
                        <a:noFill/>
                      </a:ln>
                      <a:effectLst/>
                    </p:spPr>
                  </p:pic>
                </p:oleObj>
              </mc:Fallback>
            </mc:AlternateContent>
          </a:graphicData>
        </a:graphic>
      </p:graphicFrame>
      <p:pic>
        <p:nvPicPr>
          <p:cNvPr id="2" name="Picture 1"/>
          <p:cNvPicPr>
            <a:picLocks noChangeAspect="1"/>
          </p:cNvPicPr>
          <p:nvPr/>
        </p:nvPicPr>
        <p:blipFill>
          <a:blip r:embed="rId6"/>
          <a:stretch>
            <a:fillRect/>
          </a:stretch>
        </p:blipFill>
        <p:spPr>
          <a:xfrm>
            <a:off x="3333750" y="3901316"/>
            <a:ext cx="8858250" cy="2743200"/>
          </a:xfrm>
          <a:prstGeom prst="rect">
            <a:avLst/>
          </a:prstGeom>
        </p:spPr>
      </p:pic>
      <p:sp>
        <p:nvSpPr>
          <p:cNvPr id="4" name="Cloud Callout 3"/>
          <p:cNvSpPr/>
          <p:nvPr/>
        </p:nvSpPr>
        <p:spPr>
          <a:xfrm>
            <a:off x="7492620" y="1070098"/>
            <a:ext cx="4203511" cy="2579427"/>
          </a:xfrm>
          <a:prstGeom prst="cloudCallout">
            <a:avLst>
              <a:gd name="adj1" fmla="val -72456"/>
              <a:gd name="adj2" fmla="val 7096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Performance measure is based on the IMPACT of Agent to the Environment , not the Agent itself</a:t>
            </a:r>
          </a:p>
        </p:txBody>
      </p:sp>
    </p:spTree>
    <p:extLst>
      <p:ext uri="{BB962C8B-B14F-4D97-AF65-F5344CB8AC3E}">
        <p14:creationId xmlns:p14="http://schemas.microsoft.com/office/powerpoint/2010/main" val="4254817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21802" y="0"/>
            <a:ext cx="9834924" cy="6858000"/>
          </a:xfrm>
          <a:prstGeom prst="rect">
            <a:avLst/>
          </a:prstGeom>
        </p:spPr>
      </p:pic>
    </p:spTree>
    <p:extLst>
      <p:ext uri="{BB962C8B-B14F-4D97-AF65-F5344CB8AC3E}">
        <p14:creationId xmlns:p14="http://schemas.microsoft.com/office/powerpoint/2010/main" val="2691266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54988" y="721251"/>
            <a:ext cx="10035004" cy="6136749"/>
          </a:xfrm>
          <a:prstGeom prst="rect">
            <a:avLst/>
          </a:prstGeom>
        </p:spPr>
      </p:pic>
      <p:sp>
        <p:nvSpPr>
          <p:cNvPr id="3" name="TextBox 2"/>
          <p:cNvSpPr txBox="1"/>
          <p:nvPr/>
        </p:nvSpPr>
        <p:spPr>
          <a:xfrm>
            <a:off x="1487606" y="136477"/>
            <a:ext cx="9062113" cy="584775"/>
          </a:xfrm>
          <a:prstGeom prst="rect">
            <a:avLst/>
          </a:prstGeom>
          <a:noFill/>
        </p:spPr>
        <p:txBody>
          <a:bodyPr wrap="square" rtlCol="0">
            <a:spAutoFit/>
          </a:bodyPr>
          <a:lstStyle/>
          <a:p>
            <a:r>
              <a:rPr lang="en-US" sz="3200" b="1" dirty="0"/>
              <a:t>More Examples on Specifying a Task Environment</a:t>
            </a:r>
          </a:p>
        </p:txBody>
      </p:sp>
    </p:spTree>
    <p:extLst>
      <p:ext uri="{BB962C8B-B14F-4D97-AF65-F5344CB8AC3E}">
        <p14:creationId xmlns:p14="http://schemas.microsoft.com/office/powerpoint/2010/main" val="3434202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graphicFrame>
        <p:nvGraphicFramePr>
          <p:cNvPr id="107522" name="Object 2"/>
          <p:cNvGraphicFramePr>
            <a:graphicFrameLocks noChangeAspect="1"/>
          </p:cNvGraphicFramePr>
          <p:nvPr>
            <p:extLst>
              <p:ext uri="{D42A27DB-BD31-4B8C-83A1-F6EECF244321}">
                <p14:modId xmlns:p14="http://schemas.microsoft.com/office/powerpoint/2010/main" val="2820409967"/>
              </p:ext>
            </p:extLst>
          </p:nvPr>
        </p:nvGraphicFramePr>
        <p:xfrm>
          <a:off x="1524000" y="581025"/>
          <a:ext cx="9144000" cy="5667376"/>
        </p:xfrm>
        <a:graphic>
          <a:graphicData uri="http://schemas.openxmlformats.org/presentationml/2006/ole">
            <mc:AlternateContent xmlns:mc="http://schemas.openxmlformats.org/markup-compatibility/2006">
              <mc:Choice xmlns:v="urn:schemas-microsoft-com:vml" Requires="v">
                <p:oleObj spid="_x0000_s5180" name="Bitmap Image" r:id="rId3" imgW="10180952" imgH="7857143" progId="Paint.Picture">
                  <p:embed/>
                </p:oleObj>
              </mc:Choice>
              <mc:Fallback>
                <p:oleObj name="Bitmap Image" r:id="rId3" imgW="10180952" imgH="7857143" progId="Paint.Picture">
                  <p:embed/>
                  <p:pic>
                    <p:nvPicPr>
                      <p:cNvPr id="1075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581025"/>
                        <a:ext cx="9144000" cy="566737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4201055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1"/>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graphicFrame>
        <p:nvGraphicFramePr>
          <p:cNvPr id="108546" name="Object 2"/>
          <p:cNvGraphicFramePr>
            <a:graphicFrameLocks noChangeAspect="1"/>
          </p:cNvGraphicFramePr>
          <p:nvPr>
            <p:extLst>
              <p:ext uri="{D42A27DB-BD31-4B8C-83A1-F6EECF244321}">
                <p14:modId xmlns:p14="http://schemas.microsoft.com/office/powerpoint/2010/main" val="2946852308"/>
              </p:ext>
            </p:extLst>
          </p:nvPr>
        </p:nvGraphicFramePr>
        <p:xfrm>
          <a:off x="1524000" y="609600"/>
          <a:ext cx="9144000" cy="5638800"/>
        </p:xfrm>
        <a:graphic>
          <a:graphicData uri="http://schemas.openxmlformats.org/presentationml/2006/ole">
            <mc:AlternateContent xmlns:mc="http://schemas.openxmlformats.org/markup-compatibility/2006">
              <mc:Choice xmlns:v="urn:schemas-microsoft-com:vml" Requires="v">
                <p:oleObj spid="_x0000_s6204" name="Bitmap Image" r:id="rId3" imgW="10136015" imgH="7849696" progId="Paint.Picture">
                  <p:embed/>
                </p:oleObj>
              </mc:Choice>
              <mc:Fallback>
                <p:oleObj name="Bitmap Image" r:id="rId3" imgW="10136015" imgH="7849696" progId="Paint.Picture">
                  <p:embed/>
                  <p:pic>
                    <p:nvPicPr>
                      <p:cNvPr id="10854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609600"/>
                        <a:ext cx="9144000" cy="56388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658328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aphicFrame>
        <p:nvGraphicFramePr>
          <p:cNvPr id="109570" name="Object 2"/>
          <p:cNvGraphicFramePr>
            <a:graphicFrameLocks noGrp="1" noChangeAspect="1"/>
          </p:cNvGraphicFramePr>
          <p:nvPr>
            <p:ph/>
          </p:nvPr>
        </p:nvGraphicFramePr>
        <p:xfrm>
          <a:off x="1524000" y="0"/>
          <a:ext cx="9144000" cy="6859588"/>
        </p:xfrm>
        <a:graphic>
          <a:graphicData uri="http://schemas.openxmlformats.org/presentationml/2006/ole">
            <mc:AlternateContent xmlns:mc="http://schemas.openxmlformats.org/markup-compatibility/2006">
              <mc:Choice xmlns:v="urn:schemas-microsoft-com:vml" Requires="v">
                <p:oleObj spid="_x0000_s7228" name="Bitmap Image" r:id="rId3" imgW="10200000" imgH="7849696" progId="Paint.Picture">
                  <p:embed/>
                </p:oleObj>
              </mc:Choice>
              <mc:Fallback>
                <p:oleObj name="Bitmap Image" r:id="rId3" imgW="10200000" imgH="7849696" progId="Paint.Picture">
                  <p:embed/>
                  <p:pic>
                    <p:nvPicPr>
                      <p:cNvPr id="109570" name="Object 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0"/>
                        <a:ext cx="9144000" cy="68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2488542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10594" name="Object 2"/>
          <p:cNvGraphicFramePr>
            <a:graphicFrameLocks noGrp="1" noChangeAspect="1"/>
          </p:cNvGraphicFramePr>
          <p:nvPr>
            <p:ph/>
          </p:nvPr>
        </p:nvGraphicFramePr>
        <p:xfrm>
          <a:off x="1524000" y="0"/>
          <a:ext cx="9144000" cy="6800850"/>
        </p:xfrm>
        <a:graphic>
          <a:graphicData uri="http://schemas.openxmlformats.org/presentationml/2006/ole">
            <mc:AlternateContent xmlns:mc="http://schemas.openxmlformats.org/markup-compatibility/2006">
              <mc:Choice xmlns:v="urn:schemas-microsoft-com:vml" Requires="v">
                <p:oleObj spid="_x0000_s8252" name="Bitmap Image" r:id="rId3" imgW="10200000" imgH="7849696" progId="Paint.Picture">
                  <p:embed/>
                </p:oleObj>
              </mc:Choice>
              <mc:Fallback>
                <p:oleObj name="Bitmap Image" r:id="rId3" imgW="10200000" imgH="7849696" progId="Paint.Picture">
                  <p:embed/>
                  <p:pic>
                    <p:nvPicPr>
                      <p:cNvPr id="11059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0"/>
                        <a:ext cx="9144000" cy="6800850"/>
                      </a:xfrm>
                      <a:prstGeom prst="rect">
                        <a:avLst/>
                      </a:prstGeom>
                    </p:spPr>
                  </p:pic>
                </p:oleObj>
              </mc:Fallback>
            </mc:AlternateContent>
          </a:graphicData>
        </a:graphic>
      </p:graphicFrame>
    </p:spTree>
    <p:extLst>
      <p:ext uri="{BB962C8B-B14F-4D97-AF65-F5344CB8AC3E}">
        <p14:creationId xmlns:p14="http://schemas.microsoft.com/office/powerpoint/2010/main" val="2208529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Date Placeholder 1"/>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graphicFrame>
        <p:nvGraphicFramePr>
          <p:cNvPr id="111618" name="Object 2"/>
          <p:cNvGraphicFramePr>
            <a:graphicFrameLocks noChangeAspect="1"/>
          </p:cNvGraphicFramePr>
          <p:nvPr/>
        </p:nvGraphicFramePr>
        <p:xfrm>
          <a:off x="1524000" y="0"/>
          <a:ext cx="9144000" cy="6859588"/>
        </p:xfrm>
        <a:graphic>
          <a:graphicData uri="http://schemas.openxmlformats.org/presentationml/2006/ole">
            <mc:AlternateContent xmlns:mc="http://schemas.openxmlformats.org/markup-compatibility/2006">
              <mc:Choice xmlns:v="urn:schemas-microsoft-com:vml" Requires="v">
                <p:oleObj spid="_x0000_s9276" name="Bitmap Image" r:id="rId3" imgW="10209524" imgH="7857143" progId="Paint.Picture">
                  <p:embed/>
                </p:oleObj>
              </mc:Choice>
              <mc:Fallback>
                <p:oleObj name="Bitmap Image" r:id="rId3" imgW="10209524" imgH="7857143" progId="Paint.Picture">
                  <p:embed/>
                  <p:pic>
                    <p:nvPicPr>
                      <p:cNvPr id="11161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0"/>
                        <a:ext cx="9144000" cy="685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036619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Date Placeholder 1"/>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graphicFrame>
        <p:nvGraphicFramePr>
          <p:cNvPr id="112642" name="Object 2"/>
          <p:cNvGraphicFramePr>
            <a:graphicFrameLocks noChangeAspect="1"/>
          </p:cNvGraphicFramePr>
          <p:nvPr/>
        </p:nvGraphicFramePr>
        <p:xfrm>
          <a:off x="1524000" y="1"/>
          <a:ext cx="9144000" cy="6899275"/>
        </p:xfrm>
        <a:graphic>
          <a:graphicData uri="http://schemas.openxmlformats.org/presentationml/2006/ole">
            <mc:AlternateContent xmlns:mc="http://schemas.openxmlformats.org/markup-compatibility/2006">
              <mc:Choice xmlns:v="urn:schemas-microsoft-com:vml" Requires="v">
                <p:oleObj spid="_x0000_s10300" name="Bitmap Image" r:id="rId3" imgW="10190476" imgH="7887801" progId="Paint.Picture">
                  <p:embed/>
                </p:oleObj>
              </mc:Choice>
              <mc:Fallback>
                <p:oleObj name="Bitmap Image" r:id="rId3" imgW="10190476" imgH="7887801" progId="Paint.Picture">
                  <p:embed/>
                  <p:pic>
                    <p:nvPicPr>
                      <p:cNvPr id="11264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
                        <a:ext cx="9144000" cy="689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989065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Date Placeholder 1"/>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graphicFrame>
        <p:nvGraphicFramePr>
          <p:cNvPr id="113666" name="Object 2"/>
          <p:cNvGraphicFramePr>
            <a:graphicFrameLocks noChangeAspect="1"/>
          </p:cNvGraphicFramePr>
          <p:nvPr/>
        </p:nvGraphicFramePr>
        <p:xfrm>
          <a:off x="1524000" y="0"/>
          <a:ext cx="9144000" cy="6872288"/>
        </p:xfrm>
        <a:graphic>
          <a:graphicData uri="http://schemas.openxmlformats.org/presentationml/2006/ole">
            <mc:AlternateContent xmlns:mc="http://schemas.openxmlformats.org/markup-compatibility/2006">
              <mc:Choice xmlns:v="urn:schemas-microsoft-com:vml" Requires="v">
                <p:oleObj spid="_x0000_s11324" name="Bitmap Image" r:id="rId3" imgW="10180952" imgH="7849696" progId="Paint.Picture">
                  <p:embed/>
                </p:oleObj>
              </mc:Choice>
              <mc:Fallback>
                <p:oleObj name="Bitmap Image" r:id="rId3" imgW="10180952" imgH="7849696" progId="Paint.Picture">
                  <p:embed/>
                  <p:pic>
                    <p:nvPicPr>
                      <p:cNvPr id="11366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0"/>
                        <a:ext cx="9144000" cy="687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9961065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F7CE39-A9C2-406F-AFC9-22507870C440}"/>
              </a:ext>
            </a:extLst>
          </p:cNvPr>
          <p:cNvPicPr>
            <a:picLocks noChangeAspect="1"/>
          </p:cNvPicPr>
          <p:nvPr/>
        </p:nvPicPr>
        <p:blipFill>
          <a:blip r:embed="rId2"/>
          <a:stretch>
            <a:fillRect/>
          </a:stretch>
        </p:blipFill>
        <p:spPr>
          <a:xfrm>
            <a:off x="3281592" y="0"/>
            <a:ext cx="5628816" cy="6858000"/>
          </a:xfrm>
          <a:prstGeom prst="rect">
            <a:avLst/>
          </a:prstGeom>
        </p:spPr>
      </p:pic>
    </p:spTree>
    <p:extLst>
      <p:ext uri="{BB962C8B-B14F-4D97-AF65-F5344CB8AC3E}">
        <p14:creationId xmlns:p14="http://schemas.microsoft.com/office/powerpoint/2010/main" val="5833807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4D4903-C11B-459F-B036-397C963824D4}"/>
              </a:ext>
            </a:extLst>
          </p:cNvPr>
          <p:cNvPicPr>
            <a:picLocks noGrp="1" noChangeAspect="1"/>
          </p:cNvPicPr>
          <p:nvPr>
            <p:ph idx="1"/>
          </p:nvPr>
        </p:nvPicPr>
        <p:blipFill>
          <a:blip r:embed="rId3"/>
          <a:stretch>
            <a:fillRect/>
          </a:stretch>
        </p:blipFill>
        <p:spPr>
          <a:xfrm>
            <a:off x="1501254" y="4550"/>
            <a:ext cx="7533564" cy="6905767"/>
          </a:xfrm>
        </p:spPr>
      </p:pic>
    </p:spTree>
    <p:extLst>
      <p:ext uri="{BB962C8B-B14F-4D97-AF65-F5344CB8AC3E}">
        <p14:creationId xmlns:p14="http://schemas.microsoft.com/office/powerpoint/2010/main" val="16380478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DDE6A-22CB-43E7-B56E-6D6FED355A14}"/>
              </a:ext>
            </a:extLst>
          </p:cNvPr>
          <p:cNvSpPr>
            <a:spLocks noGrp="1"/>
          </p:cNvSpPr>
          <p:nvPr>
            <p:ph type="title"/>
          </p:nvPr>
        </p:nvSpPr>
        <p:spPr/>
        <p:txBody>
          <a:bodyPr/>
          <a:lstStyle/>
          <a:p>
            <a:endParaRPr lang="en-KE"/>
          </a:p>
        </p:txBody>
      </p:sp>
      <p:sp>
        <p:nvSpPr>
          <p:cNvPr id="3" name="Content Placeholder 2">
            <a:extLst>
              <a:ext uri="{FF2B5EF4-FFF2-40B4-BE49-F238E27FC236}">
                <a16:creationId xmlns:a16="http://schemas.microsoft.com/office/drawing/2014/main" id="{3751173F-86A4-4390-BE9E-95332A55D27B}"/>
              </a:ext>
            </a:extLst>
          </p:cNvPr>
          <p:cNvSpPr>
            <a:spLocks noGrp="1"/>
          </p:cNvSpPr>
          <p:nvPr>
            <p:ph idx="1"/>
          </p:nvPr>
        </p:nvSpPr>
        <p:spPr/>
        <p:txBody>
          <a:bodyPr/>
          <a:lstStyle/>
          <a:p>
            <a:endParaRPr lang="en-KE"/>
          </a:p>
        </p:txBody>
      </p:sp>
      <p:pic>
        <p:nvPicPr>
          <p:cNvPr id="5" name="Picture 4">
            <a:extLst>
              <a:ext uri="{FF2B5EF4-FFF2-40B4-BE49-F238E27FC236}">
                <a16:creationId xmlns:a16="http://schemas.microsoft.com/office/drawing/2014/main" id="{81BEE705-0CB1-42A4-AC7E-C1461E1829AA}"/>
              </a:ext>
            </a:extLst>
          </p:cNvPr>
          <p:cNvPicPr>
            <a:picLocks noChangeAspect="1"/>
          </p:cNvPicPr>
          <p:nvPr/>
        </p:nvPicPr>
        <p:blipFill>
          <a:blip r:embed="rId2"/>
          <a:stretch>
            <a:fillRect/>
          </a:stretch>
        </p:blipFill>
        <p:spPr>
          <a:xfrm>
            <a:off x="293120" y="430291"/>
            <a:ext cx="11605759" cy="6038748"/>
          </a:xfrm>
          <a:prstGeom prst="rect">
            <a:avLst/>
          </a:prstGeom>
        </p:spPr>
      </p:pic>
    </p:spTree>
    <p:extLst>
      <p:ext uri="{BB962C8B-B14F-4D97-AF65-F5344CB8AC3E}">
        <p14:creationId xmlns:p14="http://schemas.microsoft.com/office/powerpoint/2010/main" val="3767075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21407-17B7-40FF-B33B-C7E1DC2F8ADB}"/>
              </a:ext>
            </a:extLst>
          </p:cNvPr>
          <p:cNvSpPr>
            <a:spLocks noGrp="1"/>
          </p:cNvSpPr>
          <p:nvPr>
            <p:ph type="title"/>
          </p:nvPr>
        </p:nvSpPr>
        <p:spPr>
          <a:xfrm>
            <a:off x="1117980" y="152220"/>
            <a:ext cx="9601196" cy="1303867"/>
          </a:xfrm>
        </p:spPr>
        <p:txBody>
          <a:bodyPr/>
          <a:lstStyle/>
          <a:p>
            <a:r>
              <a:rPr lang="en-US" dirty="0"/>
              <a:t>AI Agent Architecture</a:t>
            </a:r>
            <a:endParaRPr lang="en-KE" dirty="0"/>
          </a:p>
        </p:txBody>
      </p:sp>
      <p:sp>
        <p:nvSpPr>
          <p:cNvPr id="3" name="Content Placeholder 2">
            <a:extLst>
              <a:ext uri="{FF2B5EF4-FFF2-40B4-BE49-F238E27FC236}">
                <a16:creationId xmlns:a16="http://schemas.microsoft.com/office/drawing/2014/main" id="{973A9B33-398F-4C05-A15E-3A09315EC868}"/>
              </a:ext>
            </a:extLst>
          </p:cNvPr>
          <p:cNvSpPr>
            <a:spLocks noGrp="1"/>
          </p:cNvSpPr>
          <p:nvPr>
            <p:ph idx="1"/>
          </p:nvPr>
        </p:nvSpPr>
        <p:spPr/>
        <p:txBody>
          <a:bodyPr/>
          <a:lstStyle/>
          <a:p>
            <a:endParaRPr lang="en-KE" dirty="0"/>
          </a:p>
        </p:txBody>
      </p:sp>
      <p:pic>
        <p:nvPicPr>
          <p:cNvPr id="5" name="Picture 4">
            <a:extLst>
              <a:ext uri="{FF2B5EF4-FFF2-40B4-BE49-F238E27FC236}">
                <a16:creationId xmlns:a16="http://schemas.microsoft.com/office/drawing/2014/main" id="{9E571769-B9FB-4139-BA52-189514A0F9AD}"/>
              </a:ext>
            </a:extLst>
          </p:cNvPr>
          <p:cNvPicPr>
            <a:picLocks noChangeAspect="1"/>
          </p:cNvPicPr>
          <p:nvPr/>
        </p:nvPicPr>
        <p:blipFill>
          <a:blip r:embed="rId2"/>
          <a:stretch>
            <a:fillRect/>
          </a:stretch>
        </p:blipFill>
        <p:spPr>
          <a:xfrm>
            <a:off x="1117980" y="1254529"/>
            <a:ext cx="9956040" cy="4819268"/>
          </a:xfrm>
          <a:prstGeom prst="rect">
            <a:avLst/>
          </a:prstGeom>
        </p:spPr>
      </p:pic>
    </p:spTree>
    <p:extLst>
      <p:ext uri="{BB962C8B-B14F-4D97-AF65-F5344CB8AC3E}">
        <p14:creationId xmlns:p14="http://schemas.microsoft.com/office/powerpoint/2010/main" val="2636252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5F99-40A6-4AA2-997E-646935E3FB97}"/>
              </a:ext>
            </a:extLst>
          </p:cNvPr>
          <p:cNvSpPr>
            <a:spLocks noGrp="1"/>
          </p:cNvSpPr>
          <p:nvPr>
            <p:ph type="title"/>
          </p:nvPr>
        </p:nvSpPr>
        <p:spPr/>
        <p:txBody>
          <a:bodyPr/>
          <a:lstStyle/>
          <a:p>
            <a:endParaRPr lang="en-KE"/>
          </a:p>
        </p:txBody>
      </p:sp>
      <p:pic>
        <p:nvPicPr>
          <p:cNvPr id="5" name="Content Placeholder 4">
            <a:extLst>
              <a:ext uri="{FF2B5EF4-FFF2-40B4-BE49-F238E27FC236}">
                <a16:creationId xmlns:a16="http://schemas.microsoft.com/office/drawing/2014/main" id="{921EFF00-560E-40C7-9477-5EBC259087B0}"/>
              </a:ext>
            </a:extLst>
          </p:cNvPr>
          <p:cNvPicPr>
            <a:picLocks noGrp="1" noChangeAspect="1"/>
          </p:cNvPicPr>
          <p:nvPr>
            <p:ph idx="1"/>
          </p:nvPr>
        </p:nvPicPr>
        <p:blipFill>
          <a:blip r:embed="rId2"/>
          <a:stretch>
            <a:fillRect/>
          </a:stretch>
        </p:blipFill>
        <p:spPr>
          <a:xfrm>
            <a:off x="817730" y="576244"/>
            <a:ext cx="10281630" cy="5705511"/>
          </a:xfrm>
        </p:spPr>
      </p:pic>
      <p:sp>
        <p:nvSpPr>
          <p:cNvPr id="6" name="Title 1">
            <a:extLst>
              <a:ext uri="{FF2B5EF4-FFF2-40B4-BE49-F238E27FC236}">
                <a16:creationId xmlns:a16="http://schemas.microsoft.com/office/drawing/2014/main" id="{D4C6BE52-433E-4DFF-8CBD-567AC29BE4E4}"/>
              </a:ext>
            </a:extLst>
          </p:cNvPr>
          <p:cNvSpPr txBox="1">
            <a:spLocks/>
          </p:cNvSpPr>
          <p:nvPr/>
        </p:nvSpPr>
        <p:spPr>
          <a:xfrm>
            <a:off x="203580" y="-75690"/>
            <a:ext cx="9601196" cy="1303867"/>
          </a:xfrm>
          <a:prstGeom prst="rect">
            <a:avLst/>
          </a:prstGeom>
          <a:effectLst/>
        </p:spPr>
        <p:txBody>
          <a:bodyPr vert="horz" lIns="91440" tIns="45720" rIns="91440" bIns="45720" rtlCol="0" anchor="ctr">
            <a:norm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AI Agent Architecture</a:t>
            </a:r>
            <a:endParaRPr lang="en-KE" dirty="0"/>
          </a:p>
        </p:txBody>
      </p:sp>
    </p:spTree>
    <p:extLst>
      <p:ext uri="{BB962C8B-B14F-4D97-AF65-F5344CB8AC3E}">
        <p14:creationId xmlns:p14="http://schemas.microsoft.com/office/powerpoint/2010/main" val="32671300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C6D4B-5708-4D8D-AF0D-1BB10280E1E9}"/>
              </a:ext>
            </a:extLst>
          </p:cNvPr>
          <p:cNvSpPr>
            <a:spLocks noGrp="1"/>
          </p:cNvSpPr>
          <p:nvPr>
            <p:ph type="title"/>
          </p:nvPr>
        </p:nvSpPr>
        <p:spPr/>
        <p:txBody>
          <a:bodyPr/>
          <a:lstStyle/>
          <a:p>
            <a:endParaRPr lang="en-KE" dirty="0"/>
          </a:p>
        </p:txBody>
      </p:sp>
      <p:sp>
        <p:nvSpPr>
          <p:cNvPr id="3" name="Content Placeholder 2">
            <a:extLst>
              <a:ext uri="{FF2B5EF4-FFF2-40B4-BE49-F238E27FC236}">
                <a16:creationId xmlns:a16="http://schemas.microsoft.com/office/drawing/2014/main" id="{30473A52-08AD-42F4-BA4C-1BC4A60C7F70}"/>
              </a:ext>
            </a:extLst>
          </p:cNvPr>
          <p:cNvSpPr>
            <a:spLocks noGrp="1"/>
          </p:cNvSpPr>
          <p:nvPr>
            <p:ph idx="1"/>
          </p:nvPr>
        </p:nvSpPr>
        <p:spPr/>
        <p:txBody>
          <a:bodyPr/>
          <a:lstStyle/>
          <a:p>
            <a:endParaRPr lang="en-KE"/>
          </a:p>
        </p:txBody>
      </p:sp>
      <p:pic>
        <p:nvPicPr>
          <p:cNvPr id="5" name="Picture 4">
            <a:extLst>
              <a:ext uri="{FF2B5EF4-FFF2-40B4-BE49-F238E27FC236}">
                <a16:creationId xmlns:a16="http://schemas.microsoft.com/office/drawing/2014/main" id="{0D67ED0E-64B9-44D0-9EEB-3DC3B1FEB0C3}"/>
              </a:ext>
            </a:extLst>
          </p:cNvPr>
          <p:cNvPicPr>
            <a:picLocks noChangeAspect="1"/>
          </p:cNvPicPr>
          <p:nvPr/>
        </p:nvPicPr>
        <p:blipFill>
          <a:blip r:embed="rId2"/>
          <a:stretch>
            <a:fillRect/>
          </a:stretch>
        </p:blipFill>
        <p:spPr>
          <a:xfrm>
            <a:off x="717328" y="549323"/>
            <a:ext cx="10757343" cy="5759354"/>
          </a:xfrm>
          <a:prstGeom prst="rect">
            <a:avLst/>
          </a:prstGeom>
        </p:spPr>
      </p:pic>
    </p:spTree>
    <p:extLst>
      <p:ext uri="{BB962C8B-B14F-4D97-AF65-F5344CB8AC3E}">
        <p14:creationId xmlns:p14="http://schemas.microsoft.com/office/powerpoint/2010/main" val="26118967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B1A68-65DD-4CB8-A353-B8E6E4844992}"/>
              </a:ext>
            </a:extLst>
          </p:cNvPr>
          <p:cNvSpPr>
            <a:spLocks noGrp="1"/>
          </p:cNvSpPr>
          <p:nvPr>
            <p:ph type="title"/>
          </p:nvPr>
        </p:nvSpPr>
        <p:spPr/>
        <p:txBody>
          <a:bodyPr/>
          <a:lstStyle/>
          <a:p>
            <a:endParaRPr lang="en-KE"/>
          </a:p>
        </p:txBody>
      </p:sp>
      <p:sp>
        <p:nvSpPr>
          <p:cNvPr id="3" name="Content Placeholder 2">
            <a:extLst>
              <a:ext uri="{FF2B5EF4-FFF2-40B4-BE49-F238E27FC236}">
                <a16:creationId xmlns:a16="http://schemas.microsoft.com/office/drawing/2014/main" id="{6AAFBB1D-C68D-4D21-B800-815197CE36D4}"/>
              </a:ext>
            </a:extLst>
          </p:cNvPr>
          <p:cNvSpPr>
            <a:spLocks noGrp="1"/>
          </p:cNvSpPr>
          <p:nvPr>
            <p:ph idx="1"/>
          </p:nvPr>
        </p:nvSpPr>
        <p:spPr/>
        <p:txBody>
          <a:bodyPr/>
          <a:lstStyle/>
          <a:p>
            <a:endParaRPr lang="en-KE"/>
          </a:p>
        </p:txBody>
      </p:sp>
      <p:pic>
        <p:nvPicPr>
          <p:cNvPr id="5" name="Picture 4">
            <a:extLst>
              <a:ext uri="{FF2B5EF4-FFF2-40B4-BE49-F238E27FC236}">
                <a16:creationId xmlns:a16="http://schemas.microsoft.com/office/drawing/2014/main" id="{C7FAA4BE-FBE9-4A05-A816-F65E26A12201}"/>
              </a:ext>
            </a:extLst>
          </p:cNvPr>
          <p:cNvPicPr>
            <a:picLocks noChangeAspect="1"/>
          </p:cNvPicPr>
          <p:nvPr/>
        </p:nvPicPr>
        <p:blipFill>
          <a:blip r:embed="rId3"/>
          <a:stretch>
            <a:fillRect/>
          </a:stretch>
        </p:blipFill>
        <p:spPr>
          <a:xfrm>
            <a:off x="484530" y="553047"/>
            <a:ext cx="11222939" cy="5751906"/>
          </a:xfrm>
          <a:prstGeom prst="rect">
            <a:avLst/>
          </a:prstGeom>
        </p:spPr>
      </p:pic>
    </p:spTree>
    <p:extLst>
      <p:ext uri="{BB962C8B-B14F-4D97-AF65-F5344CB8AC3E}">
        <p14:creationId xmlns:p14="http://schemas.microsoft.com/office/powerpoint/2010/main" val="7887826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09871" y="0"/>
            <a:ext cx="9601196" cy="1303867"/>
          </a:xfrm>
          <a:solidFill>
            <a:schemeClr val="accent1"/>
          </a:solidFill>
        </p:spPr>
        <p:txBody>
          <a:bodyPr/>
          <a:lstStyle/>
          <a:p>
            <a:r>
              <a:rPr lang="en-US" dirty="0"/>
              <a:t>Types of Agents</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3"/>
          <a:stretch>
            <a:fillRect/>
          </a:stretch>
        </p:blipFill>
        <p:spPr>
          <a:xfrm>
            <a:off x="880441" y="1327056"/>
            <a:ext cx="10325100" cy="4800600"/>
          </a:xfrm>
          <a:prstGeom prst="rect">
            <a:avLst/>
          </a:prstGeom>
        </p:spPr>
      </p:pic>
    </p:spTree>
    <p:extLst>
      <p:ext uri="{BB962C8B-B14F-4D97-AF65-F5344CB8AC3E}">
        <p14:creationId xmlns:p14="http://schemas.microsoft.com/office/powerpoint/2010/main" val="31385114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Date Placeholder 1"/>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graphicFrame>
        <p:nvGraphicFramePr>
          <p:cNvPr id="114690" name="Object 2"/>
          <p:cNvGraphicFramePr>
            <a:graphicFrameLocks noChangeAspect="1"/>
          </p:cNvGraphicFramePr>
          <p:nvPr/>
        </p:nvGraphicFramePr>
        <p:xfrm>
          <a:off x="1524000" y="0"/>
          <a:ext cx="9144000" cy="6878638"/>
        </p:xfrm>
        <a:graphic>
          <a:graphicData uri="http://schemas.openxmlformats.org/presentationml/2006/ole">
            <mc:AlternateContent xmlns:mc="http://schemas.openxmlformats.org/markup-compatibility/2006">
              <mc:Choice xmlns:v="urn:schemas-microsoft-com:vml" Requires="v">
                <p:oleObj spid="_x0000_s12348" name="Bitmap Image" r:id="rId3" imgW="10174120" imgH="7849696" progId="Paint.Picture">
                  <p:embed/>
                </p:oleObj>
              </mc:Choice>
              <mc:Fallback>
                <p:oleObj name="Bitmap Image" r:id="rId3" imgW="10174120" imgH="7849696" progId="Paint.Picture">
                  <p:embed/>
                  <p:pic>
                    <p:nvPicPr>
                      <p:cNvPr id="11469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0"/>
                        <a:ext cx="9144000" cy="687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 name="Picture 1"/>
          <p:cNvPicPr>
            <a:picLocks noChangeAspect="1"/>
          </p:cNvPicPr>
          <p:nvPr/>
        </p:nvPicPr>
        <p:blipFill>
          <a:blip r:embed="rId5"/>
          <a:stretch>
            <a:fillRect/>
          </a:stretch>
        </p:blipFill>
        <p:spPr>
          <a:xfrm>
            <a:off x="1643062" y="3607595"/>
            <a:ext cx="8905875" cy="2238375"/>
          </a:xfrm>
          <a:prstGeom prst="rect">
            <a:avLst/>
          </a:prstGeom>
        </p:spPr>
      </p:pic>
    </p:spTree>
    <p:extLst>
      <p:ext uri="{BB962C8B-B14F-4D97-AF65-F5344CB8AC3E}">
        <p14:creationId xmlns:p14="http://schemas.microsoft.com/office/powerpoint/2010/main" val="31657481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sp>
        <p:nvSpPr>
          <p:cNvPr id="131074" name="Rectangle 2"/>
          <p:cNvSpPr>
            <a:spLocks noGrp="1" noChangeArrowheads="1"/>
          </p:cNvSpPr>
          <p:nvPr>
            <p:ph type="title"/>
          </p:nvPr>
        </p:nvSpPr>
        <p:spPr>
          <a:xfrm>
            <a:off x="3048000" y="149224"/>
            <a:ext cx="7010400" cy="1527176"/>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ctr">
            <a:normAutofit/>
          </a:bodyPr>
          <a:lstStyle/>
          <a:p>
            <a:r>
              <a:rPr lang="en-US" altLang="en-US"/>
              <a:t>Agent types</a:t>
            </a:r>
          </a:p>
        </p:txBody>
      </p:sp>
      <p:sp>
        <p:nvSpPr>
          <p:cNvPr id="131075" name="Rectangle 3"/>
          <p:cNvSpPr>
            <a:spLocks noGrp="1" noChangeArrowheads="1"/>
          </p:cNvSpPr>
          <p:nvPr>
            <p:ph type="body" idx="1"/>
          </p:nvPr>
        </p:nvSpPr>
        <p:spPr>
          <a:xfrm>
            <a:off x="1403144" y="2133600"/>
            <a:ext cx="9450385" cy="4114800"/>
          </a:xfrm>
          <a:noFill/>
          <a:ln/>
        </p:spPr>
        <p:txBody>
          <a:bodyPr vert="horz" lIns="90488" tIns="44450" rIns="90488" bIns="44450" rtlCol="0" anchor="t">
            <a:normAutofit fontScale="85000" lnSpcReduction="20000"/>
          </a:bodyPr>
          <a:lstStyle/>
          <a:p>
            <a:pPr>
              <a:lnSpc>
                <a:spcPct val="90000"/>
              </a:lnSpc>
            </a:pPr>
            <a:r>
              <a:rPr lang="en-US" altLang="en-US" sz="2200" dirty="0"/>
              <a:t>Example: Taxi driver</a:t>
            </a:r>
          </a:p>
          <a:p>
            <a:pPr>
              <a:lnSpc>
                <a:spcPct val="90000"/>
              </a:lnSpc>
            </a:pPr>
            <a:r>
              <a:rPr lang="en-US" altLang="en-US" sz="2200" dirty="0"/>
              <a:t>Simple reflex</a:t>
            </a:r>
          </a:p>
          <a:p>
            <a:pPr lvl="1">
              <a:lnSpc>
                <a:spcPct val="90000"/>
              </a:lnSpc>
            </a:pPr>
            <a:r>
              <a:rPr lang="en-US" altLang="en-US" b="1" dirty="0"/>
              <a:t>If</a:t>
            </a:r>
            <a:r>
              <a:rPr lang="en-US" altLang="en-US" dirty="0"/>
              <a:t> car-in-front-is-breaking </a:t>
            </a:r>
            <a:r>
              <a:rPr lang="en-US" altLang="en-US" b="1" dirty="0"/>
              <a:t>then </a:t>
            </a:r>
            <a:r>
              <a:rPr lang="en-US" altLang="en-US" dirty="0"/>
              <a:t>initiate-breaking</a:t>
            </a:r>
          </a:p>
          <a:p>
            <a:pPr>
              <a:lnSpc>
                <a:spcPct val="90000"/>
              </a:lnSpc>
            </a:pPr>
            <a:r>
              <a:rPr lang="en-US" altLang="en-US" sz="2200" dirty="0"/>
              <a:t>Agents that keep track of the world</a:t>
            </a:r>
          </a:p>
          <a:p>
            <a:pPr lvl="1">
              <a:lnSpc>
                <a:spcPct val="90000"/>
              </a:lnSpc>
            </a:pPr>
            <a:r>
              <a:rPr lang="en-US" altLang="en-US" dirty="0"/>
              <a:t>If car-in-front-is-breaking </a:t>
            </a:r>
            <a:r>
              <a:rPr lang="en-US" altLang="en-US" b="1" dirty="0"/>
              <a:t>and</a:t>
            </a:r>
            <a:r>
              <a:rPr lang="en-US" altLang="en-US" dirty="0"/>
              <a:t> on </a:t>
            </a:r>
            <a:r>
              <a:rPr lang="en-US" altLang="en-US" dirty="0" err="1"/>
              <a:t>fwy</a:t>
            </a:r>
            <a:r>
              <a:rPr lang="en-US" altLang="en-US" dirty="0"/>
              <a:t> </a:t>
            </a:r>
            <a:r>
              <a:rPr lang="en-US" altLang="en-US" b="1" dirty="0"/>
              <a:t>then </a:t>
            </a:r>
            <a:r>
              <a:rPr lang="en-US" altLang="en-US" dirty="0"/>
              <a:t>initiate-breaking</a:t>
            </a:r>
          </a:p>
          <a:p>
            <a:pPr lvl="1">
              <a:lnSpc>
                <a:spcPct val="90000"/>
              </a:lnSpc>
            </a:pPr>
            <a:r>
              <a:rPr lang="en-US" altLang="en-US" dirty="0"/>
              <a:t>needs internal state</a:t>
            </a:r>
          </a:p>
          <a:p>
            <a:pPr>
              <a:lnSpc>
                <a:spcPct val="90000"/>
              </a:lnSpc>
            </a:pPr>
            <a:r>
              <a:rPr lang="en-US" altLang="en-US" sz="2200" dirty="0"/>
              <a:t>goal-based</a:t>
            </a:r>
          </a:p>
          <a:p>
            <a:pPr lvl="1">
              <a:lnSpc>
                <a:spcPct val="90000"/>
              </a:lnSpc>
            </a:pPr>
            <a:r>
              <a:rPr lang="en-US" altLang="en-US" dirty="0"/>
              <a:t>If car-in-front-is-breaking </a:t>
            </a:r>
            <a:r>
              <a:rPr lang="en-US" altLang="en-US" b="1" dirty="0"/>
              <a:t>and</a:t>
            </a:r>
            <a:r>
              <a:rPr lang="en-US" altLang="en-US" dirty="0"/>
              <a:t> needs to get to hospital </a:t>
            </a:r>
            <a:r>
              <a:rPr lang="en-US" altLang="en-US" b="1" dirty="0"/>
              <a:t>then</a:t>
            </a:r>
            <a:r>
              <a:rPr lang="en-US" altLang="en-US" dirty="0"/>
              <a:t> go to adjacent lane and plan</a:t>
            </a:r>
          </a:p>
          <a:p>
            <a:pPr lvl="1">
              <a:lnSpc>
                <a:spcPct val="90000"/>
              </a:lnSpc>
            </a:pPr>
            <a:r>
              <a:rPr lang="en-US" altLang="en-US" dirty="0"/>
              <a:t>search and planning</a:t>
            </a:r>
          </a:p>
          <a:p>
            <a:pPr>
              <a:lnSpc>
                <a:spcPct val="90000"/>
              </a:lnSpc>
            </a:pPr>
            <a:r>
              <a:rPr lang="en-US" altLang="en-US" sz="2200" dirty="0"/>
              <a:t>utility-based</a:t>
            </a:r>
          </a:p>
          <a:p>
            <a:pPr lvl="1">
              <a:lnSpc>
                <a:spcPct val="90000"/>
              </a:lnSpc>
            </a:pPr>
            <a:r>
              <a:rPr lang="en-US" altLang="en-US" dirty="0"/>
              <a:t>If car-in-front-is-breaking </a:t>
            </a:r>
            <a:r>
              <a:rPr lang="en-US" altLang="en-US" b="1" dirty="0"/>
              <a:t>and </a:t>
            </a:r>
            <a:r>
              <a:rPr lang="en-US" altLang="en-US" dirty="0"/>
              <a:t>on freeway </a:t>
            </a:r>
            <a:r>
              <a:rPr lang="en-US" altLang="en-US" b="1" dirty="0"/>
              <a:t>and </a:t>
            </a:r>
            <a:r>
              <a:rPr lang="en-US" altLang="en-US" dirty="0"/>
              <a:t> needs to get to hospital alive </a:t>
            </a:r>
            <a:r>
              <a:rPr lang="en-US" altLang="en-US" b="1" dirty="0"/>
              <a:t>then</a:t>
            </a:r>
            <a:r>
              <a:rPr lang="en-US" altLang="en-US" dirty="0"/>
              <a:t> search of a way to get to the hospital that will make your passengers happy.</a:t>
            </a:r>
          </a:p>
          <a:p>
            <a:pPr lvl="1">
              <a:lnSpc>
                <a:spcPct val="90000"/>
              </a:lnSpc>
            </a:pPr>
            <a:r>
              <a:rPr lang="en-US" altLang="en-US" dirty="0"/>
              <a:t>Needs utility function that map a state to a real function (am I happy?)</a:t>
            </a:r>
          </a:p>
        </p:txBody>
      </p:sp>
    </p:spTree>
    <p:extLst>
      <p:ext uri="{BB962C8B-B14F-4D97-AF65-F5344CB8AC3E}">
        <p14:creationId xmlns:p14="http://schemas.microsoft.com/office/powerpoint/2010/main" val="3647386040"/>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1075">
                                            <p:bg/>
                                          </p:spTgt>
                                        </p:tgtEl>
                                        <p:attrNameLst>
                                          <p:attrName>style.visibility</p:attrName>
                                        </p:attrNameLst>
                                      </p:cBhvr>
                                      <p:to>
                                        <p:strVal val="visible"/>
                                      </p:to>
                                    </p:set>
                                    <p:animEffect transition="in" filter="wipe(down)">
                                      <p:cBhvr>
                                        <p:cTn id="7" dur="500"/>
                                        <p:tgtEl>
                                          <p:spTgt spid="131075">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1075">
                                            <p:txEl>
                                              <p:pRg st="0" end="0"/>
                                            </p:txEl>
                                          </p:spTgt>
                                        </p:tgtEl>
                                        <p:attrNameLst>
                                          <p:attrName>style.visibility</p:attrName>
                                        </p:attrNameLst>
                                      </p:cBhvr>
                                      <p:to>
                                        <p:strVal val="visible"/>
                                      </p:to>
                                    </p:set>
                                    <p:animEffect transition="in" filter="wipe(down)">
                                      <p:cBhvr>
                                        <p:cTn id="12" dur="500"/>
                                        <p:tgtEl>
                                          <p:spTgt spid="13107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31075">
                                            <p:txEl>
                                              <p:pRg st="1" end="1"/>
                                            </p:txEl>
                                          </p:spTgt>
                                        </p:tgtEl>
                                        <p:attrNameLst>
                                          <p:attrName>style.visibility</p:attrName>
                                        </p:attrNameLst>
                                      </p:cBhvr>
                                      <p:to>
                                        <p:strVal val="visible"/>
                                      </p:to>
                                    </p:set>
                                    <p:animEffect transition="in" filter="wipe(down)">
                                      <p:cBhvr>
                                        <p:cTn id="17" dur="500"/>
                                        <p:tgtEl>
                                          <p:spTgt spid="131075">
                                            <p:txEl>
                                              <p:pRg st="1" end="1"/>
                                            </p:txEl>
                                          </p:spTgt>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31075">
                                            <p:txEl>
                                              <p:pRg st="2" end="2"/>
                                            </p:txEl>
                                          </p:spTgt>
                                        </p:tgtEl>
                                        <p:attrNameLst>
                                          <p:attrName>style.visibility</p:attrName>
                                        </p:attrNameLst>
                                      </p:cBhvr>
                                      <p:to>
                                        <p:strVal val="visible"/>
                                      </p:to>
                                    </p:set>
                                    <p:animEffect transition="in" filter="wipe(down)">
                                      <p:cBhvr>
                                        <p:cTn id="20" dur="500"/>
                                        <p:tgtEl>
                                          <p:spTgt spid="13107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31075">
                                            <p:txEl>
                                              <p:pRg st="3" end="3"/>
                                            </p:txEl>
                                          </p:spTgt>
                                        </p:tgtEl>
                                        <p:attrNameLst>
                                          <p:attrName>style.visibility</p:attrName>
                                        </p:attrNameLst>
                                      </p:cBhvr>
                                      <p:to>
                                        <p:strVal val="visible"/>
                                      </p:to>
                                    </p:set>
                                    <p:animEffect transition="in" filter="wipe(down)">
                                      <p:cBhvr>
                                        <p:cTn id="25" dur="500"/>
                                        <p:tgtEl>
                                          <p:spTgt spid="131075">
                                            <p:txEl>
                                              <p:pRg st="3" end="3"/>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31075">
                                            <p:txEl>
                                              <p:pRg st="4" end="4"/>
                                            </p:txEl>
                                          </p:spTgt>
                                        </p:tgtEl>
                                        <p:attrNameLst>
                                          <p:attrName>style.visibility</p:attrName>
                                        </p:attrNameLst>
                                      </p:cBhvr>
                                      <p:to>
                                        <p:strVal val="visible"/>
                                      </p:to>
                                    </p:set>
                                    <p:animEffect transition="in" filter="wipe(down)">
                                      <p:cBhvr>
                                        <p:cTn id="28" dur="500"/>
                                        <p:tgtEl>
                                          <p:spTgt spid="131075">
                                            <p:txEl>
                                              <p:pRg st="4" end="4"/>
                                            </p:txEl>
                                          </p:spTgt>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31075">
                                            <p:txEl>
                                              <p:pRg st="5" end="5"/>
                                            </p:txEl>
                                          </p:spTgt>
                                        </p:tgtEl>
                                        <p:attrNameLst>
                                          <p:attrName>style.visibility</p:attrName>
                                        </p:attrNameLst>
                                      </p:cBhvr>
                                      <p:to>
                                        <p:strVal val="visible"/>
                                      </p:to>
                                    </p:set>
                                    <p:animEffect transition="in" filter="wipe(down)">
                                      <p:cBhvr>
                                        <p:cTn id="31" dur="500"/>
                                        <p:tgtEl>
                                          <p:spTgt spid="131075">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31075">
                                            <p:txEl>
                                              <p:pRg st="6" end="6"/>
                                            </p:txEl>
                                          </p:spTgt>
                                        </p:tgtEl>
                                        <p:attrNameLst>
                                          <p:attrName>style.visibility</p:attrName>
                                        </p:attrNameLst>
                                      </p:cBhvr>
                                      <p:to>
                                        <p:strVal val="visible"/>
                                      </p:to>
                                    </p:set>
                                    <p:animEffect transition="in" filter="wipe(down)">
                                      <p:cBhvr>
                                        <p:cTn id="36" dur="500"/>
                                        <p:tgtEl>
                                          <p:spTgt spid="131075">
                                            <p:txEl>
                                              <p:pRg st="6" end="6"/>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31075">
                                            <p:txEl>
                                              <p:pRg st="7" end="7"/>
                                            </p:txEl>
                                          </p:spTgt>
                                        </p:tgtEl>
                                        <p:attrNameLst>
                                          <p:attrName>style.visibility</p:attrName>
                                        </p:attrNameLst>
                                      </p:cBhvr>
                                      <p:to>
                                        <p:strVal val="visible"/>
                                      </p:to>
                                    </p:set>
                                    <p:animEffect transition="in" filter="wipe(down)">
                                      <p:cBhvr>
                                        <p:cTn id="39" dur="500"/>
                                        <p:tgtEl>
                                          <p:spTgt spid="131075">
                                            <p:txEl>
                                              <p:pRg st="7" end="7"/>
                                            </p:tx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31075">
                                            <p:txEl>
                                              <p:pRg st="8" end="8"/>
                                            </p:txEl>
                                          </p:spTgt>
                                        </p:tgtEl>
                                        <p:attrNameLst>
                                          <p:attrName>style.visibility</p:attrName>
                                        </p:attrNameLst>
                                      </p:cBhvr>
                                      <p:to>
                                        <p:strVal val="visible"/>
                                      </p:to>
                                    </p:set>
                                    <p:animEffect transition="in" filter="wipe(down)">
                                      <p:cBhvr>
                                        <p:cTn id="42" dur="500"/>
                                        <p:tgtEl>
                                          <p:spTgt spid="131075">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31075">
                                            <p:txEl>
                                              <p:pRg st="9" end="9"/>
                                            </p:txEl>
                                          </p:spTgt>
                                        </p:tgtEl>
                                        <p:attrNameLst>
                                          <p:attrName>style.visibility</p:attrName>
                                        </p:attrNameLst>
                                      </p:cBhvr>
                                      <p:to>
                                        <p:strVal val="visible"/>
                                      </p:to>
                                    </p:set>
                                    <p:animEffect transition="in" filter="wipe(down)">
                                      <p:cBhvr>
                                        <p:cTn id="47" dur="500"/>
                                        <p:tgtEl>
                                          <p:spTgt spid="131075">
                                            <p:txEl>
                                              <p:pRg st="9" end="9"/>
                                            </p:txEl>
                                          </p:spTgt>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31075">
                                            <p:txEl>
                                              <p:pRg st="10" end="10"/>
                                            </p:txEl>
                                          </p:spTgt>
                                        </p:tgtEl>
                                        <p:attrNameLst>
                                          <p:attrName>style.visibility</p:attrName>
                                        </p:attrNameLst>
                                      </p:cBhvr>
                                      <p:to>
                                        <p:strVal val="visible"/>
                                      </p:to>
                                    </p:set>
                                    <p:animEffect transition="in" filter="wipe(down)">
                                      <p:cBhvr>
                                        <p:cTn id="50" dur="500"/>
                                        <p:tgtEl>
                                          <p:spTgt spid="131075">
                                            <p:txEl>
                                              <p:pRg st="10" end="10"/>
                                            </p:txEl>
                                          </p:spTgt>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131075">
                                            <p:txEl>
                                              <p:pRg st="11" end="11"/>
                                            </p:txEl>
                                          </p:spTgt>
                                        </p:tgtEl>
                                        <p:attrNameLst>
                                          <p:attrName>style.visibility</p:attrName>
                                        </p:attrNameLst>
                                      </p:cBhvr>
                                      <p:to>
                                        <p:strVal val="visible"/>
                                      </p:to>
                                    </p:set>
                                    <p:animEffect transition="in" filter="wipe(down)">
                                      <p:cBhvr>
                                        <p:cTn id="53" dur="500"/>
                                        <p:tgtEl>
                                          <p:spTgt spid="13107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5" grpId="0" build="p"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Agent Examples</a:t>
            </a:r>
          </a:p>
        </p:txBody>
      </p:sp>
      <p:sp>
        <p:nvSpPr>
          <p:cNvPr id="3" name="Content Placeholder 2"/>
          <p:cNvSpPr>
            <a:spLocks noGrp="1"/>
          </p:cNvSpPr>
          <p:nvPr>
            <p:ph idx="1"/>
          </p:nvPr>
        </p:nvSpPr>
        <p:spPr/>
        <p:txBody>
          <a:bodyPr>
            <a:normAutofit fontScale="92500" lnSpcReduction="20000"/>
          </a:bodyPr>
          <a:lstStyle/>
          <a:p>
            <a:r>
              <a:rPr lang="en-US" dirty="0"/>
              <a:t>An agent to help me review my emails and create tasks on a digital to do list based on the highest priority emails that come in</a:t>
            </a:r>
          </a:p>
          <a:p>
            <a:r>
              <a:rPr lang="en-US" dirty="0"/>
              <a:t>An agent that uses weather data and other information to decide when to water my garden and how long to water it for.</a:t>
            </a:r>
          </a:p>
          <a:p>
            <a:r>
              <a:rPr lang="en-US" dirty="0"/>
              <a:t>An agent that could respond to customers reporting bugs and automatically gathering missing information and seek clarification on confusing parts of a bug report and then route the bug to the appropriate team to resolve. </a:t>
            </a:r>
          </a:p>
          <a:p>
            <a:r>
              <a:rPr lang="en-US" dirty="0"/>
              <a:t>A travel planning agent that takes my preferences and needs to account, researches things like destinations and hotels and even activities, and then suggests an itinerary for me and use a collaborating agent to book everything all in </a:t>
            </a:r>
            <a:r>
              <a:rPr lang="en-US"/>
              <a:t>one shot</a:t>
            </a:r>
            <a:endParaRPr lang="en-US" dirty="0"/>
          </a:p>
          <a:p>
            <a:endParaRPr lang="en-US" dirty="0"/>
          </a:p>
        </p:txBody>
      </p:sp>
    </p:spTree>
    <p:extLst>
      <p:ext uri="{BB962C8B-B14F-4D97-AF65-F5344CB8AC3E}">
        <p14:creationId xmlns:p14="http://schemas.microsoft.com/office/powerpoint/2010/main" val="39853613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67411" y="296411"/>
            <a:ext cx="11465822" cy="6377343"/>
          </a:xfrm>
          <a:prstGeom prst="rect">
            <a:avLst/>
          </a:prstGeom>
        </p:spPr>
      </p:pic>
    </p:spTree>
    <p:extLst>
      <p:ext uri="{BB962C8B-B14F-4D97-AF65-F5344CB8AC3E}">
        <p14:creationId xmlns:p14="http://schemas.microsoft.com/office/powerpoint/2010/main" val="24010736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669648" y="654533"/>
            <a:ext cx="10788663" cy="5600493"/>
          </a:xfrm>
          <a:prstGeom prst="rect">
            <a:avLst/>
          </a:prstGeom>
        </p:spPr>
      </p:pic>
    </p:spTree>
    <p:extLst>
      <p:ext uri="{BB962C8B-B14F-4D97-AF65-F5344CB8AC3E}">
        <p14:creationId xmlns:p14="http://schemas.microsoft.com/office/powerpoint/2010/main" val="25177451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04160" y="0"/>
            <a:ext cx="6248400" cy="6858000"/>
          </a:xfrm>
        </p:spPr>
      </p:pic>
    </p:spTree>
    <p:extLst>
      <p:ext uri="{BB962C8B-B14F-4D97-AF65-F5344CB8AC3E}">
        <p14:creationId xmlns:p14="http://schemas.microsoft.com/office/powerpoint/2010/main" val="21894058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0"/>
            <a:ext cx="12384278" cy="6858000"/>
          </a:xfrm>
          <a:prstGeom prst="rect">
            <a:avLst/>
          </a:prstGeom>
        </p:spPr>
      </p:pic>
    </p:spTree>
    <p:extLst>
      <p:ext uri="{BB962C8B-B14F-4D97-AF65-F5344CB8AC3E}">
        <p14:creationId xmlns:p14="http://schemas.microsoft.com/office/powerpoint/2010/main" val="3914988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31675" y="0"/>
            <a:ext cx="12384636" cy="6858000"/>
          </a:xfrm>
          <a:prstGeom prst="rect">
            <a:avLst/>
          </a:prstGeom>
        </p:spPr>
      </p:pic>
    </p:spTree>
    <p:extLst>
      <p:ext uri="{BB962C8B-B14F-4D97-AF65-F5344CB8AC3E}">
        <p14:creationId xmlns:p14="http://schemas.microsoft.com/office/powerpoint/2010/main" val="3040865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CCEEF6"/>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9026" y="159026"/>
            <a:ext cx="4228272" cy="6698974"/>
          </a:xfrm>
          <a:prstGeom prst="rect">
            <a:avLst/>
          </a:prstGeom>
        </p:spPr>
      </p:pic>
      <p:pic>
        <p:nvPicPr>
          <p:cNvPr id="5" name="Picture 4"/>
          <p:cNvPicPr>
            <a:picLocks noChangeAspect="1"/>
          </p:cNvPicPr>
          <p:nvPr/>
        </p:nvPicPr>
        <p:blipFill>
          <a:blip r:embed="rId3"/>
          <a:stretch>
            <a:fillRect/>
          </a:stretch>
        </p:blipFill>
        <p:spPr>
          <a:xfrm>
            <a:off x="4387298" y="159026"/>
            <a:ext cx="4333965" cy="6698974"/>
          </a:xfrm>
          <a:prstGeom prst="rect">
            <a:avLst/>
          </a:prstGeom>
        </p:spPr>
      </p:pic>
      <p:pic>
        <p:nvPicPr>
          <p:cNvPr id="6" name="Picture 5"/>
          <p:cNvPicPr>
            <a:picLocks noChangeAspect="1"/>
          </p:cNvPicPr>
          <p:nvPr/>
        </p:nvPicPr>
        <p:blipFill>
          <a:blip r:embed="rId4"/>
          <a:stretch>
            <a:fillRect/>
          </a:stretch>
        </p:blipFill>
        <p:spPr>
          <a:xfrm>
            <a:off x="8721262" y="159026"/>
            <a:ext cx="3470737" cy="6698974"/>
          </a:xfrm>
          <a:prstGeom prst="rect">
            <a:avLst/>
          </a:prstGeom>
        </p:spPr>
      </p:pic>
    </p:spTree>
    <p:extLst>
      <p:ext uri="{BB962C8B-B14F-4D97-AF65-F5344CB8AC3E}">
        <p14:creationId xmlns:p14="http://schemas.microsoft.com/office/powerpoint/2010/main" val="3211834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lstStyle/>
          <a:p>
            <a:r>
              <a:rPr lang="en-US" dirty="0">
                <a:hlinkClick r:id="rId2"/>
              </a:rPr>
              <a:t>AI - Ch02 - Intelligent Agents (youtube.com)</a:t>
            </a:r>
            <a:endParaRPr lang="en-US" dirty="0"/>
          </a:p>
        </p:txBody>
      </p:sp>
    </p:spTree>
    <p:extLst>
      <p:ext uri="{BB962C8B-B14F-4D97-AF65-F5344CB8AC3E}">
        <p14:creationId xmlns:p14="http://schemas.microsoft.com/office/powerpoint/2010/main" val="21539194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3"/>
          <p:cNvSpPr>
            <a:spLocks noGrp="1"/>
          </p:cNvSpPr>
          <p:nvPr>
            <p:ph type="dt" sz="half" idx="4294967295"/>
          </p:nvPr>
        </p:nvSpPr>
        <p:spPr>
          <a:xfrm>
            <a:off x="8153400" y="6248400"/>
            <a:ext cx="1905000" cy="457200"/>
          </a:xfrm>
          <a:prstGeom prst="rect">
            <a:avLst/>
          </a:prstGeom>
        </p:spPr>
        <p:txBody>
          <a:bodyPr/>
          <a:lstStyle/>
          <a:p>
            <a:r>
              <a:rPr lang="en-US" altLang="en-US"/>
              <a:t>271- Fall 2006</a:t>
            </a:r>
          </a:p>
        </p:txBody>
      </p:sp>
      <p:sp>
        <p:nvSpPr>
          <p:cNvPr id="12185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ctr">
            <a:normAutofit/>
          </a:bodyPr>
          <a:lstStyle/>
          <a:p>
            <a:r>
              <a:rPr lang="en-US" altLang="en-US" sz="5700"/>
              <a:t>Summary </a:t>
            </a:r>
          </a:p>
        </p:txBody>
      </p:sp>
      <p:sp>
        <p:nvSpPr>
          <p:cNvPr id="121859"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t">
            <a:normAutofit fontScale="92500" lnSpcReduction="10000"/>
          </a:bodyPr>
          <a:lstStyle/>
          <a:p>
            <a:pPr>
              <a:lnSpc>
                <a:spcPct val="90000"/>
              </a:lnSpc>
            </a:pPr>
            <a:r>
              <a:rPr lang="en-US" altLang="en-US" sz="2200" dirty="0"/>
              <a:t>What is Artificial Intelligence? </a:t>
            </a:r>
          </a:p>
          <a:p>
            <a:pPr lvl="1">
              <a:lnSpc>
                <a:spcPct val="90000"/>
              </a:lnSpc>
            </a:pPr>
            <a:r>
              <a:rPr lang="en-US" altLang="en-US" dirty="0"/>
              <a:t>modeling humans thinking, acting, should think, should act.</a:t>
            </a:r>
          </a:p>
          <a:p>
            <a:pPr>
              <a:lnSpc>
                <a:spcPct val="90000"/>
              </a:lnSpc>
            </a:pPr>
            <a:r>
              <a:rPr lang="en-US" altLang="en-US" sz="2200" dirty="0"/>
              <a:t>History of AI</a:t>
            </a:r>
          </a:p>
          <a:p>
            <a:pPr>
              <a:lnSpc>
                <a:spcPct val="90000"/>
              </a:lnSpc>
            </a:pPr>
            <a:r>
              <a:rPr lang="en-US" altLang="en-US" sz="2200" dirty="0"/>
              <a:t>Intelligent agents </a:t>
            </a:r>
          </a:p>
          <a:p>
            <a:pPr lvl="1">
              <a:lnSpc>
                <a:spcPct val="90000"/>
              </a:lnSpc>
            </a:pPr>
            <a:r>
              <a:rPr lang="en-US" altLang="en-US" dirty="0"/>
              <a:t>We want to build agents  that act rationally</a:t>
            </a:r>
            <a:br>
              <a:rPr lang="en-US" altLang="en-US" dirty="0"/>
            </a:br>
            <a:endParaRPr lang="en-US" altLang="en-US" dirty="0"/>
          </a:p>
          <a:p>
            <a:pPr>
              <a:lnSpc>
                <a:spcPct val="90000"/>
              </a:lnSpc>
            </a:pPr>
            <a:r>
              <a:rPr lang="en-US" altLang="en-US" sz="2200" dirty="0"/>
              <a:t>Real-World Applications of AI</a:t>
            </a:r>
          </a:p>
          <a:p>
            <a:pPr lvl="1">
              <a:lnSpc>
                <a:spcPct val="90000"/>
              </a:lnSpc>
            </a:pPr>
            <a:r>
              <a:rPr lang="en-US" altLang="en-US" dirty="0"/>
              <a:t>AI is alive and well in various “every day” applications</a:t>
            </a:r>
          </a:p>
          <a:p>
            <a:pPr lvl="2">
              <a:lnSpc>
                <a:spcPct val="90000"/>
              </a:lnSpc>
            </a:pPr>
            <a:r>
              <a:rPr lang="en-US" altLang="en-US" dirty="0"/>
              <a:t>many products, systems, have AI components</a:t>
            </a:r>
          </a:p>
        </p:txBody>
      </p:sp>
      <p:graphicFrame>
        <p:nvGraphicFramePr>
          <p:cNvPr id="121860" name="Object 4">
            <a:hlinkClick r:id="" action="ppaction://ole?verb=0"/>
          </p:cNvPr>
          <p:cNvGraphicFramePr>
            <a:graphicFrameLocks/>
          </p:cNvGraphicFramePr>
          <p:nvPr/>
        </p:nvGraphicFramePr>
        <p:xfrm>
          <a:off x="3048000" y="2438400"/>
          <a:ext cx="6134100" cy="2933700"/>
        </p:xfrm>
        <a:graphic>
          <a:graphicData uri="http://schemas.openxmlformats.org/presentationml/2006/ole">
            <mc:AlternateContent xmlns:mc="http://schemas.openxmlformats.org/markup-compatibility/2006">
              <mc:Choice xmlns:v="urn:schemas-microsoft-com:vml" Requires="v">
                <p:oleObj spid="_x0000_s13372" name="Document" r:id="rId4" imgW="6132240" imgH="2931840" progId="Word.Document.8">
                  <p:embed/>
                </p:oleObj>
              </mc:Choice>
              <mc:Fallback>
                <p:oleObj name="Document" r:id="rId4" imgW="6132240" imgH="2931840" progId="Word.Document.8">
                  <p:embed/>
                  <p:pic>
                    <p:nvPicPr>
                      <p:cNvPr id="121860" name="Object 4">
                        <a:hlinkClick r:id="" action="ppaction://ole?verb=0"/>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2438400"/>
                        <a:ext cx="6134100" cy="293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884363941"/>
      </p:ext>
    </p:extLst>
  </p:cSld>
  <p:clrMapOvr>
    <a:masterClrMapping/>
  </p:clrMapOvr>
  <p:transition>
    <p:cut/>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13366</TotalTime>
  <Words>2780</Words>
  <Application>Microsoft Office PowerPoint</Application>
  <PresentationFormat>Widescreen</PresentationFormat>
  <Paragraphs>202</Paragraphs>
  <Slides>49</Slides>
  <Notes>9</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49</vt:i4>
      </vt:variant>
    </vt:vector>
  </HeadingPairs>
  <TitlesOfParts>
    <vt:vector size="63" baseType="lpstr">
      <vt:lpstr>Arial</vt:lpstr>
      <vt:lpstr>Calibri</vt:lpstr>
      <vt:lpstr>Garamond</vt:lpstr>
      <vt:lpstr>Gellix</vt:lpstr>
      <vt:lpstr>Helvetica Now Text</vt:lpstr>
      <vt:lpstr>Helvetica Now Text Medium</vt:lpstr>
      <vt:lpstr>Monotype Corsiva</vt:lpstr>
      <vt:lpstr>SF Pro Display</vt:lpstr>
      <vt:lpstr>Spectral</vt:lpstr>
      <vt:lpstr>system-ui</vt:lpstr>
      <vt:lpstr>Wingdings</vt:lpstr>
      <vt:lpstr>Organic</vt:lpstr>
      <vt:lpstr>Bitmap Image</vt:lpstr>
      <vt:lpstr>Document</vt:lpstr>
      <vt:lpstr>Agents &amp; Environment</vt:lpstr>
      <vt:lpstr>Objective</vt:lpstr>
      <vt:lpstr>Learning Outcomes</vt:lpstr>
      <vt:lpstr>Higher Education</vt:lpstr>
      <vt:lpstr>AI</vt:lpstr>
      <vt:lpstr>Overview: Fundamental AI Concepts</vt:lpstr>
      <vt:lpstr>AI Concepts</vt:lpstr>
      <vt:lpstr>Agents</vt:lpstr>
      <vt:lpstr>PowerPoint Presentation</vt:lpstr>
      <vt:lpstr>PowerPoint Presentation</vt:lpstr>
      <vt:lpstr>Agents and environments</vt:lpstr>
      <vt:lpstr>PowerPoint Presentation</vt:lpstr>
      <vt:lpstr>Intelligent Agents</vt:lpstr>
      <vt:lpstr>Rational agents</vt:lpstr>
      <vt:lpstr>Rational agents</vt:lpstr>
      <vt:lpstr>What’s involved in Intelligence? Intelligent agents</vt:lpstr>
      <vt:lpstr>Implementing agents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AI Agent Architecture</vt:lpstr>
      <vt:lpstr>PowerPoint Presentation</vt:lpstr>
      <vt:lpstr>PowerPoint Presentation</vt:lpstr>
      <vt:lpstr>PowerPoint Presentation</vt:lpstr>
      <vt:lpstr>Types of Agents</vt:lpstr>
      <vt:lpstr>PowerPoint Presentation</vt:lpstr>
      <vt:lpstr>Agent types</vt:lpstr>
      <vt:lpstr>Agent Examples</vt:lpstr>
      <vt:lpstr>PowerPoint Presentation</vt:lpstr>
      <vt:lpstr>PowerPoint Presentation</vt:lpstr>
      <vt:lpstr>PowerPoint Presentation</vt:lpstr>
      <vt:lpstr>PowerPoint Presentation</vt:lpstr>
      <vt:lpstr>PowerPoint Presentation</vt:lpstr>
      <vt:lpstr>PowerPoint Presentation</vt:lpstr>
      <vt:lpstr>References</vt:lpstr>
      <vt:lpstr>Summary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Agents</dc:title>
  <dc:creator>Edward ombui</dc:creator>
  <cp:lastModifiedBy>Edward Ombui</cp:lastModifiedBy>
  <cp:revision>60</cp:revision>
  <dcterms:created xsi:type="dcterms:W3CDTF">2021-01-25T16:54:45Z</dcterms:created>
  <dcterms:modified xsi:type="dcterms:W3CDTF">2025-09-16T07:55:29Z</dcterms:modified>
</cp:coreProperties>
</file>